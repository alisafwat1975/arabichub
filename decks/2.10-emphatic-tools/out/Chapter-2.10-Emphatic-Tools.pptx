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508000"/>
            <a:ext cx="10718800" cy="381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5F5F5F"/>
                </a:solidFill>
                <a:latin typeface="Chalkboard SE"/>
                <a:cs typeface="Geeza Pro"/>
              </a:rPr>
              <a:t>Chapter 2.10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914400"/>
            <a:ext cx="10718800" cy="939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5400" b="1" i="0" dirty="0">
                <a:solidFill>
                  <a:srgbClr val="8E2453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1905000"/>
            <a:ext cx="107188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127000" rIns="508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4000" b="0" i="0" dirty="0">
                <a:solidFill>
                  <a:srgbClr val="262626"/>
                </a:solidFill>
                <a:latin typeface="Geeza Pro"/>
                <a:cs typeface="Geeza Pro"/>
              </a:rPr>
              <a:t>‏أَدَوَات التَّوْكِيد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2819400"/>
            <a:ext cx="10718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600" b="0" i="1" dirty="0">
                <a:solidFill>
                  <a:srgbClr val="5F5F5F"/>
                </a:solidFill>
                <a:latin typeface="Chalkboard SE"/>
                <a:cs typeface="Geeza Pro"/>
              </a:rPr>
              <a:t>adawāt at-tawkīd</a:t>
            </a:r>
            <a:r>
              <a:rPr lang="en-GB" sz="1600" b="0" i="0" dirty="0">
                <a:solidFill>
                  <a:srgbClr val="262626"/>
                </a:solidFill>
                <a:latin typeface="Chalkboard SE"/>
                <a:cs typeface="Geeza Pro"/>
              </a:rPr>
              <a:t>  ·  tools of emphasis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5200" y="3276600"/>
            <a:ext cx="86868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How Arabic adds force, certainty, limits and totality to what you say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966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‏إِنّ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inna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‏أَنّ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anna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630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qad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62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laqad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‏لَـ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la-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26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innamā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58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‏نَفْس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nafs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‏عَيْن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ʿayn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622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‏كُلّ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kull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95400" y="4191000"/>
            <a:ext cx="965200" cy="889000"/>
          </a:xfrm>
          <a:prstGeom prst="roundRect">
            <a:avLst>
              <a:gd name="adj" fmla="val 14285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25400" tIns="101600" rIns="254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‏جَمِيع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jamīʿ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9200" y="5384800"/>
            <a:ext cx="10718800" cy="381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5F5F5F"/>
                </a:solidFill>
                <a:latin typeface="Chalkboard SE"/>
                <a:cs typeface="Geeza Pro"/>
              </a:rPr>
              <a:t>The ten tools of this chapter, read from the right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83200" y="5918200"/>
            <a:ext cx="2590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19200" y="5994400"/>
            <a:ext cx="107188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8E2453"/>
                </a:solidFill>
                <a:latin typeface="Chalkboard SE"/>
                <a:cs typeface="Geeza Pro"/>
              </a:rPr>
              <a:t>with Mrs Layla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The Big Picture: Ways Arabic Adds Emphasis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2" name="Rectangle 11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Arabic has different kinds of emphatic tools — particles, an attached prefix, and ordinary nouns.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483600" y="1320800"/>
            <a:ext cx="3454400" cy="4267200"/>
            <a:chOff x="8483600" y="1320800"/>
            <a:chExt cx="3454400" cy="4267200"/>
          </a:xfrm>
        </p:grpSpPr>
        <p:sp>
          <p:nvSpPr>
            <p:cNvPr id="16" name="Rounded Rectangle 15"/>
            <p:cNvSpPr/>
            <p:nvPr/>
          </p:nvSpPr>
          <p:spPr>
            <a:xfrm>
              <a:off x="8483600" y="1320800"/>
              <a:ext cx="3454400" cy="42672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483600" y="13208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483600" y="15748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3600" y="13208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Particles: on a Sentence or Verb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509000" y="1727200"/>
              <a:ext cx="3403600" cy="383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1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indeed, truly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‏أَنّ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2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anna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that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‏قَد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3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already / may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‏لَقَد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4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indeed (+ past verb)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‏إِنَّمَا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6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only, merely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51400" y="1320800"/>
            <a:ext cx="3454400" cy="4267200"/>
            <a:chOff x="4851400" y="1320800"/>
            <a:chExt cx="3454400" cy="4267200"/>
          </a:xfrm>
        </p:grpSpPr>
        <p:sp>
          <p:nvSpPr>
            <p:cNvPr id="22" name="Rounded Rectangle 21"/>
            <p:cNvSpPr/>
            <p:nvPr/>
          </p:nvSpPr>
          <p:spPr>
            <a:xfrm>
              <a:off x="4851400" y="1320800"/>
              <a:ext cx="3454400" cy="42672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851400" y="13208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851400" y="15748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851400" y="13208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An Attached Prefix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76800" y="1727200"/>
              <a:ext cx="3403600" cy="383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‏لَـ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5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la-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truly — joined to a word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‏لَقَد = لَـ + قَد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= la- + qad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Tool 4 contains it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219200" y="1320800"/>
            <a:ext cx="3454400" cy="4267200"/>
            <a:chOff x="1219200" y="1320800"/>
            <a:chExt cx="3454400" cy="4267200"/>
          </a:xfrm>
        </p:grpSpPr>
        <p:sp>
          <p:nvSpPr>
            <p:cNvPr id="28" name="Rounded Rectangle 27"/>
            <p:cNvSpPr/>
            <p:nvPr/>
          </p:nvSpPr>
          <p:spPr>
            <a:xfrm>
              <a:off x="1219200" y="1320800"/>
              <a:ext cx="3454400" cy="42672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219200" y="13208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9200" y="15748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9200" y="13208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Nouns Used for Emphasis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44600" y="1727200"/>
              <a:ext cx="3403600" cy="383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‏نَفْس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7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self, same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‏عَيْن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8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ʿayn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the very same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‏كُلّ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9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kull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all, every, whole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‏جَمِيع</a:t>
              </a:r>
            </a:p>
            <a:p>
              <a:pPr algn="r" rtl="0">
                <a:lnSpc>
                  <a:spcPct val="108000"/>
                </a:lnSpc>
                <a:spcAft>
                  <a:spcPts val="700"/>
                </a:spcAft>
                <a:buNone/>
              </a:pP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Tool 10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jamīʿ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all, altogether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1219200" y="57150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600" b="1" i="0" dirty="0">
                <a:solidFill>
                  <a:srgbClr val="8E2453"/>
                </a:solidFill>
                <a:latin typeface="Chalkboard SE"/>
                <a:cs typeface="Geeza Pro"/>
              </a:rPr>
              <a:t>And with no tool at all:</a:t>
            </a:r>
            <a:r>
              <a:rPr lang="en-GB" sz="1600" b="0" i="0" dirty="0">
                <a:solidFill>
                  <a:srgbClr val="262626"/>
                </a:solidFill>
                <a:latin typeface="Chalkboard SE"/>
                <a:cs typeface="Geeza Pro"/>
              </a:rPr>
              <a:t> repetition · intonation · context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What Does Emphasis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2" name="Rectangle 11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Same information — but the speaker now presents it as certain.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6985000" y="1371600"/>
            <a:ext cx="49530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NEUTRAL STATEMENT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‏الْبَيْت كَبِير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al-baytu kabīrun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house is big.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6299200" y="1778000"/>
            <a:ext cx="558800" cy="3810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19200" y="1371600"/>
            <a:ext cx="4953000" cy="1168400"/>
          </a:xfrm>
          <a:prstGeom prst="roundRect">
            <a:avLst>
              <a:gd name="adj" fmla="val 8695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EMPHASIZED STATEMENT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الْبَيْت كَبِير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l-bayta kabīrun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house is indeed big.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8483600" y="2794000"/>
            <a:ext cx="3454400" cy="2159000"/>
            <a:chOff x="8483600" y="2794000"/>
            <a:chExt cx="3454400" cy="2159000"/>
          </a:xfrm>
        </p:grpSpPr>
        <p:sp>
          <p:nvSpPr>
            <p:cNvPr id="19" name="Rounded Rectangle 18"/>
            <p:cNvSpPr/>
            <p:nvPr/>
          </p:nvSpPr>
          <p:spPr>
            <a:xfrm>
              <a:off x="8483600" y="2794000"/>
              <a:ext cx="3454400" cy="2159000"/>
            </a:xfrm>
            <a:prstGeom prst="roundRect">
              <a:avLst>
                <a:gd name="adj" fmla="val 588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483600" y="27940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483600" y="30480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483600" y="27940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The Facts Stay the Same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509000" y="3200400"/>
              <a:ext cx="3403600" cy="1727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Both sentences say the house is big. Emphasis adds no new information.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851400" y="2794000"/>
            <a:ext cx="3454400" cy="2159000"/>
            <a:chOff x="4851400" y="2794000"/>
            <a:chExt cx="3454400" cy="2159000"/>
          </a:xfrm>
        </p:grpSpPr>
        <p:sp>
          <p:nvSpPr>
            <p:cNvPr id="25" name="Rounded Rectangle 24"/>
            <p:cNvSpPr/>
            <p:nvPr/>
          </p:nvSpPr>
          <p:spPr>
            <a:xfrm>
              <a:off x="4851400" y="2794000"/>
              <a:ext cx="3454400" cy="2159000"/>
            </a:xfrm>
            <a:prstGeom prst="roundRect">
              <a:avLst>
                <a:gd name="adj" fmla="val 588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851400" y="27940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851400" y="30480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851400" y="27940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The Stance Changes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876800" y="3200400"/>
              <a:ext cx="3403600" cy="1727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‎With </a:t>
              </a:r>
              <a:r>
                <a:rPr lang="ar-SA" altLang="en-GB" sz="17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إِنّ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the speaker insists it is true — useful when the listener doubts it or the point matters.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19200" y="2794000"/>
            <a:ext cx="3454400" cy="2159000"/>
            <a:chOff x="1219200" y="2794000"/>
            <a:chExt cx="3454400" cy="2159000"/>
          </a:xfrm>
        </p:grpSpPr>
        <p:sp>
          <p:nvSpPr>
            <p:cNvPr id="31" name="Rounded Rectangle 30"/>
            <p:cNvSpPr/>
            <p:nvPr/>
          </p:nvSpPr>
          <p:spPr>
            <a:xfrm>
              <a:off x="1219200" y="2794000"/>
              <a:ext cx="3454400" cy="2159000"/>
            </a:xfrm>
            <a:prstGeom prst="roundRect">
              <a:avLst>
                <a:gd name="adj" fmla="val 588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219200" y="27940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19200" y="30480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219200" y="27940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No Word-for-Word Match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44600" y="3200400"/>
              <a:ext cx="3403600" cy="1727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English uses voice stress, 'really', 'indeed' or 'do'. Arabic often uses grammar. Translate the effect, not the word.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219200" y="5105400"/>
            <a:ext cx="10718800" cy="838200"/>
            <a:chOff x="1219200" y="5105400"/>
            <a:chExt cx="10718800" cy="838200"/>
          </a:xfrm>
        </p:grpSpPr>
        <p:sp>
          <p:nvSpPr>
            <p:cNvPr id="37" name="Rounded Rectangle 36"/>
            <p:cNvSpPr/>
            <p:nvPr/>
          </p:nvSpPr>
          <p:spPr>
            <a:xfrm>
              <a:off x="1219200" y="5105400"/>
              <a:ext cx="10718800" cy="838200"/>
            </a:xfrm>
            <a:prstGeom prst="roundRect">
              <a:avLst>
                <a:gd name="adj" fmla="val 12121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70000" y="5130800"/>
              <a:ext cx="10617200" cy="78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COLOUR KEY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In this chapter, </a:t>
              </a:r>
              <a:r>
                <a:rPr lang="en-GB" sz="14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blue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always marks the emphatic tool in an example.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Three Strengths of a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2" name="Rectangle 11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 teaching model: three ways to present the same situation.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686800" y="1346200"/>
            <a:ext cx="3251200" cy="2997200"/>
            <a:chOff x="8686800" y="1346200"/>
            <a:chExt cx="3251200" cy="2997200"/>
          </a:xfrm>
        </p:grpSpPr>
        <p:sp>
          <p:nvSpPr>
            <p:cNvPr id="16" name="Rounded Rectangle 15"/>
            <p:cNvSpPr/>
            <p:nvPr/>
          </p:nvSpPr>
          <p:spPr>
            <a:xfrm>
              <a:off x="8686800" y="1346200"/>
              <a:ext cx="3251200" cy="2997200"/>
            </a:xfrm>
            <a:prstGeom prst="roundRect">
              <a:avLst>
                <a:gd name="adj" fmla="val 4237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686800" y="1346200"/>
              <a:ext cx="3251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686800" y="1600200"/>
              <a:ext cx="3251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86800" y="1346200"/>
              <a:ext cx="325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 · Neutral Information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712200" y="1752600"/>
              <a:ext cx="3200400" cy="256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‏الْمَطْعَم مَفْتُوح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al-maṭʿamu maftūḥun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restaurant is open.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Simple information. No special stress.</a:t>
              </a:r>
            </a:p>
          </p:txBody>
        </p:sp>
      </p:grpSp>
      <p:sp>
        <p:nvSpPr>
          <p:cNvPr id="21" name="Left Arrow 20"/>
          <p:cNvSpPr/>
          <p:nvPr/>
        </p:nvSpPr>
        <p:spPr>
          <a:xfrm>
            <a:off x="8255000" y="2616200"/>
            <a:ext cx="381000" cy="3556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2" name="Group 21"/>
          <p:cNvGrpSpPr/>
          <p:nvPr/>
        </p:nvGrpSpPr>
        <p:grpSpPr>
          <a:xfrm>
            <a:off x="4953000" y="1346200"/>
            <a:ext cx="3251200" cy="2997200"/>
            <a:chOff x="4953000" y="1346200"/>
            <a:chExt cx="3251200" cy="2997200"/>
          </a:xfrm>
        </p:grpSpPr>
        <p:sp>
          <p:nvSpPr>
            <p:cNvPr id="23" name="Rounded Rectangle 22"/>
            <p:cNvSpPr/>
            <p:nvPr/>
          </p:nvSpPr>
          <p:spPr>
            <a:xfrm>
              <a:off x="4953000" y="1346200"/>
              <a:ext cx="3251200" cy="2997200"/>
            </a:xfrm>
            <a:prstGeom prst="roundRect">
              <a:avLst>
                <a:gd name="adj" fmla="val 4237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953000" y="1346200"/>
              <a:ext cx="3251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953000" y="1600200"/>
              <a:ext cx="3251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953000" y="1346200"/>
              <a:ext cx="325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 · Reinforced Assertion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978400" y="1752600"/>
              <a:ext cx="3200400" cy="256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الْمَطْعَم مَفْتُوح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l-maṭʿama maftūḥun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restaurant is definitely open.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The speaker insists: it is open (perhaps someone doubted it).</a:t>
              </a:r>
            </a:p>
          </p:txBody>
        </p:sp>
      </p:grpSp>
      <p:sp>
        <p:nvSpPr>
          <p:cNvPr id="28" name="Left Arrow 27"/>
          <p:cNvSpPr/>
          <p:nvPr/>
        </p:nvSpPr>
        <p:spPr>
          <a:xfrm>
            <a:off x="4521200" y="2616200"/>
            <a:ext cx="381000" cy="3556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9" name="Group 28"/>
          <p:cNvGrpSpPr/>
          <p:nvPr/>
        </p:nvGrpSpPr>
        <p:grpSpPr>
          <a:xfrm>
            <a:off x="1219200" y="1346200"/>
            <a:ext cx="3251200" cy="2997200"/>
            <a:chOff x="1219200" y="1346200"/>
            <a:chExt cx="3251200" cy="2997200"/>
          </a:xfrm>
        </p:grpSpPr>
        <p:sp>
          <p:nvSpPr>
            <p:cNvPr id="30" name="Rounded Rectangle 29"/>
            <p:cNvSpPr/>
            <p:nvPr/>
          </p:nvSpPr>
          <p:spPr>
            <a:xfrm>
              <a:off x="1219200" y="1346200"/>
              <a:ext cx="3251200" cy="2997200"/>
            </a:xfrm>
            <a:prstGeom prst="roundRect">
              <a:avLst>
                <a:gd name="adj" fmla="val 4237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219200" y="1346200"/>
              <a:ext cx="3251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19200" y="1600200"/>
              <a:ext cx="3251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19200" y="1346200"/>
              <a:ext cx="325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 · Restricted Meaning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244600" y="1752600"/>
              <a:ext cx="3200400" cy="256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‏إِنَّمَا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يَفْتَح الْمَطْعَم مَسَاء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 yaftaḥu l-maṭʿamu masāʾan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restaurant opens only in the evening.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The statement is limited to one case — and excludes the others.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219200" y="4521200"/>
            <a:ext cx="10718800" cy="1625600"/>
            <a:chOff x="1219200" y="4521200"/>
            <a:chExt cx="10718800" cy="1625600"/>
          </a:xfrm>
        </p:grpSpPr>
        <p:sp>
          <p:nvSpPr>
            <p:cNvPr id="36" name="Rounded Rectangle 35"/>
            <p:cNvSpPr/>
            <p:nvPr/>
          </p:nvSpPr>
          <p:spPr>
            <a:xfrm>
              <a:off x="1219200" y="4521200"/>
              <a:ext cx="10718800" cy="1625600"/>
            </a:xfrm>
            <a:prstGeom prst="roundRect">
              <a:avLst>
                <a:gd name="adj" fmla="val 625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270000" y="4546600"/>
              <a:ext cx="10617200" cy="15748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HOW TO READ THIS MODEL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This is a classroom model, not a universal grammatical ranking. Classical Arabic rhetoric links the amount of emphasis to the listener: no doubt, no emphasis; hesitation, some emphasis; denial, stronger emphasis. Restriction (3) is a different job, not simply 'more emphasis'.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Your Route Through the Chapter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889000"/>
            <a:ext cx="762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Stop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33000" y="889000"/>
            <a:ext cx="1143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Part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42000" y="889000"/>
            <a:ext cx="4191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Focus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67000" y="889000"/>
            <a:ext cx="317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Tools Introduced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889000"/>
            <a:ext cx="1447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Slides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76000" y="1244600"/>
            <a:ext cx="762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600" b="1" i="0" dirty="0">
                <a:solidFill>
                  <a:srgbClr val="8E2453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33000" y="1244600"/>
            <a:ext cx="1143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Part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2000" y="1244600"/>
            <a:ext cx="419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What emphasis is; how it differs from restriction, exclamation and 'yes'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1244600"/>
            <a:ext cx="3175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key terms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" y="1244600"/>
            <a:ext cx="1447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slides 8–16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76000" y="1955800"/>
            <a:ext cx="762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600" b="1" i="0" dirty="0">
                <a:solidFill>
                  <a:srgbClr val="8E2453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33000" y="1955800"/>
            <a:ext cx="1143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Part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42000" y="1955800"/>
            <a:ext cx="4191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Emphasis inside a sentence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7000" y="1955800"/>
            <a:ext cx="3175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‏إِنّ · أَنّ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19200" y="1955800"/>
            <a:ext cx="1447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slides 17–30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76000" y="2667000"/>
            <a:ext cx="762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600" b="1" i="0" dirty="0">
                <a:solidFill>
                  <a:srgbClr val="8E2453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3000" y="2667000"/>
            <a:ext cx="1143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Part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2000" y="2667000"/>
            <a:ext cx="419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Emphasis before and within a verb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7000" y="2667000"/>
            <a:ext cx="3175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‏قَد · لَقَد · لَـ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9200" y="2667000"/>
            <a:ext cx="1447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slides 31–41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76000" y="3378200"/>
            <a:ext cx="762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600" b="1" i="0" dirty="0">
                <a:solidFill>
                  <a:srgbClr val="8E2453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33000" y="3378200"/>
            <a:ext cx="1143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Part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42000" y="3378200"/>
            <a:ext cx="4191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Restriction, identity and totality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67000" y="3378200"/>
            <a:ext cx="3175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 · نَفْس · عَيْن · كُلّ · جَمِيع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9200" y="3378200"/>
            <a:ext cx="1447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slides 42–54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76000" y="4089400"/>
            <a:ext cx="762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600" b="1" i="0" dirty="0">
                <a:solidFill>
                  <a:srgbClr val="8E2453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33000" y="4089400"/>
            <a:ext cx="1143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Part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0" y="4089400"/>
            <a:ext cx="419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Putting the tools together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7000" y="4089400"/>
            <a:ext cx="3175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all ten tools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19200" y="4089400"/>
            <a:ext cx="1447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slides 55–66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76000" y="4800600"/>
            <a:ext cx="762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600" b="1" i="0" dirty="0">
                <a:solidFill>
                  <a:srgbClr val="8E2453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33000" y="4800600"/>
            <a:ext cx="1143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Part 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0" y="4800600"/>
            <a:ext cx="4191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Clearing the confusion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67000" y="4800600"/>
            <a:ext cx="3175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look-alike pairs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19200" y="4800600"/>
            <a:ext cx="1447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slides 67–79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219200" y="5486400"/>
            <a:ext cx="10718800" cy="762000"/>
            <a:chOff x="1219200" y="5486400"/>
            <a:chExt cx="10718800" cy="762000"/>
          </a:xfrm>
        </p:grpSpPr>
        <p:sp>
          <p:nvSpPr>
            <p:cNvPr id="47" name="Rounded Rectangle 46"/>
            <p:cNvSpPr/>
            <p:nvPr/>
          </p:nvSpPr>
          <p:spPr>
            <a:xfrm>
              <a:off x="1219200" y="5486400"/>
              <a:ext cx="10718800" cy="762000"/>
            </a:xfrm>
            <a:prstGeom prst="roundRect">
              <a:avLst>
                <a:gd name="adj" fmla="val 1333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70000" y="5511800"/>
              <a:ext cx="10617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READING ORDER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Read every row, card and table in this chapter from the RIGHT, just like Arabic.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6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2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6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6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8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2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6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The Chapter Road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07800" y="2743200"/>
            <a:ext cx="38100" cy="965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45900" y="2743200"/>
            <a:ext cx="304800" cy="203200"/>
          </a:xfrm>
          <a:prstGeom prst="rect">
            <a:avLst/>
          </a:prstGeom>
          <a:solidFill>
            <a:srgbClr val="2E8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28400" y="3733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2E8B3E"/>
                </a:solidFill>
                <a:latin typeface="Chalkboard SE"/>
                <a:cs typeface="Geeza Pro"/>
              </a:rPr>
              <a:t>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90200" y="3327400"/>
            <a:ext cx="1092200" cy="381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3400" y="3498850"/>
            <a:ext cx="685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3327400"/>
            <a:ext cx="1574800" cy="381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18600" y="3498850"/>
            <a:ext cx="1168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40600" y="3327400"/>
            <a:ext cx="1574800" cy="381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3498850"/>
            <a:ext cx="1168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5800" y="3327400"/>
            <a:ext cx="1574800" cy="381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69000" y="3498850"/>
            <a:ext cx="1168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1000" y="3327400"/>
            <a:ext cx="1574800" cy="381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94200" y="3498850"/>
            <a:ext cx="1168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16200" y="3327400"/>
            <a:ext cx="1574800" cy="381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498850"/>
            <a:ext cx="1168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25600" y="3327400"/>
            <a:ext cx="990600" cy="381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3498850"/>
            <a:ext cx="584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8900" y="3276600"/>
            <a:ext cx="482600" cy="482600"/>
          </a:xfrm>
          <a:prstGeom prst="ellipse">
            <a:avLst/>
          </a:prstGeom>
          <a:solidFill>
            <a:srgbClr val="8E2453"/>
          </a:solidFill>
          <a:ln w="25400">
            <a:solidFill>
              <a:srgbClr val="FFFFFF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1" i="0" dirty="0">
                <a:solidFill>
                  <a:srgbClr val="FFFFFF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8674100" y="3276600"/>
            <a:ext cx="482600" cy="482600"/>
          </a:xfrm>
          <a:prstGeom prst="ellipse">
            <a:avLst/>
          </a:prstGeom>
          <a:solidFill>
            <a:srgbClr val="8E2453"/>
          </a:solidFill>
          <a:ln w="25400">
            <a:solidFill>
              <a:srgbClr val="FFFFFF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1" i="0" dirty="0">
                <a:solidFill>
                  <a:srgbClr val="FFFFFF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7099300" y="3276600"/>
            <a:ext cx="482600" cy="482600"/>
          </a:xfrm>
          <a:prstGeom prst="ellipse">
            <a:avLst/>
          </a:prstGeom>
          <a:solidFill>
            <a:srgbClr val="8E2453"/>
          </a:solidFill>
          <a:ln w="25400">
            <a:solidFill>
              <a:srgbClr val="FFFFFF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1" i="0" dirty="0">
                <a:solidFill>
                  <a:srgbClr val="FFFFFF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5524500" y="3276600"/>
            <a:ext cx="482600" cy="482600"/>
          </a:xfrm>
          <a:prstGeom prst="ellipse">
            <a:avLst/>
          </a:prstGeom>
          <a:solidFill>
            <a:srgbClr val="8E2453"/>
          </a:solidFill>
          <a:ln w="25400">
            <a:solidFill>
              <a:srgbClr val="FFFFFF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1" i="0" dirty="0">
                <a:solidFill>
                  <a:srgbClr val="FFFFFF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32" name="Oval 31"/>
          <p:cNvSpPr/>
          <p:nvPr/>
        </p:nvSpPr>
        <p:spPr>
          <a:xfrm>
            <a:off x="3949700" y="3276600"/>
            <a:ext cx="482600" cy="482600"/>
          </a:xfrm>
          <a:prstGeom prst="ellipse">
            <a:avLst/>
          </a:prstGeom>
          <a:solidFill>
            <a:srgbClr val="8E2453"/>
          </a:solidFill>
          <a:ln w="25400">
            <a:solidFill>
              <a:srgbClr val="FFFFFF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1" i="0" dirty="0">
                <a:solidFill>
                  <a:srgbClr val="FFFFFF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2374900" y="3276600"/>
            <a:ext cx="482600" cy="482600"/>
          </a:xfrm>
          <a:prstGeom prst="ellipse">
            <a:avLst/>
          </a:prstGeom>
          <a:solidFill>
            <a:srgbClr val="8E2453"/>
          </a:solidFill>
          <a:ln w="25400">
            <a:solidFill>
              <a:srgbClr val="FFFFFF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1" i="0" dirty="0">
                <a:solidFill>
                  <a:srgbClr val="FFFFFF"/>
                </a:solidFill>
                <a:latin typeface="Chalkboard SE"/>
                <a:cs typeface="Geeza Pro"/>
              </a:rPr>
              <a:t>6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8991600" y="1473200"/>
            <a:ext cx="2946400" cy="1676400"/>
            <a:chOff x="8991600" y="1473200"/>
            <a:chExt cx="2946400" cy="1676400"/>
          </a:xfrm>
        </p:grpSpPr>
        <p:sp>
          <p:nvSpPr>
            <p:cNvPr id="35" name="Rounded Rectangle 34"/>
            <p:cNvSpPr/>
            <p:nvPr/>
          </p:nvSpPr>
          <p:spPr>
            <a:xfrm>
              <a:off x="8991600" y="1473200"/>
              <a:ext cx="2946400" cy="1676400"/>
            </a:xfrm>
            <a:prstGeom prst="roundRect">
              <a:avLst>
                <a:gd name="adj" fmla="val 7575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8991600" y="1473200"/>
              <a:ext cx="2946400" cy="330200"/>
            </a:xfrm>
            <a:prstGeom prst="roundRect">
              <a:avLst>
                <a:gd name="adj" fmla="val 38461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991600" y="1676400"/>
              <a:ext cx="2946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991600" y="1473200"/>
              <a:ext cx="2946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Stop 1 · What Emphasis Means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017000" y="1828800"/>
              <a:ext cx="28956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‏تَوْكِيد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tawkīd — emphasis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‏قَصْر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qaṣr — restriction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‏تَعَجُّب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taʿajjub — exclamation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slides 8–16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442200" y="3886200"/>
            <a:ext cx="2946400" cy="1397000"/>
            <a:chOff x="7442200" y="3886200"/>
            <a:chExt cx="2946400" cy="1397000"/>
          </a:xfrm>
        </p:grpSpPr>
        <p:sp>
          <p:nvSpPr>
            <p:cNvPr id="41" name="Rounded Rectangle 40"/>
            <p:cNvSpPr/>
            <p:nvPr/>
          </p:nvSpPr>
          <p:spPr>
            <a:xfrm>
              <a:off x="7442200" y="3886200"/>
              <a:ext cx="2946400" cy="1397000"/>
            </a:xfrm>
            <a:prstGeom prst="roundRect">
              <a:avLst>
                <a:gd name="adj" fmla="val 909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442200" y="3886200"/>
              <a:ext cx="2946400" cy="330200"/>
            </a:xfrm>
            <a:prstGeom prst="roundRect">
              <a:avLst>
                <a:gd name="adj" fmla="val 38461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442200" y="4089400"/>
              <a:ext cx="2946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442200" y="3886200"/>
              <a:ext cx="2946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Stop 2 · Inside a Sentence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467600" y="4241800"/>
              <a:ext cx="2895600" cy="1016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— indeed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‏أَنّ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anna — that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slides 17–30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867400" y="1473200"/>
            <a:ext cx="2946400" cy="1676400"/>
            <a:chOff x="5867400" y="1473200"/>
            <a:chExt cx="2946400" cy="1676400"/>
          </a:xfrm>
        </p:grpSpPr>
        <p:sp>
          <p:nvSpPr>
            <p:cNvPr id="47" name="Rounded Rectangle 46"/>
            <p:cNvSpPr/>
            <p:nvPr/>
          </p:nvSpPr>
          <p:spPr>
            <a:xfrm>
              <a:off x="5867400" y="1473200"/>
              <a:ext cx="2946400" cy="1676400"/>
            </a:xfrm>
            <a:prstGeom prst="roundRect">
              <a:avLst>
                <a:gd name="adj" fmla="val 7575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5867400" y="1473200"/>
              <a:ext cx="2946400" cy="330200"/>
            </a:xfrm>
            <a:prstGeom prst="roundRect">
              <a:avLst>
                <a:gd name="adj" fmla="val 38461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867400" y="1676400"/>
              <a:ext cx="2946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867400" y="1473200"/>
              <a:ext cx="2946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Stop 3 · With a Verb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892800" y="1828800"/>
              <a:ext cx="28956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‏قَد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— already / may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‏لَقَد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— indeed (+ past)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‏لَـ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la- — truly (prefix)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slides 31–41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292600" y="3886200"/>
            <a:ext cx="2946400" cy="2235200"/>
            <a:chOff x="4292600" y="3886200"/>
            <a:chExt cx="2946400" cy="2235200"/>
          </a:xfrm>
        </p:grpSpPr>
        <p:sp>
          <p:nvSpPr>
            <p:cNvPr id="53" name="Rounded Rectangle 52"/>
            <p:cNvSpPr/>
            <p:nvPr/>
          </p:nvSpPr>
          <p:spPr>
            <a:xfrm>
              <a:off x="4292600" y="3886200"/>
              <a:ext cx="2946400" cy="2235200"/>
            </a:xfrm>
            <a:prstGeom prst="roundRect">
              <a:avLst>
                <a:gd name="adj" fmla="val 5681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4292600" y="3886200"/>
              <a:ext cx="2946400" cy="330200"/>
            </a:xfrm>
            <a:prstGeom prst="roundRect">
              <a:avLst>
                <a:gd name="adj" fmla="val 38461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292600" y="4089400"/>
              <a:ext cx="2946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292600" y="3886200"/>
              <a:ext cx="2946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Stop 4 · Limits &amp; Totality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318000" y="4241800"/>
              <a:ext cx="2895600" cy="1854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‏إِنَّمَا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 — only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‏نَفْس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 — self، same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‏عَيْن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ʿayn — the very same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‏كُلّ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kull — all، every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‏جَمِيع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jamīʿ — all، altogether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slides 42–54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717800" y="1473200"/>
            <a:ext cx="2946400" cy="1676400"/>
            <a:chOff x="2717800" y="1473200"/>
            <a:chExt cx="2946400" cy="1676400"/>
          </a:xfrm>
        </p:grpSpPr>
        <p:sp>
          <p:nvSpPr>
            <p:cNvPr id="59" name="Rounded Rectangle 58"/>
            <p:cNvSpPr/>
            <p:nvPr/>
          </p:nvSpPr>
          <p:spPr>
            <a:xfrm>
              <a:off x="2717800" y="1473200"/>
              <a:ext cx="2946400" cy="1676400"/>
            </a:xfrm>
            <a:prstGeom prst="roundRect">
              <a:avLst>
                <a:gd name="adj" fmla="val 7575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2717800" y="1473200"/>
              <a:ext cx="2946400" cy="330200"/>
            </a:xfrm>
            <a:prstGeom prst="roundRect">
              <a:avLst>
                <a:gd name="adj" fmla="val 38461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717800" y="1676400"/>
              <a:ext cx="2946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717800" y="1473200"/>
              <a:ext cx="2946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Stop 5 · Putting It Together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743200" y="1828800"/>
              <a:ext cx="28956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• all ten tools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• the 3-step selection method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• real-life situations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slides 55–66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219200" y="3886200"/>
            <a:ext cx="2946400" cy="1955800"/>
            <a:chOff x="1219200" y="3886200"/>
            <a:chExt cx="2946400" cy="1955800"/>
          </a:xfrm>
        </p:grpSpPr>
        <p:sp>
          <p:nvSpPr>
            <p:cNvPr id="65" name="Rounded Rectangle 64"/>
            <p:cNvSpPr/>
            <p:nvPr/>
          </p:nvSpPr>
          <p:spPr>
            <a:xfrm>
              <a:off x="1219200" y="3886200"/>
              <a:ext cx="2946400" cy="1955800"/>
            </a:xfrm>
            <a:prstGeom prst="roundRect">
              <a:avLst>
                <a:gd name="adj" fmla="val 649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219200" y="3886200"/>
              <a:ext cx="2946400" cy="330200"/>
            </a:xfrm>
            <a:prstGeom prst="roundRect">
              <a:avLst>
                <a:gd name="adj" fmla="val 38461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219200" y="4089400"/>
              <a:ext cx="2946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19200" y="3886200"/>
              <a:ext cx="2946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Stop 6 · Clearing Confusion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244600" y="4241800"/>
              <a:ext cx="2895600" cy="15748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/ أَنّ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/ anna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‏قَد / لَقَد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/ laqad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‏نَفْس / عَيْن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 / ʿayn</a:t>
              </a:r>
            </a:p>
            <a:p>
              <a:pPr algn="r" rtl="1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‏كُلّ / جَمِيع   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kull / jamīʿ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slides 67–79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041400" y="2387600"/>
            <a:ext cx="762000" cy="1574800"/>
            <a:chOff x="1041400" y="2387600"/>
            <a:chExt cx="762000" cy="1574800"/>
          </a:xfrm>
        </p:grpSpPr>
        <p:sp>
          <p:nvSpPr>
            <p:cNvPr id="71" name="Rectangle 70"/>
            <p:cNvSpPr/>
            <p:nvPr/>
          </p:nvSpPr>
          <p:spPr>
            <a:xfrm>
              <a:off x="1574800" y="2692400"/>
              <a:ext cx="38100" cy="1016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473200" y="2692400"/>
              <a:ext cx="101600" cy="889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71600" y="2692400"/>
              <a:ext cx="101600" cy="88900"/>
            </a:xfrm>
            <a:prstGeom prst="rect">
              <a:avLst/>
            </a:prstGeom>
            <a:solidFill>
              <a:srgbClr val="1F1F1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70000" y="2692400"/>
              <a:ext cx="101600" cy="889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68400" y="2692400"/>
              <a:ext cx="101600" cy="88900"/>
            </a:xfrm>
            <a:prstGeom prst="rect">
              <a:avLst/>
            </a:prstGeom>
            <a:solidFill>
              <a:srgbClr val="1F1F1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473200" y="2781300"/>
              <a:ext cx="101600" cy="88900"/>
            </a:xfrm>
            <a:prstGeom prst="rect">
              <a:avLst/>
            </a:prstGeom>
            <a:solidFill>
              <a:srgbClr val="1F1F1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371600" y="2781300"/>
              <a:ext cx="101600" cy="889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70000" y="2781300"/>
              <a:ext cx="101600" cy="88900"/>
            </a:xfrm>
            <a:prstGeom prst="rect">
              <a:avLst/>
            </a:prstGeom>
            <a:solidFill>
              <a:srgbClr val="1F1F1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168400" y="2781300"/>
              <a:ext cx="101600" cy="889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473200" y="2870200"/>
              <a:ext cx="101600" cy="889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371600" y="2870200"/>
              <a:ext cx="101600" cy="88900"/>
            </a:xfrm>
            <a:prstGeom prst="rect">
              <a:avLst/>
            </a:prstGeom>
            <a:solidFill>
              <a:srgbClr val="1F1F1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270000" y="2870200"/>
              <a:ext cx="101600" cy="889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168400" y="2870200"/>
              <a:ext cx="101600" cy="88900"/>
            </a:xfrm>
            <a:prstGeom prst="rect">
              <a:avLst/>
            </a:prstGeom>
            <a:solidFill>
              <a:srgbClr val="1F1F1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5-Point Star 83"/>
            <p:cNvSpPr/>
            <p:nvPr/>
          </p:nvSpPr>
          <p:spPr>
            <a:xfrm>
              <a:off x="1435100" y="2387600"/>
              <a:ext cx="279400" cy="279400"/>
            </a:xfrm>
            <a:prstGeom prst="star5">
              <a:avLst/>
            </a:prstGeom>
            <a:solidFill>
              <a:srgbClr val="C9A227"/>
            </a:solidFill>
            <a:ln w="9525">
              <a:solidFill>
                <a:srgbClr val="8A6D10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041400" y="37338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00" b="1" i="0" dirty="0">
                  <a:solidFill>
                    <a:srgbClr val="8A6D10"/>
                  </a:solidFill>
                  <a:latin typeface="Chalkboard SE"/>
                  <a:cs typeface="Geeza Pro"/>
                </a:rPr>
                <a:t>FINISH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How to Read the Arabic in This Chapter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8483600" y="939800"/>
            <a:ext cx="3454400" cy="3810000"/>
            <a:chOff x="8483600" y="939800"/>
            <a:chExt cx="3454400" cy="3810000"/>
          </a:xfrm>
        </p:grpSpPr>
        <p:sp>
          <p:nvSpPr>
            <p:cNvPr id="12" name="Rounded Rectangle 11"/>
            <p:cNvSpPr/>
            <p:nvPr/>
          </p:nvSpPr>
          <p:spPr>
            <a:xfrm>
              <a:off x="8483600" y="9398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483600" y="9398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483600" y="11938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83600" y="9398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Final-Letter Convention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509000" y="13462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Course rule: the final letter of a word carries no vowel sign. Case endings appear in the transliteration.</a:t>
              </a:r>
            </a:p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الْبَيْت كَبِير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l-bayt</a:t>
              </a: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a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 kabīr</a:t>
              </a: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un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‎A final shadda stays, because it is part of the letter: </a:t>
              </a:r>
              <a:r>
                <a:rPr lang="ar-SA" altLang="en-GB" sz="150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كُلّ · إِنّ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851400" y="939800"/>
            <a:ext cx="3454400" cy="3810000"/>
            <a:chOff x="4851400" y="939800"/>
            <a:chExt cx="3454400" cy="3810000"/>
          </a:xfrm>
        </p:grpSpPr>
        <p:sp>
          <p:nvSpPr>
            <p:cNvPr id="18" name="Rounded Rectangle 17"/>
            <p:cNvSpPr/>
            <p:nvPr/>
          </p:nvSpPr>
          <p:spPr>
            <a:xfrm>
              <a:off x="4851400" y="9398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851400" y="9398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51400" y="11938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51400" y="9398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Transliteration Key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76800" y="13462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ā ī ū  long vowels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ʾ  hamza · ʿ  ʿayn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ḥ ṣ ḍ ṭ ẓ  emphatic / deep sounds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 dh kh sh gh  as in think, this, Bach, ship, Paris r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l- before a word = the article al- after a vowel: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l-bayta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219200" y="939800"/>
            <a:ext cx="3454400" cy="3810000"/>
            <a:chOff x="1219200" y="939800"/>
            <a:chExt cx="3454400" cy="3810000"/>
          </a:xfrm>
        </p:grpSpPr>
        <p:sp>
          <p:nvSpPr>
            <p:cNvPr id="24" name="Rounded Rectangle 23"/>
            <p:cNvSpPr/>
            <p:nvPr/>
          </p:nvSpPr>
          <p:spPr>
            <a:xfrm>
              <a:off x="1219200" y="9398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219200" y="9398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19200" y="11938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19200" y="9398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Colour Key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44600" y="13462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Blue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the emphatic tool or grammar point in focus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E7D32"/>
                  </a:solidFill>
                  <a:latin typeface="Chalkboard SE"/>
                  <a:cs typeface="Geeza Pro"/>
                </a:rPr>
                <a:t>✓ Green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correct answer or correct form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C62828"/>
                  </a:solidFill>
                  <a:latin typeface="Chalkboard SE"/>
                  <a:cs typeface="Geeza Pro"/>
                </a:rPr>
                <a:t>✗ Red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incorrect form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Wine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chapter headings and tool numbers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Labels always accompany colours.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219200" y="4927600"/>
            <a:ext cx="10718800" cy="1320800"/>
            <a:chOff x="1219200" y="4927600"/>
            <a:chExt cx="10718800" cy="1320800"/>
          </a:xfrm>
        </p:grpSpPr>
        <p:sp>
          <p:nvSpPr>
            <p:cNvPr id="30" name="Rounded Rectangle 29"/>
            <p:cNvSpPr/>
            <p:nvPr/>
          </p:nvSpPr>
          <p:spPr>
            <a:xfrm>
              <a:off x="1219200" y="4927600"/>
              <a:ext cx="10718800" cy="1320800"/>
            </a:xfrm>
            <a:prstGeom prst="roundRect">
              <a:avLst>
                <a:gd name="adj" fmla="val 7692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70000" y="4953000"/>
              <a:ext cx="1061720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REGISTER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Register labels: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FORMAL = writing, news, speeches · EVERYDAY = normal conversation in Modern Standard Arabic · CONTEXT = the meaning depends on the situation. Spoken dialects differ; where it matters, the slide says so.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1 of 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Stop 1 of 6 · slides 8–16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2000" y="1016000"/>
            <a:ext cx="7874000" cy="38100"/>
          </a:xfrm>
          <a:prstGeom prst="rect">
            <a:avLst/>
          </a:prstGeom>
          <a:solidFill>
            <a:srgbClr val="D9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85500" y="844550"/>
            <a:ext cx="381000" cy="381000"/>
          </a:xfrm>
          <a:prstGeom prst="ellipse">
            <a:avLst/>
          </a:prstGeom>
          <a:solidFill>
            <a:srgbClr val="8E2453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88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1" i="0" dirty="0">
                <a:solidFill>
                  <a:srgbClr val="8E2453"/>
                </a:solidFill>
                <a:latin typeface="Chalkboard SE"/>
                <a:cs typeface="Geeza Pro"/>
              </a:rPr>
              <a:t>What Emphasis Means</a:t>
            </a:r>
          </a:p>
        </p:txBody>
      </p:sp>
      <p:sp>
        <p:nvSpPr>
          <p:cNvPr id="14" name="Oval 13"/>
          <p:cNvSpPr/>
          <p:nvPr/>
        </p:nvSpPr>
        <p:spPr>
          <a:xfrm>
            <a:off x="94615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38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Inside a Sentence</a:t>
            </a:r>
          </a:p>
        </p:txBody>
      </p:sp>
      <p:sp>
        <p:nvSpPr>
          <p:cNvPr id="16" name="Oval 15"/>
          <p:cNvSpPr/>
          <p:nvPr/>
        </p:nvSpPr>
        <p:spPr>
          <a:xfrm>
            <a:off x="78867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Before &amp; Within a Verb</a:t>
            </a:r>
          </a:p>
        </p:txBody>
      </p:sp>
      <p:sp>
        <p:nvSpPr>
          <p:cNvPr id="18" name="Oval 17"/>
          <p:cNvSpPr/>
          <p:nvPr/>
        </p:nvSpPr>
        <p:spPr>
          <a:xfrm>
            <a:off x="63119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42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Restriction &amp; Completeness</a:t>
            </a:r>
          </a:p>
        </p:txBody>
      </p:sp>
      <p:sp>
        <p:nvSpPr>
          <p:cNvPr id="20" name="Oval 19"/>
          <p:cNvSpPr/>
          <p:nvPr/>
        </p:nvSpPr>
        <p:spPr>
          <a:xfrm>
            <a:off x="47371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94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Putting It Together</a:t>
            </a:r>
          </a:p>
        </p:txBody>
      </p:sp>
      <p:sp>
        <p:nvSpPr>
          <p:cNvPr id="22" name="Oval 21"/>
          <p:cNvSpPr/>
          <p:nvPr/>
        </p:nvSpPr>
        <p:spPr>
          <a:xfrm>
            <a:off x="31623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Clearing the Confusion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889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0800" y="1574800"/>
            <a:ext cx="6807200" cy="1320800"/>
          </a:xfrm>
          <a:prstGeom prst="roundRect">
            <a:avLst>
              <a:gd name="adj" fmla="val 11538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127000" tIns="50800" rIns="127000" bIns="254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800" b="1" i="0" dirty="0">
                <a:solidFill>
                  <a:srgbClr val="FFFFFF"/>
                </a:solidFill>
                <a:latin typeface="Chalkboard SE"/>
                <a:cs typeface="Geeza Pro"/>
              </a:rPr>
              <a:t>What Emphasis Means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  <a:latin typeface="Chalkboard SE"/>
                <a:cs typeface="Geeza Pro"/>
              </a:rPr>
              <a:t>Why speakers add force — and what counts as emphasis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FFFFFF"/>
                </a:solidFill>
                <a:latin typeface="Geeza Pro"/>
                <a:cs typeface="Geeza Pro"/>
              </a:rPr>
              <a:t>‏مَعْنَى التَّوْكِيد  </a:t>
            </a:r>
            <a:r>
              <a:rPr lang="en-GB" sz="1800" b="1" i="0" dirty="0">
                <a:solidFill>
                  <a:srgbClr val="FFFFFF"/>
                </a:solidFill>
                <a:latin typeface="Chalkboard SE"/>
                <a:cs typeface="Geeza Pro"/>
              </a:rPr>
              <a:t>· maʿnā t-tawkīd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9200" y="1574800"/>
            <a:ext cx="3810000" cy="1320800"/>
          </a:xfrm>
          <a:prstGeom prst="roundRect">
            <a:avLst>
              <a:gd name="adj" fmla="val 11538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152400" tIns="50800" rIns="1524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THE FOCUS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Hear the difference between a neutral and an emphasized statement, and separate emphasis from look-alike ideas.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971800"/>
            <a:ext cx="10718800" cy="254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KEY TERMS IN THIS 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28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emphasis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‏تَوْكِيد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tawkīd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2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restriction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‏قَصْر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qaṣr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6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exclamation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‏تَعَجُّب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taʿajjub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70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emphasis of meaning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‏تَوْكِيد مَعْنَوِيّ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tawkīd maʿnawī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6666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1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Explain what emphasis adds to a sentence and why speakers use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2933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2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Tell emphasis apart from restriction, exclamation and plain 'yes'.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3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Sort the tools by where they work: sentence, verb, attached, or word.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‎What Is Emphasis (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تَوْكِيد)?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9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Emphasis (</a:t>
              </a:r>
              <a:r>
                <a:rPr lang="en-GB" sz="16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tawkīd</a:t>
              </a: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strengthens a statement so that the listener accepts it.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54800" y="1346200"/>
            <a:ext cx="5283200" cy="2235200"/>
            <a:chOff x="6654800" y="1346200"/>
            <a:chExt cx="5283200" cy="2235200"/>
          </a:xfrm>
        </p:grpSpPr>
        <p:sp>
          <p:nvSpPr>
            <p:cNvPr id="17" name="Rounded Rectangle 16"/>
            <p:cNvSpPr/>
            <p:nvPr/>
          </p:nvSpPr>
          <p:spPr>
            <a:xfrm>
              <a:off x="6654800" y="1346200"/>
              <a:ext cx="5283200" cy="2235200"/>
            </a:xfrm>
            <a:prstGeom prst="roundRect">
              <a:avLst>
                <a:gd name="adj" fmla="val 5681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654800" y="1346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54800" y="1600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54800" y="1346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To Remove Doubt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80200" y="1752600"/>
              <a:ext cx="5232400" cy="1803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الِامْتِحَان سَهْل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l-imtiḥāna sahlun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exam really is easy.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19200" y="1346200"/>
            <a:ext cx="5283200" cy="2235200"/>
            <a:chOff x="1219200" y="1346200"/>
            <a:chExt cx="5283200" cy="2235200"/>
          </a:xfrm>
        </p:grpSpPr>
        <p:sp>
          <p:nvSpPr>
            <p:cNvPr id="23" name="Rounded Rectangle 22"/>
            <p:cNvSpPr/>
            <p:nvPr/>
          </p:nvSpPr>
          <p:spPr>
            <a:xfrm>
              <a:off x="1219200" y="1346200"/>
              <a:ext cx="5283200" cy="2235200"/>
            </a:xfrm>
            <a:prstGeom prst="roundRect">
              <a:avLst>
                <a:gd name="adj" fmla="val 5681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19200" y="1346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219200" y="1600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19200" y="1346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To Answer a Denial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44600" y="1752600"/>
              <a:ext cx="5232400" cy="1803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‏لَقَد</a:t>
              </a: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دَفَعْت الْفَاتُورَة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dafaʿtu l-fātūrata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I have paid the bill!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654800" y="3733800"/>
            <a:ext cx="5283200" cy="2235200"/>
            <a:chOff x="6654800" y="3733800"/>
            <a:chExt cx="5283200" cy="2235200"/>
          </a:xfrm>
        </p:grpSpPr>
        <p:sp>
          <p:nvSpPr>
            <p:cNvPr id="29" name="Rounded Rectangle 28"/>
            <p:cNvSpPr/>
            <p:nvPr/>
          </p:nvSpPr>
          <p:spPr>
            <a:xfrm>
              <a:off x="6654800" y="3733800"/>
              <a:ext cx="5283200" cy="2235200"/>
            </a:xfrm>
            <a:prstGeom prst="roundRect">
              <a:avLst>
                <a:gd name="adj" fmla="val 5681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654800" y="37338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654800" y="39878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654800" y="37338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To Stress Importance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680200" y="4140200"/>
              <a:ext cx="5232400" cy="1803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سَلَامَتَكُم تَهُمُّنَا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salāmatakum tahummunā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Your safety truly matters to us.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219200" y="3733800"/>
            <a:ext cx="5283200" cy="2235200"/>
            <a:chOff x="1219200" y="3733800"/>
            <a:chExt cx="5283200" cy="2235200"/>
          </a:xfrm>
        </p:grpSpPr>
        <p:sp>
          <p:nvSpPr>
            <p:cNvPr id="35" name="Rounded Rectangle 34"/>
            <p:cNvSpPr/>
            <p:nvPr/>
          </p:nvSpPr>
          <p:spPr>
            <a:xfrm>
              <a:off x="1219200" y="3733800"/>
              <a:ext cx="5283200" cy="2235200"/>
            </a:xfrm>
            <a:prstGeom prst="roundRect">
              <a:avLst>
                <a:gd name="adj" fmla="val 5681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219200" y="37338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219200" y="39878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19200" y="37338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To Show Feeling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244600" y="4140200"/>
              <a:ext cx="5232400" cy="1803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‏لَقَد</a:t>
              </a: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اشْتَقْت إِلَيْك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laqadi shtaqtu ilayka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I've really missed you.</a:t>
              </a: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1219200" y="6184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47800" y="6121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the emphatic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Neutral or Emphasized? Side by 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0" y="838200"/>
            <a:ext cx="3810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Neutral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7000" y="838200"/>
            <a:ext cx="4191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Emphasized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838200"/>
            <a:ext cx="2717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What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0" y="1193800"/>
            <a:ext cx="3810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‏الْجَوّ جَمِيل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al-jawwu jamīlun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weather is nice.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7000" y="1193800"/>
            <a:ext cx="4191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 الْجَوّ جَمِيل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inna l-jawwa jamīlun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weather really is nice.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1193800"/>
            <a:ext cx="27178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whole statement is stressed.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0" y="2159000"/>
            <a:ext cx="3810000" cy="965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‏وَصَل الضُّيُوف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waṣala ḍ-ḍuyūfu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guests arrived.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2159000"/>
            <a:ext cx="4191000" cy="965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1" i="0" dirty="0">
                <a:solidFill>
                  <a:srgbClr val="33618F"/>
                </a:solidFill>
                <a:latin typeface="Geeza Pro"/>
                <a:cs typeface="Geeza Pro"/>
              </a:rPr>
              <a:t>‏لَقَد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 وَصَل الضُّيُوف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laqad waṣala ḍ-ḍuyūfu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guests have (finally) arrived.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" y="2159000"/>
            <a:ext cx="2717800" cy="965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A completed event, stated with force.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0" y="3124200"/>
            <a:ext cx="3810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‏أُرِيد أَن أُسَاعِد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urīdu an usāʿida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I want to help.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124200"/>
            <a:ext cx="4191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 أُرِيد أَن أُسَاعِد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innamā urīdu an usāʿida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I only want to help.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3124200"/>
            <a:ext cx="27178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statement is limited (restriction).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0" y="4089400"/>
            <a:ext cx="3810000" cy="965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‏حَضَر الْمُدِير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ḥaḍara l-mudīru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manager attended.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089400"/>
            <a:ext cx="4191000" cy="965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‏حَضَر الْمُدِير </a:t>
            </a:r>
            <a:r>
              <a:rPr lang="ar-SA" altLang="en-GB" sz="1700" b="1" i="0" dirty="0">
                <a:solidFill>
                  <a:srgbClr val="33618F"/>
                </a:solidFill>
                <a:latin typeface="Geeza Pro"/>
                <a:cs typeface="Geeza Pro"/>
              </a:rPr>
              <a:t>نَفْسُه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ḥaḍara l-mudīru nafsuhu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manager himself attended.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9200" y="4089400"/>
            <a:ext cx="2717800" cy="965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identity of the person is stressed.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0" y="5054600"/>
            <a:ext cx="3810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‏نَجَح الطُّلَّاب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najaḥa ṭ-ṭullābu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students passed.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7000" y="5054600"/>
            <a:ext cx="4191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‏نَجَح الطُّلَّاب </a:t>
            </a:r>
            <a:r>
              <a:rPr lang="ar-SA" altLang="en-GB" sz="1700" b="1" i="0" dirty="0">
                <a:solidFill>
                  <a:srgbClr val="33618F"/>
                </a:solidFill>
                <a:latin typeface="Geeza Pro"/>
                <a:cs typeface="Geeza Pro"/>
              </a:rPr>
              <a:t>كُلُّهُم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najaḥa ṭ-ṭullābu kulluhum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The students all passed.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5054600"/>
            <a:ext cx="27178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262626"/>
                </a:solidFill>
                <a:latin typeface="Chalkboard SE"/>
                <a:cs typeface="Geeza Pro"/>
              </a:rPr>
              <a:t>Totality is stressed: no one is left out.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9200" y="61595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47800" y="60960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the emphatic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Five Ideas Learners Often Mix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11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483600" y="838200"/>
            <a:ext cx="3454400" cy="2489200"/>
            <a:chOff x="8483600" y="838200"/>
            <a:chExt cx="3454400" cy="2489200"/>
          </a:xfrm>
        </p:grpSpPr>
        <p:sp>
          <p:nvSpPr>
            <p:cNvPr id="13" name="Rounded Rectangle 12"/>
            <p:cNvSpPr/>
            <p:nvPr/>
          </p:nvSpPr>
          <p:spPr>
            <a:xfrm>
              <a:off x="8483600" y="838200"/>
              <a:ext cx="34544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4836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836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836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Emphasis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509000" y="1244600"/>
              <a:ext cx="34036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600" b="0" i="0" dirty="0">
                  <a:solidFill>
                    <a:srgbClr val="8E2453"/>
                  </a:solidFill>
                  <a:latin typeface="Geeza Pro"/>
                  <a:cs typeface="Geeza Pro"/>
                </a:rPr>
                <a:t>‎تَوْكِيد ·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tawkīd</a:t>
              </a:r>
            </a:p>
            <a:p>
              <a:pPr algn="ctr" rtl="0">
                <a:lnSpc>
                  <a:spcPct val="108000"/>
                </a:lnSpc>
                <a:spcAft>
                  <a:spcPts val="4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Strengthens the truth of a statement.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الْعِلْم نُور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l-ʿilma nūrun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Knowledge is truly light.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51400" y="838200"/>
            <a:ext cx="3454400" cy="2489200"/>
            <a:chOff x="4851400" y="838200"/>
            <a:chExt cx="3454400" cy="2489200"/>
          </a:xfrm>
        </p:grpSpPr>
        <p:sp>
          <p:nvSpPr>
            <p:cNvPr id="19" name="Rounded Rectangle 18"/>
            <p:cNvSpPr/>
            <p:nvPr/>
          </p:nvSpPr>
          <p:spPr>
            <a:xfrm>
              <a:off x="4851400" y="838200"/>
              <a:ext cx="34544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8514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514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514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Certainty of an Event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76800" y="1244600"/>
              <a:ext cx="34036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600" b="0" i="0" dirty="0">
                  <a:solidFill>
                    <a:srgbClr val="8E2453"/>
                  </a:solidFill>
                  <a:latin typeface="Geeza Pro"/>
                  <a:cs typeface="Geeza Pro"/>
                </a:rPr>
                <a:t>‎تَحْقِيق ·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taḥqīq</a:t>
              </a:r>
            </a:p>
            <a:p>
              <a:pPr algn="ctr" rtl="0">
                <a:lnSpc>
                  <a:spcPct val="108000"/>
                </a:lnSpc>
                <a:spcAft>
                  <a:spcPts val="4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Presents an action as really done.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وَصَل الْقِطَار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waṣala l-qiṭāru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train has arrived.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838200"/>
            <a:ext cx="3454400" cy="2489200"/>
            <a:chOff x="1219200" y="838200"/>
            <a:chExt cx="3454400" cy="24892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838200"/>
              <a:ext cx="34544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2192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192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192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Confirmation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44600" y="1244600"/>
              <a:ext cx="34036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8E2453"/>
                  </a:solidFill>
                  <a:latin typeface="Chalkboard SE"/>
                  <a:cs typeface="Geeza Pro"/>
                </a:rPr>
                <a:t>answer words</a:t>
              </a:r>
            </a:p>
            <a:p>
              <a:pPr algn="ctr" rtl="0">
                <a:lnSpc>
                  <a:spcPct val="108000"/>
                </a:lnSpc>
                <a:spcAft>
                  <a:spcPts val="4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Agrees with what was said; a reply.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‏نَعَم، بِالتَّأْكِيد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naʿam, bi-t-taʾkīdi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Yes, certainly.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705600" y="3479800"/>
            <a:ext cx="3454400" cy="2489200"/>
            <a:chOff x="6705600" y="3479800"/>
            <a:chExt cx="3454400" cy="2489200"/>
          </a:xfrm>
        </p:grpSpPr>
        <p:sp>
          <p:nvSpPr>
            <p:cNvPr id="31" name="Rounded Rectangle 30"/>
            <p:cNvSpPr/>
            <p:nvPr/>
          </p:nvSpPr>
          <p:spPr>
            <a:xfrm>
              <a:off x="6705600" y="3479800"/>
              <a:ext cx="34544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705600" y="34798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705600" y="37338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705600" y="34798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Restriction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731000" y="3886200"/>
              <a:ext cx="34036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600" b="0" i="0" dirty="0">
                  <a:solidFill>
                    <a:srgbClr val="8E2453"/>
                  </a:solidFill>
                  <a:latin typeface="Geeza Pro"/>
                  <a:cs typeface="Geeza Pro"/>
                </a:rPr>
                <a:t>‎قَصْر ·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qaṣr</a:t>
              </a:r>
            </a:p>
            <a:p>
              <a:pPr algn="ctr" rtl="0">
                <a:lnSpc>
                  <a:spcPct val="108000"/>
                </a:lnSpc>
                <a:spcAft>
                  <a:spcPts val="4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Limits the statement to one thing.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‏إِنَّمَا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أَنَا ضَيْف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 ana ḍayfun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I'm only a guest.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073400" y="3479800"/>
            <a:ext cx="3454400" cy="2489200"/>
            <a:chOff x="3073400" y="3479800"/>
            <a:chExt cx="3454400" cy="2489200"/>
          </a:xfrm>
        </p:grpSpPr>
        <p:sp>
          <p:nvSpPr>
            <p:cNvPr id="37" name="Rounded Rectangle 36"/>
            <p:cNvSpPr/>
            <p:nvPr/>
          </p:nvSpPr>
          <p:spPr>
            <a:xfrm>
              <a:off x="3073400" y="3479800"/>
              <a:ext cx="34544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073400" y="34798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73400" y="37338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73400" y="34798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Exclamation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098800" y="3886200"/>
              <a:ext cx="34036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600" b="0" i="0" dirty="0">
                  <a:solidFill>
                    <a:srgbClr val="8E2453"/>
                  </a:solidFill>
                  <a:latin typeface="Geeza Pro"/>
                  <a:cs typeface="Geeza Pro"/>
                </a:rPr>
                <a:t>‎تَعَجُّب ·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taʿajjub</a:t>
              </a:r>
            </a:p>
            <a:p>
              <a:pPr algn="ctr" rtl="0">
                <a:lnSpc>
                  <a:spcPct val="108000"/>
                </a:lnSpc>
                <a:spcAft>
                  <a:spcPts val="4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Expresses wonder — Chapter 2.12.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‏مَا أَجْمَل الْبَحْر!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mā ajmala l-baḥra!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How beautiful the sea is!</a:t>
              </a:r>
            </a:p>
          </p:txBody>
        </p:sp>
      </p:grpSp>
      <p:sp>
        <p:nvSpPr>
          <p:cNvPr id="42" name="Rounded Rectangle 41"/>
          <p:cNvSpPr/>
          <p:nvPr/>
        </p:nvSpPr>
        <p:spPr>
          <a:xfrm>
            <a:off x="1219200" y="61595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47800" y="60960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the emphatic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Four Places Emphasis Can 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12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Ask: does the tool work on a sentence, a verb, a single word — or is it a noun?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372600" y="1320800"/>
            <a:ext cx="2565400" cy="3175000"/>
            <a:chOff x="9372600" y="1320800"/>
            <a:chExt cx="2565400" cy="3175000"/>
          </a:xfrm>
        </p:grpSpPr>
        <p:sp>
          <p:nvSpPr>
            <p:cNvPr id="17" name="Rounded Rectangle 16"/>
            <p:cNvSpPr/>
            <p:nvPr/>
          </p:nvSpPr>
          <p:spPr>
            <a:xfrm>
              <a:off x="9372600" y="1320800"/>
              <a:ext cx="2565400" cy="3175000"/>
            </a:xfrm>
            <a:prstGeom prst="roundRect">
              <a:avLst>
                <a:gd name="adj" fmla="val 495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372600" y="1320800"/>
              <a:ext cx="2565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372600" y="1574800"/>
              <a:ext cx="2565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372600" y="1320800"/>
              <a:ext cx="256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On a Whole Sentence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398000" y="1727200"/>
              <a:ext cx="25146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1" i="0" dirty="0">
                  <a:solidFill>
                    <a:srgbClr val="5F5F5F"/>
                  </a:solidFill>
                  <a:latin typeface="Chalkboard SE"/>
                  <a:cs typeface="Geeza Pro"/>
                </a:rPr>
                <a:t>PARTICLES</a:t>
              </a:r>
            </a:p>
            <a:p>
              <a:pPr algn="ctr" rtl="1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en-GB" sz="20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أَنّ</a:t>
              </a:r>
              <a:r>
                <a:rPr lang="en-GB" sz="20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إِنَّمَا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الْوَقْت ثَمِين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l-waqta thamīnun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Time is precious.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654800" y="1320800"/>
            <a:ext cx="2565400" cy="3175000"/>
            <a:chOff x="6654800" y="1320800"/>
            <a:chExt cx="2565400" cy="3175000"/>
          </a:xfrm>
        </p:grpSpPr>
        <p:sp>
          <p:nvSpPr>
            <p:cNvPr id="23" name="Rounded Rectangle 22"/>
            <p:cNvSpPr/>
            <p:nvPr/>
          </p:nvSpPr>
          <p:spPr>
            <a:xfrm>
              <a:off x="6654800" y="1320800"/>
              <a:ext cx="2565400" cy="3175000"/>
            </a:xfrm>
            <a:prstGeom prst="roundRect">
              <a:avLst>
                <a:gd name="adj" fmla="val 495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654800" y="1320800"/>
              <a:ext cx="2565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54800" y="1574800"/>
              <a:ext cx="2565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54800" y="1320800"/>
              <a:ext cx="256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On a Verb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80200" y="1727200"/>
              <a:ext cx="25146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1" i="0" dirty="0">
                  <a:solidFill>
                    <a:srgbClr val="5F5F5F"/>
                  </a:solidFill>
                  <a:latin typeface="Chalkboard SE"/>
                  <a:cs typeface="Geeza Pro"/>
                </a:rPr>
                <a:t>PARTICLES</a:t>
              </a:r>
            </a:p>
            <a:p>
              <a:pPr algn="ctr" rtl="1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en-GB" sz="20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لَقَد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وَصَلْنَا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waṣalnā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We have arrived.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937000" y="1320800"/>
            <a:ext cx="2565400" cy="3175000"/>
            <a:chOff x="3937000" y="1320800"/>
            <a:chExt cx="2565400" cy="3175000"/>
          </a:xfrm>
        </p:grpSpPr>
        <p:sp>
          <p:nvSpPr>
            <p:cNvPr id="29" name="Rounded Rectangle 28"/>
            <p:cNvSpPr/>
            <p:nvPr/>
          </p:nvSpPr>
          <p:spPr>
            <a:xfrm>
              <a:off x="3937000" y="1320800"/>
              <a:ext cx="2565400" cy="3175000"/>
            </a:xfrm>
            <a:prstGeom prst="roundRect">
              <a:avLst>
                <a:gd name="adj" fmla="val 495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937000" y="1320800"/>
              <a:ext cx="2565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937000" y="1574800"/>
              <a:ext cx="2565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937000" y="1320800"/>
              <a:ext cx="256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Attached to a Word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962400" y="1727200"/>
              <a:ext cx="25146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1" i="0" dirty="0">
                  <a:solidFill>
                    <a:srgbClr val="5F5F5F"/>
                  </a:solidFill>
                  <a:latin typeface="Chalkboard SE"/>
                  <a:cs typeface="Geeza Pro"/>
                </a:rPr>
                <a:t>A PREFIX</a:t>
              </a:r>
            </a:p>
            <a:p>
              <a:pPr algn="ctr" rtl="1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‏لَـ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الْحَقّ </a:t>
              </a: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لَ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وَاضِح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l-ḥaqqa la-wāḍiḥun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truth is clearly evident.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219200" y="1320800"/>
            <a:ext cx="2565400" cy="3175000"/>
            <a:chOff x="1219200" y="1320800"/>
            <a:chExt cx="2565400" cy="3175000"/>
          </a:xfrm>
        </p:grpSpPr>
        <p:sp>
          <p:nvSpPr>
            <p:cNvPr id="35" name="Rounded Rectangle 34"/>
            <p:cNvSpPr/>
            <p:nvPr/>
          </p:nvSpPr>
          <p:spPr>
            <a:xfrm>
              <a:off x="1219200" y="1320800"/>
              <a:ext cx="2565400" cy="3175000"/>
            </a:xfrm>
            <a:prstGeom prst="roundRect">
              <a:avLst>
                <a:gd name="adj" fmla="val 495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219200" y="1320800"/>
              <a:ext cx="2565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219200" y="1574800"/>
              <a:ext cx="2565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19200" y="1320800"/>
              <a:ext cx="256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After a Noun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244600" y="1727200"/>
              <a:ext cx="25146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1" i="0" dirty="0">
                  <a:solidFill>
                    <a:srgbClr val="5F5F5F"/>
                  </a:solidFill>
                  <a:latin typeface="Chalkboard SE"/>
                  <a:cs typeface="Geeza Pro"/>
                </a:rPr>
                <a:t>NOUNS + PRONOUN SUFFIX</a:t>
              </a:r>
            </a:p>
            <a:p>
              <a:pPr algn="ctr" rtl="1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‏نَفْس</a:t>
              </a:r>
              <a:r>
                <a:rPr lang="en-GB" sz="20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عَيْن</a:t>
              </a:r>
              <a:r>
                <a:rPr lang="en-GB" sz="20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كُلّ</a:t>
              </a:r>
              <a:r>
                <a:rPr lang="en-GB" sz="20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جَمِيع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‏جَاء الضُّيُوف </a:t>
              </a: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كُلُّهُم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jāʾa ḍ-ḍuyūfu kulluhum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guests all came.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219200" y="4648200"/>
            <a:ext cx="10718800" cy="1371600"/>
            <a:chOff x="1219200" y="4648200"/>
            <a:chExt cx="10718800" cy="1371600"/>
          </a:xfrm>
        </p:grpSpPr>
        <p:sp>
          <p:nvSpPr>
            <p:cNvPr id="41" name="Rounded Rectangle 40"/>
            <p:cNvSpPr/>
            <p:nvPr/>
          </p:nvSpPr>
          <p:spPr>
            <a:xfrm>
              <a:off x="1219200" y="4648200"/>
              <a:ext cx="10718800" cy="1371600"/>
            </a:xfrm>
            <a:prstGeom prst="roundRect">
              <a:avLst>
                <a:gd name="adj" fmla="val 7407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270000" y="4673600"/>
              <a:ext cx="10617200" cy="13208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GRAMMAR NOTE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words </a:t>
              </a:r>
              <a:r>
                <a:rPr lang="ar-SA" altLang="en-GB" sz="17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نَفْس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‎, </a:t>
              </a:r>
              <a:r>
                <a:rPr lang="ar-SA" altLang="en-GB" sz="17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عَيْن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‎, </a:t>
              </a:r>
              <a:r>
                <a:rPr lang="ar-SA" altLang="en-GB" sz="17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كُلّ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and </a:t>
              </a:r>
              <a:r>
                <a:rPr lang="ar-SA" altLang="en-GB" sz="17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جَمِيع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are nouns, not particles. When they follow a noun with a matching pronoun suffix, Arabic grammar calls this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التَّوْكِيد الْمَعْنَوِيّ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at-tawkīd al-maʿnawī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'emphasis of meaning').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Grammatical Emphasis vs. Everyday Intensifiers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13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Words like 'really' and 'very' intensify — but they are vocabulary, not grammatical tools.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9652000" y="1320800"/>
            <a:ext cx="2286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Word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2000" y="1320800"/>
            <a:ext cx="2540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Meaning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9200" y="1320800"/>
            <a:ext cx="5892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Example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52000" y="167640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‏حَقًّا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ḥaqqan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2000" y="1676400"/>
            <a:ext cx="2540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truly, really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9200" y="1676400"/>
            <a:ext cx="5892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‏هَذَا حَقًّا مُفِيد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hādhā ḥaqqan mufīdun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This is truly useful.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52000" y="2590800"/>
            <a:ext cx="2286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‏فِعْلًا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fiʿlan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2000" y="2590800"/>
            <a:ext cx="2540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really, actually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2590800"/>
            <a:ext cx="58928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‏أَنَا فِعْلًا مُتْعَب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ana fiʿlan mutʿabun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I'm really tired.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52000" y="350520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‏بِالتَّأْكِيد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bi-t-taʾkīdi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2000" y="3505200"/>
            <a:ext cx="2540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certainly, of course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3505200"/>
            <a:ext cx="5892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‏سَأَحْضُر بِالتَّأْكِيد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sa-aḥḍuru bi-t-taʾkīdi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I'll certainly come.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52000" y="4419600"/>
            <a:ext cx="2286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‏جِدًّا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jiddan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2000" y="4419600"/>
            <a:ext cx="2540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9200" y="4419600"/>
            <a:ext cx="58928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‏الدَّرْس مُهِمّ جِدًّا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ad-darsu muhimmun jiddan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The lesson is very important.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219200" y="5537200"/>
            <a:ext cx="10718800" cy="762000"/>
            <a:chOff x="1219200" y="5537200"/>
            <a:chExt cx="10718800" cy="762000"/>
          </a:xfrm>
        </p:grpSpPr>
        <p:sp>
          <p:nvSpPr>
            <p:cNvPr id="32" name="Rounded Rectangle 31"/>
            <p:cNvSpPr/>
            <p:nvPr/>
          </p:nvSpPr>
          <p:spPr>
            <a:xfrm>
              <a:off x="1219200" y="5537200"/>
              <a:ext cx="10718800" cy="762000"/>
            </a:xfrm>
            <a:prstGeom prst="roundRect">
              <a:avLst>
                <a:gd name="adj" fmla="val 1333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70000" y="5562600"/>
              <a:ext cx="10617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DIFFERENCE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‎These words can combine with the chapter's tools, but they do not change grammar the way </a:t>
              </a:r>
              <a:r>
                <a:rPr lang="ar-SA" altLang="en-GB" sz="17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إِنّ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does.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Emphasis Without a Tool: Repetition, Intonation,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14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483600" y="889000"/>
            <a:ext cx="3454400" cy="4191000"/>
            <a:chOff x="8483600" y="889000"/>
            <a:chExt cx="3454400" cy="4191000"/>
          </a:xfrm>
        </p:grpSpPr>
        <p:sp>
          <p:nvSpPr>
            <p:cNvPr id="13" name="Rounded Rectangle 12"/>
            <p:cNvSpPr/>
            <p:nvPr/>
          </p:nvSpPr>
          <p:spPr>
            <a:xfrm>
              <a:off x="8483600" y="889000"/>
              <a:ext cx="3454400" cy="4191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483600" y="8890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83600" y="11430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83600" y="8890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Repetition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509000" y="1295400"/>
              <a:ext cx="3403600" cy="375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‎Repeating a word strengthens it. Grammar calls this </a:t>
              </a:r>
              <a:r>
                <a:rPr lang="ar-SA" altLang="en-GB" sz="155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التَّوْكِيد اللَّفْظِيّ (</a:t>
              </a:r>
              <a:r>
                <a:rPr lang="en-GB" sz="12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at-tawkīd al-lafẓī</a:t>
              </a: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‏نَعَم نَعَم، فَهِمْت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naʿam naʿam, fahimtu</a:t>
              </a: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Yes, yes — I understood.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‏مُهِمّ جِدًّا جِدًّا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muhimmun jiddan jiddan</a:t>
              </a: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Very, very important.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51400" y="889000"/>
            <a:ext cx="3454400" cy="4191000"/>
            <a:chOff x="4851400" y="889000"/>
            <a:chExt cx="3454400" cy="4191000"/>
          </a:xfrm>
        </p:grpSpPr>
        <p:sp>
          <p:nvSpPr>
            <p:cNvPr id="19" name="Rounded Rectangle 18"/>
            <p:cNvSpPr/>
            <p:nvPr/>
          </p:nvSpPr>
          <p:spPr>
            <a:xfrm>
              <a:off x="4851400" y="889000"/>
              <a:ext cx="3454400" cy="4191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851400" y="8890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51400" y="11430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51400" y="8890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Intonation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76800" y="1295400"/>
              <a:ext cx="3403600" cy="375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In speech, extra stress on one word marks it as the point. Writing cannot show this.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‏الِاجْتِمَاع الْيَوْم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al-ijtimāʿu l-YAWMA</a:t>
              </a: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meeting is TODAY (not tomorrow).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889000"/>
            <a:ext cx="3454400" cy="4191000"/>
            <a:chOff x="1219200" y="889000"/>
            <a:chExt cx="3454400" cy="4191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889000"/>
              <a:ext cx="3454400" cy="4191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219200" y="8890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19200" y="11430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19200" y="8890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Context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44600" y="1295400"/>
              <a:ext cx="3403600" cy="375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 plain sentence can sound emphatic as a reply to doubt.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‏— هَل أَنْت مُتَأَكِّد؟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hal anta mutaʾakkidun?</a:t>
              </a: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Are you sure?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‏— الْمَتْحَف مَفْتُوح.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al-matḥafu maftūḥun.</a:t>
              </a:r>
              <a:r>
                <a:rPr lang="en-GB" sz="11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museum IS open.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19200" y="5232400"/>
            <a:ext cx="10718800" cy="1016000"/>
            <a:chOff x="1219200" y="5232400"/>
            <a:chExt cx="10718800" cy="1016000"/>
          </a:xfrm>
        </p:grpSpPr>
        <p:sp>
          <p:nvSpPr>
            <p:cNvPr id="31" name="Rounded Rectangle 30"/>
            <p:cNvSpPr/>
            <p:nvPr/>
          </p:nvSpPr>
          <p:spPr>
            <a:xfrm>
              <a:off x="1219200" y="5232400"/>
              <a:ext cx="10718800" cy="1016000"/>
            </a:xfrm>
            <a:prstGeom prst="roundRect">
              <a:avLst>
                <a:gd name="adj" fmla="val 10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70000" y="5257800"/>
              <a:ext cx="10617200" cy="965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NOTE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Capital letters in the transliteration show spoken stress only. The Arabic spelling does not change.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Why Context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15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same tool can do different jobs. Read the whole situation.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483600" y="1346200"/>
            <a:ext cx="3454400" cy="3810000"/>
            <a:chOff x="8483600" y="1346200"/>
            <a:chExt cx="3454400" cy="3810000"/>
          </a:xfrm>
        </p:grpSpPr>
        <p:sp>
          <p:nvSpPr>
            <p:cNvPr id="17" name="Rounded Rectangle 16"/>
            <p:cNvSpPr/>
            <p:nvPr/>
          </p:nvSpPr>
          <p:spPr>
            <a:xfrm>
              <a:off x="8483600" y="13462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4836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36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4836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Same Particle, Different Verb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509000" y="17526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وَصَل الْقِطَار</a:t>
              </a:r>
            </a:p>
            <a:p>
              <a:pPr algn="ctr" rtl="0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waṣala l-qiṭāru</a:t>
              </a:r>
            </a:p>
            <a:p>
              <a:pPr algn="ctr" rtl="0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train has arrived. (completed)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يَصِل الْقِطَار</a:t>
              </a:r>
            </a:p>
            <a:p>
              <a:pPr algn="ctr" rtl="0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yaṣilu l-qiṭāru</a:t>
              </a:r>
            </a:p>
            <a:p>
              <a:pPr algn="ctr" rtl="0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train may arrive. (possible)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51400" y="1346200"/>
            <a:ext cx="3454400" cy="3810000"/>
            <a:chOff x="4851400" y="1346200"/>
            <a:chExt cx="3454400" cy="3810000"/>
          </a:xfrm>
        </p:grpSpPr>
        <p:sp>
          <p:nvSpPr>
            <p:cNvPr id="23" name="Rounded Rectangle 22"/>
            <p:cNvSpPr/>
            <p:nvPr/>
          </p:nvSpPr>
          <p:spPr>
            <a:xfrm>
              <a:off x="4851400" y="13462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8514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8514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514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Same Sentence, Different Listener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876800" y="17526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‏الْفُنْدُق قَرِيب</a:t>
              </a:r>
            </a:p>
            <a:p>
              <a:pPr algn="ctr" rtl="0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al-funduqu qarībun</a:t>
              </a:r>
            </a:p>
            <a:p>
              <a:pPr algn="ctr" rtl="0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hotel is near. (just information)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الْفُنْدُق قَرِيب</a:t>
              </a:r>
            </a:p>
            <a:p>
              <a:pPr algn="ctr" rtl="0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l-funduqa qarībun</a:t>
              </a:r>
            </a:p>
            <a:p>
              <a:pPr algn="ctr" rtl="0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hotel IS near. (to someone who doubts)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19200" y="1346200"/>
            <a:ext cx="3454400" cy="3810000"/>
            <a:chOff x="1219200" y="1346200"/>
            <a:chExt cx="3454400" cy="3810000"/>
          </a:xfrm>
        </p:grpSpPr>
        <p:sp>
          <p:nvSpPr>
            <p:cNvPr id="29" name="Rounded Rectangle 28"/>
            <p:cNvSpPr/>
            <p:nvPr/>
          </p:nvSpPr>
          <p:spPr>
            <a:xfrm>
              <a:off x="1219200" y="13462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2192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92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192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Same Word, Different Job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44600" y="17526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‏نَفْس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الشَّخْص</a:t>
              </a:r>
            </a:p>
            <a:p>
              <a:pPr algn="ctr" rtl="0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nafsu sh-shakhṣi</a:t>
              </a:r>
            </a:p>
            <a:p>
              <a:pPr algn="ctr" rtl="0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same person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‏الشَّخْص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نَفْسُه</a:t>
              </a:r>
            </a:p>
            <a:p>
              <a:pPr algn="ctr" rtl="0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ash-shakhṣu nafsuhu</a:t>
              </a:r>
            </a:p>
            <a:p>
              <a:pPr algn="ctr" rtl="0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person himself</a:t>
              </a: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1219200" y="53975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47800" y="53340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the tool whose job changes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Quick Check: Spot the Emphasis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7933" y="838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066" y="838200"/>
            <a:ext cx="2489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LOOK AT…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838200"/>
            <a:ext cx="2870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WHAT KIND?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47933" y="1143000"/>
            <a:ext cx="5164667" cy="889000"/>
            <a:chOff x="6747933" y="1143000"/>
            <a:chExt cx="5164667" cy="889000"/>
          </a:xfrm>
        </p:grpSpPr>
        <p:sp>
          <p:nvSpPr>
            <p:cNvPr id="16" name="Oval 15"/>
            <p:cNvSpPr/>
            <p:nvPr/>
          </p:nvSpPr>
          <p:spPr>
            <a:xfrm>
              <a:off x="11582400" y="14224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47933" y="1143000"/>
              <a:ext cx="4724400" cy="8890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الصِّحَّة كَنْز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ṣ-ṣiḥḥata kanzun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Health is truly a treasure.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4174066" y="1143000"/>
            <a:ext cx="2489200" cy="889000"/>
          </a:xfrm>
          <a:prstGeom prst="roundRect">
            <a:avLst>
              <a:gd name="adj" fmla="val 11428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143000"/>
            <a:ext cx="2870200" cy="889000"/>
          </a:xfrm>
          <a:prstGeom prst="roundRect">
            <a:avLst>
              <a:gd name="adj" fmla="val 11428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Emphasis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of the whole statement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47933" y="2133600"/>
            <a:ext cx="5164667" cy="889000"/>
            <a:chOff x="6747933" y="2133600"/>
            <a:chExt cx="5164667" cy="889000"/>
          </a:xfrm>
        </p:grpSpPr>
        <p:sp>
          <p:nvSpPr>
            <p:cNvPr id="21" name="Oval 20"/>
            <p:cNvSpPr/>
            <p:nvPr/>
          </p:nvSpPr>
          <p:spPr>
            <a:xfrm>
              <a:off x="11582400" y="24130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747933" y="2133600"/>
              <a:ext cx="4724400" cy="8890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‏حَضَر الْوَزِير نَفْسُه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ḥaḍara l-wazīru nafsuhu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minister himself attended.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174066" y="2133600"/>
            <a:ext cx="2489200" cy="889000"/>
          </a:xfrm>
          <a:prstGeom prst="roundRect">
            <a:avLst>
              <a:gd name="adj" fmla="val 11428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33618F"/>
                </a:solidFill>
                <a:latin typeface="Geeza Pro"/>
                <a:cs typeface="Geeza Pro"/>
              </a:rPr>
              <a:t>‏نَفْسُه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2133600"/>
            <a:ext cx="2870200" cy="889000"/>
          </a:xfrm>
          <a:prstGeom prst="roundRect">
            <a:avLst>
              <a:gd name="adj" fmla="val 11428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Identity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emphasis on the person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747933" y="3124200"/>
            <a:ext cx="5164667" cy="889000"/>
            <a:chOff x="6747933" y="3124200"/>
            <a:chExt cx="5164667" cy="889000"/>
          </a:xfrm>
        </p:grpSpPr>
        <p:sp>
          <p:nvSpPr>
            <p:cNvPr id="26" name="Oval 25"/>
            <p:cNvSpPr/>
            <p:nvPr/>
          </p:nvSpPr>
          <p:spPr>
            <a:xfrm>
              <a:off x="11582400" y="34036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747933" y="3124200"/>
              <a:ext cx="4724400" cy="8890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‏مَا أَجْمَل هَذَا الْمَكَان!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mā ajmala hādhā l-makāna!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How beautiful this place is!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174066" y="3124200"/>
            <a:ext cx="2489200" cy="889000"/>
          </a:xfrm>
          <a:prstGeom prst="roundRect">
            <a:avLst>
              <a:gd name="adj" fmla="val 11428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33618F"/>
                </a:solidFill>
                <a:latin typeface="Geeza Pro"/>
                <a:cs typeface="Geeza Pro"/>
              </a:rPr>
              <a:t>‏مَا أَجْمَل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3124200"/>
            <a:ext cx="2870200" cy="889000"/>
          </a:xfrm>
          <a:prstGeom prst="roundRect">
            <a:avLst>
              <a:gd name="adj" fmla="val 11428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Exclamation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not emphasis (Ch. 2.12)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747933" y="4114800"/>
            <a:ext cx="5164667" cy="889000"/>
            <a:chOff x="6747933" y="4114800"/>
            <a:chExt cx="5164667" cy="889000"/>
          </a:xfrm>
        </p:grpSpPr>
        <p:sp>
          <p:nvSpPr>
            <p:cNvPr id="31" name="Oval 30"/>
            <p:cNvSpPr/>
            <p:nvPr/>
          </p:nvSpPr>
          <p:spPr>
            <a:xfrm>
              <a:off x="11582400" y="43942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747933" y="4114800"/>
              <a:ext cx="4724400" cy="8890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‏إِنَّمَا أَنَا طَالِب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 ana ṭālibun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I'm only a student.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174066" y="4114800"/>
            <a:ext cx="2489200" cy="889000"/>
          </a:xfrm>
          <a:prstGeom prst="roundRect">
            <a:avLst>
              <a:gd name="adj" fmla="val 11428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4114800"/>
            <a:ext cx="2870200" cy="889000"/>
          </a:xfrm>
          <a:prstGeom prst="roundRect">
            <a:avLst>
              <a:gd name="adj" fmla="val 11428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Restriction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limits the statement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747933" y="5105400"/>
            <a:ext cx="5164667" cy="889000"/>
            <a:chOff x="6747933" y="5105400"/>
            <a:chExt cx="5164667" cy="889000"/>
          </a:xfrm>
        </p:grpSpPr>
        <p:sp>
          <p:nvSpPr>
            <p:cNvPr id="36" name="Oval 35"/>
            <p:cNvSpPr/>
            <p:nvPr/>
          </p:nvSpPr>
          <p:spPr>
            <a:xfrm>
              <a:off x="11582400" y="538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747933" y="5105400"/>
              <a:ext cx="4724400" cy="8890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‏قَرَأْت الرِّسَالَة كُلَّهَا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qaraʾtu r-risālata kullahā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 read the whole letter.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4174066" y="5105400"/>
            <a:ext cx="2489200" cy="889000"/>
          </a:xfrm>
          <a:prstGeom prst="roundRect">
            <a:avLst>
              <a:gd name="adj" fmla="val 11428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33618F"/>
                </a:solidFill>
                <a:latin typeface="Geeza Pro"/>
                <a:cs typeface="Geeza Pro"/>
              </a:rPr>
              <a:t>‏كُلَّهَا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5105400"/>
            <a:ext cx="2870200" cy="889000"/>
          </a:xfrm>
          <a:prstGeom prst="roundRect">
            <a:avLst>
              <a:gd name="adj" fmla="val 11428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Totality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nothing is left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2 of 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Stop 2 of 6 · slides 17–30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2000" y="1016000"/>
            <a:ext cx="7874000" cy="38100"/>
          </a:xfrm>
          <a:prstGeom prst="rect">
            <a:avLst/>
          </a:prstGeom>
          <a:solidFill>
            <a:srgbClr val="D9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363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88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What Emphasis Means</a:t>
            </a:r>
          </a:p>
        </p:txBody>
      </p:sp>
      <p:sp>
        <p:nvSpPr>
          <p:cNvPr id="14" name="Oval 13"/>
          <p:cNvSpPr/>
          <p:nvPr/>
        </p:nvSpPr>
        <p:spPr>
          <a:xfrm>
            <a:off x="9410700" y="844550"/>
            <a:ext cx="381000" cy="381000"/>
          </a:xfrm>
          <a:prstGeom prst="ellipse">
            <a:avLst/>
          </a:prstGeom>
          <a:solidFill>
            <a:srgbClr val="8E2453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38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1" i="0" dirty="0">
                <a:solidFill>
                  <a:srgbClr val="8E2453"/>
                </a:solidFill>
                <a:latin typeface="Chalkboard SE"/>
                <a:cs typeface="Geeza Pro"/>
              </a:rPr>
              <a:t>Inside a Sentence</a:t>
            </a:r>
          </a:p>
        </p:txBody>
      </p:sp>
      <p:sp>
        <p:nvSpPr>
          <p:cNvPr id="16" name="Oval 15"/>
          <p:cNvSpPr/>
          <p:nvPr/>
        </p:nvSpPr>
        <p:spPr>
          <a:xfrm>
            <a:off x="78867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Before &amp; Within a Verb</a:t>
            </a:r>
          </a:p>
        </p:txBody>
      </p:sp>
      <p:sp>
        <p:nvSpPr>
          <p:cNvPr id="18" name="Oval 17"/>
          <p:cNvSpPr/>
          <p:nvPr/>
        </p:nvSpPr>
        <p:spPr>
          <a:xfrm>
            <a:off x="63119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42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Restriction &amp; Completeness</a:t>
            </a:r>
          </a:p>
        </p:txBody>
      </p:sp>
      <p:sp>
        <p:nvSpPr>
          <p:cNvPr id="20" name="Oval 19"/>
          <p:cNvSpPr/>
          <p:nvPr/>
        </p:nvSpPr>
        <p:spPr>
          <a:xfrm>
            <a:off x="47371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94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Putting It Together</a:t>
            </a:r>
          </a:p>
        </p:txBody>
      </p:sp>
      <p:sp>
        <p:nvSpPr>
          <p:cNvPr id="22" name="Oval 21"/>
          <p:cNvSpPr/>
          <p:nvPr/>
        </p:nvSpPr>
        <p:spPr>
          <a:xfrm>
            <a:off x="31623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Clearing the Confusion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889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0800" y="1574800"/>
            <a:ext cx="6807200" cy="1320800"/>
          </a:xfrm>
          <a:prstGeom prst="roundRect">
            <a:avLst>
              <a:gd name="adj" fmla="val 11538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127000" tIns="50800" rIns="127000" bIns="254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800" b="1" i="0" dirty="0">
                <a:solidFill>
                  <a:srgbClr val="FFFFFF"/>
                </a:solidFill>
                <a:latin typeface="Chalkboard SE"/>
                <a:cs typeface="Geeza Pro"/>
              </a:rPr>
              <a:t>Emphasis Inside a Sentence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  <a:latin typeface="Chalkboard SE"/>
                <a:cs typeface="Geeza Pro"/>
              </a:rPr>
              <a:t>Strengthening a whole statement — and reporting one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FFFFFF"/>
                </a:solidFill>
                <a:latin typeface="Geeza Pro"/>
                <a:cs typeface="Geeza Pro"/>
              </a:rPr>
              <a:t>‏التَّوْكِيد فِي الْجُمْلَة الِاسْمِيَّة  </a:t>
            </a:r>
            <a:r>
              <a:rPr lang="en-GB" sz="1800" b="1" i="0" dirty="0">
                <a:solidFill>
                  <a:srgbClr val="FFFFFF"/>
                </a:solidFill>
                <a:latin typeface="Chalkboard SE"/>
                <a:cs typeface="Geeza Pro"/>
              </a:rPr>
              <a:t>· at-tawkīd fī l-jumla l-ismiyya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9200" y="1574800"/>
            <a:ext cx="3810000" cy="1320800"/>
          </a:xfrm>
          <a:prstGeom prst="roundRect">
            <a:avLst>
              <a:gd name="adj" fmla="val 11538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152400" tIns="50800" rIns="1524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THE FOCUS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‎Open a nominal sentence with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إِنّ‎,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apply its effect on the endings, and use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أَنّ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for a fact inside a larger sentence.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971800"/>
            <a:ext cx="10718800" cy="254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TOOLS IN THIS 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2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indeed, truly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‏إِنّ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6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that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‏أَنّ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anna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6666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1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‎Use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إِنّ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to open an emphatic nominal sentence and apply its case effect.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2933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2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‎Attach pronouns correctly: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إِنَّه، إِنَّهَا، إِنَّنِي.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19200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3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‎Choose between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إِنّ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and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أَنّ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by their position in the sentence.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1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inna) — Indeed, Truly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18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731000" y="889000"/>
            <a:ext cx="5207000" cy="3810000"/>
            <a:chOff x="6731000" y="889000"/>
            <a:chExt cx="52070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731000" y="889000"/>
              <a:ext cx="52070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731000" y="889000"/>
              <a:ext cx="52070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31000" y="1143000"/>
              <a:ext cx="52070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31000" y="889000"/>
              <a:ext cx="520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What It Is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56400" y="1295400"/>
              <a:ext cx="51562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Type: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a particle (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ḥarf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— one of the 'sisters of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'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Position: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at the start of a nominal sentence (a sentence that begins with a noun)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Meaning: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presents the whole statement as certain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Grammar: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the subject takes the accusative ending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-a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; the predicate keeps its nominative ending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Register: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FORMAL and written Arabic; set phrases in speech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1219200" y="889000"/>
            <a:ext cx="53340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الْعِلْم نُور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l-ʿilma nūrun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Knowledge is truly light.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2209800"/>
            <a:ext cx="53340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اللُّغَة الْعَرَبِيَّة جَمِيلَة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l-lughata l-ʿarabiyyata jamīlatun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Arabic language is truly beautiful.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19200" y="3530600"/>
            <a:ext cx="53340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الِاجْتِمَاع مُهِمّ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l-ijtimāʿa muhimmun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meeting is indeed important.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219200" y="4902200"/>
            <a:ext cx="10718800" cy="1168400"/>
            <a:chOff x="1219200" y="4902200"/>
            <a:chExt cx="10718800" cy="1168400"/>
          </a:xfrm>
        </p:grpSpPr>
        <p:sp>
          <p:nvSpPr>
            <p:cNvPr id="22" name="Rounded Rectangle 21"/>
            <p:cNvSpPr/>
            <p:nvPr/>
          </p:nvSpPr>
          <p:spPr>
            <a:xfrm>
              <a:off x="1219200" y="4902200"/>
              <a:ext cx="10718800" cy="1168400"/>
            </a:xfrm>
            <a:prstGeom prst="roundRect">
              <a:avLst>
                <a:gd name="adj" fmla="val 869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70000" y="4927600"/>
              <a:ext cx="10617200" cy="1117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LOOK-ALIKE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‎Do not confuse it with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'if'), as in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 شَاء اللَّه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 shāʾa llāhu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'if God wills'). Tool 1 is always 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with a doubled n.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Nominal Sentence Refresher: Subject + Predicate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19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‎A nominal sentence = a subject (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مُبْتَدَأ) + </a:t>
              </a: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 predicate (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خَبَر).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219200" y="1422400"/>
            <a:ext cx="9956800" cy="1092200"/>
            <a:chOff x="1219200" y="1422400"/>
            <a:chExt cx="9956800" cy="1092200"/>
          </a:xfrm>
        </p:grpSpPr>
        <p:sp>
          <p:nvSpPr>
            <p:cNvPr id="17" name="Rounded Rectangle 16"/>
            <p:cNvSpPr/>
            <p:nvPr/>
          </p:nvSpPr>
          <p:spPr>
            <a:xfrm>
              <a:off x="7874000" y="1422400"/>
              <a:ext cx="3302000" cy="1092200"/>
            </a:xfrm>
            <a:prstGeom prst="roundRect">
              <a:avLst>
                <a:gd name="adj" fmla="val 11627"/>
              </a:avLst>
            </a:prstGeom>
            <a:solidFill>
              <a:srgbClr val="FFFFFF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4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‏الْبَيْت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al-bayt</a:t>
              </a: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u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subject (nominative)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191000" y="1422400"/>
              <a:ext cx="3302000" cy="1092200"/>
            </a:xfrm>
            <a:prstGeom prst="roundRect">
              <a:avLst>
                <a:gd name="adj" fmla="val 11627"/>
              </a:avLst>
            </a:prstGeom>
            <a:solidFill>
              <a:srgbClr val="FFFFFF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4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‏كَبِير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kabīr</a:t>
              </a: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predicate (nominative)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219200" y="1422400"/>
              <a:ext cx="2794000" cy="1092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house is big.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1219200" y="2667000"/>
            <a:ext cx="107188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1" i="0" dirty="0">
                <a:solidFill>
                  <a:srgbClr val="33618F"/>
                </a:solidFill>
                <a:latin typeface="Chalkboard SE"/>
                <a:cs typeface="Geeza Pro"/>
              </a:rPr>
              <a:t>‎Add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إِنّ </a:t>
            </a:r>
            <a:r>
              <a:rPr lang="en-GB" sz="1500" b="1" i="0" dirty="0">
                <a:solidFill>
                  <a:srgbClr val="33618F"/>
                </a:solidFill>
                <a:latin typeface="Chalkboard SE"/>
                <a:cs typeface="Geeza Pro"/>
              </a:rPr>
              <a:t>at the start ↓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219200" y="3200400"/>
            <a:ext cx="10718800" cy="1219200"/>
            <a:chOff x="1219200" y="3200400"/>
            <a:chExt cx="10718800" cy="1219200"/>
          </a:xfrm>
        </p:grpSpPr>
        <p:sp>
          <p:nvSpPr>
            <p:cNvPr id="22" name="Rounded Rectangle 21"/>
            <p:cNvSpPr/>
            <p:nvPr/>
          </p:nvSpPr>
          <p:spPr>
            <a:xfrm>
              <a:off x="10414000" y="3200400"/>
              <a:ext cx="1524000" cy="1219200"/>
            </a:xfrm>
            <a:prstGeom prst="roundRect">
              <a:avLst>
                <a:gd name="adj" fmla="val 10416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6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858000" y="3200400"/>
              <a:ext cx="3302000" cy="1219200"/>
            </a:xfrm>
            <a:prstGeom prst="roundRect">
              <a:avLst>
                <a:gd name="adj" fmla="val 10416"/>
              </a:avLst>
            </a:prstGeom>
            <a:solidFill>
              <a:srgbClr val="FFFFFF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4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‏الْبَيْت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al-bayt</a:t>
              </a:r>
              <a:r>
                <a:rPr lang="en-GB" sz="12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a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'subject of inna' (accusative)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429000" y="3200400"/>
              <a:ext cx="3302000" cy="1219200"/>
            </a:xfrm>
            <a:prstGeom prst="roundRect">
              <a:avLst>
                <a:gd name="adj" fmla="val 10416"/>
              </a:avLst>
            </a:prstGeom>
            <a:solidFill>
              <a:srgbClr val="FFFFFF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4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‏كَبِير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kabīr</a:t>
              </a: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· 'predicate of inna' (nominative)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219200" y="3200400"/>
              <a:ext cx="2108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house is indeed big.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219200" y="4673600"/>
            <a:ext cx="10718800" cy="1397000"/>
            <a:chOff x="1219200" y="4673600"/>
            <a:chExt cx="10718800" cy="1397000"/>
          </a:xfrm>
        </p:grpSpPr>
        <p:sp>
          <p:nvSpPr>
            <p:cNvPr id="27" name="Rounded Rectangle 26"/>
            <p:cNvSpPr/>
            <p:nvPr/>
          </p:nvSpPr>
          <p:spPr>
            <a:xfrm>
              <a:off x="1219200" y="4673600"/>
              <a:ext cx="10718800" cy="1397000"/>
            </a:xfrm>
            <a:prstGeom prst="roundRect">
              <a:avLst>
                <a:gd name="adj" fmla="val 7272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70000" y="4699000"/>
              <a:ext cx="10617200" cy="1346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THE RULE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‎Only the subject changes: </a:t>
              </a:r>
              <a:r>
                <a:rPr lang="en-GB" sz="15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-u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becomes </a:t>
              </a:r>
              <a:r>
                <a:rPr lang="en-GB" sz="15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-a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. The predicate keeps </a:t>
              </a:r>
              <a:r>
                <a:rPr lang="en-GB" sz="15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-un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. Arabic grammar names them 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اِسْم إِنّ (</a:t>
              </a:r>
              <a:r>
                <a:rPr lang="en-GB" sz="15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ism inna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and 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خَبَر إِنّ (</a:t>
              </a:r>
              <a:r>
                <a:rPr lang="en-GB" sz="15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khabar inna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‎What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Does to the Case Endings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3000" y="838200"/>
            <a:ext cx="317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‎Without </a:t>
            </a:r>
            <a:r>
              <a:rPr lang="ar-SA" altLang="en-GB" sz="1500" b="1" i="0" dirty="0">
                <a:solidFill>
                  <a:srgbClr val="FFFFFF"/>
                </a:solidFill>
                <a:latin typeface="Geeza Pro"/>
                <a:cs typeface="Geeza Pro"/>
              </a:rPr>
              <a:t>إِنّ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0" y="838200"/>
            <a:ext cx="3683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‎With </a:t>
            </a:r>
            <a:r>
              <a:rPr lang="ar-SA" altLang="en-GB" sz="1500" b="1" i="0" dirty="0">
                <a:solidFill>
                  <a:srgbClr val="FFFFFF"/>
                </a:solidFill>
                <a:latin typeface="Geeza Pro"/>
                <a:cs typeface="Geeza Pro"/>
              </a:rPr>
              <a:t>إِنّ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4000" y="838200"/>
            <a:ext cx="2286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Subject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838200"/>
            <a:ext cx="1574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Predicate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63000" y="1193800"/>
            <a:ext cx="3175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‏الْبَيْت كَبِير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al-baytu kabīrun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0" y="1193800"/>
            <a:ext cx="3683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 الْبَيْت كَبِير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l-bayta kabīrun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4000" y="1193800"/>
            <a:ext cx="2286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-u becomes </a:t>
            </a:r>
            <a:r>
              <a:rPr lang="en-GB" sz="1150" b="1" i="0" dirty="0">
                <a:solidFill>
                  <a:srgbClr val="33618F"/>
                </a:solidFill>
                <a:latin typeface="Chalkboard SE"/>
                <a:cs typeface="Geeza Pro"/>
              </a:rPr>
              <a:t>-a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(seen in transliteration)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193800"/>
            <a:ext cx="15748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-un stays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63000" y="2260600"/>
            <a:ext cx="3175000" cy="1066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‏الْمُهَنْدِسُون مَشْغُولُون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al-muhandisūna mashghūlūna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0" y="2260600"/>
            <a:ext cx="3683000" cy="1066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 الْمُهَنْدِسِ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ي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ن مَشْغُولُون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l-muhandisīna mashghūlūna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94000" y="2260600"/>
            <a:ext cx="2286000" cy="1066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-ūna becomes </a:t>
            </a:r>
            <a:r>
              <a:rPr lang="en-GB" sz="1150" b="1" i="0" dirty="0">
                <a:solidFill>
                  <a:srgbClr val="33618F"/>
                </a:solidFill>
                <a:latin typeface="Chalkboard SE"/>
                <a:cs typeface="Geeza Pro"/>
              </a:rPr>
              <a:t>-īna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(visible in the letters)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260600"/>
            <a:ext cx="1574800" cy="1066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-ūna stays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63000" y="3327400"/>
            <a:ext cx="3175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‏الْمُدِيرَان مُسَافِرَان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al-mudīrāni musāfirāni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0" y="3327400"/>
            <a:ext cx="3683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 الْمُدِيرَ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يْ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ن مُسَافِرَان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l-mudīrayni musāfirāni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94000" y="3327400"/>
            <a:ext cx="2286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-āni becomes </a:t>
            </a:r>
            <a:r>
              <a:rPr lang="en-GB" sz="1150" b="1" i="0" dirty="0">
                <a:solidFill>
                  <a:srgbClr val="33618F"/>
                </a:solidFill>
                <a:latin typeface="Chalkboard SE"/>
                <a:cs typeface="Geeza Pro"/>
              </a:rPr>
              <a:t>-ayni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(visible in the letters)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3327400"/>
            <a:ext cx="15748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-āni stays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19200" y="4419600"/>
            <a:ext cx="10718800" cy="304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5F5F5F"/>
                </a:solidFill>
                <a:latin typeface="Chalkboard SE"/>
                <a:cs typeface="Geeza Pro"/>
              </a:rPr>
              <a:t>Translations: The house is big. · The engineers are busy. · The two managers are travelling.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219200" y="4800600"/>
            <a:ext cx="10718800" cy="1219200"/>
            <a:chOff x="1219200" y="4800600"/>
            <a:chExt cx="10718800" cy="1219200"/>
          </a:xfrm>
        </p:grpSpPr>
        <p:sp>
          <p:nvSpPr>
            <p:cNvPr id="30" name="Rounded Rectangle 29"/>
            <p:cNvSpPr/>
            <p:nvPr/>
          </p:nvSpPr>
          <p:spPr>
            <a:xfrm>
              <a:off x="1219200" y="4800600"/>
              <a:ext cx="10718800" cy="1219200"/>
            </a:xfrm>
            <a:prstGeom prst="roundRect">
              <a:avLst>
                <a:gd name="adj" fmla="val 833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70000" y="4826000"/>
              <a:ext cx="10617200" cy="1168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SPOT THE CHANGE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‎Because this course writes no vowel on the final letter, check the transliteration for 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-a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. With sound masculine plurals and duals, the spelling itself changes: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ـُون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becomes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ـِين‎,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and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ـَان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becomes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ـَيْن.</a:t>
              </a:r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1219200" y="61595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47800" y="60960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‎blue = the ending changed by </a:t>
            </a:r>
            <a:r>
              <a:rPr lang="ar-SA" altLang="en-GB" sz="1350" b="0" i="0" dirty="0">
                <a:solidFill>
                  <a:srgbClr val="5F5F5F"/>
                </a:solidFill>
                <a:latin typeface="Geeza Pro"/>
                <a:cs typeface="Geeza Pro"/>
              </a:rPr>
              <a:t>إِنّ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‎Attaching Pronouns to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68000" y="838200"/>
            <a:ext cx="1270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Pronoun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63000" y="838200"/>
            <a:ext cx="190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2000" y="838200"/>
            <a:ext cx="1651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Sound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838200"/>
            <a:ext cx="5892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0" y="1193800"/>
            <a:ext cx="1270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63000" y="1193800"/>
            <a:ext cx="1905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‏إِنَّنِي · إِنِّي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2000" y="1193800"/>
            <a:ext cx="165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innanī · innī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193800"/>
            <a:ext cx="5892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‏إِنَّنِي سَعِيد بِلِقَائِك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innanī saʿīdun bi-liqāʾika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  —  I'm truly happy to meet you.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1905000"/>
            <a:ext cx="1270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you (m.)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63000" y="1905000"/>
            <a:ext cx="1905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2000" y="1905000"/>
            <a:ext cx="1651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1905000"/>
            <a:ext cx="5892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‏إِنَّك عَلَى حَقّ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innaka ʿalā ḥaqqin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  —  You're right.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2616200"/>
            <a:ext cx="1270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he /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63000" y="2616200"/>
            <a:ext cx="1905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2000" y="2616200"/>
            <a:ext cx="165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innahu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616200"/>
            <a:ext cx="5892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‏إِنَّه طَالِب مُجْتَهِد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innahu ṭālibun mujtahidun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  —  He's a truly hard-working student.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327400"/>
            <a:ext cx="1270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she / 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63000" y="3327400"/>
            <a:ext cx="1905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‏إِنَّهَا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2000" y="3327400"/>
            <a:ext cx="1651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innahā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3327400"/>
            <a:ext cx="5892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‏إِنَّهَا مُعَلِّمَة مُمْتَازَة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innahā muʿallimatun mumtāzatun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  —  She's truly an excellent teacher.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0" y="4038600"/>
            <a:ext cx="1270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we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63000" y="4038600"/>
            <a:ext cx="1905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‏إِنَّنَا · إِنَّا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12000" y="4038600"/>
            <a:ext cx="165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innanā · innā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9200" y="4038600"/>
            <a:ext cx="5892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‏إِنَّنَا جَاهِزُون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innanā jāhizūna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  —  We're ready.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749800"/>
            <a:ext cx="1270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they (m.)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63000" y="4749800"/>
            <a:ext cx="1905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‏إِنَّهُم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2000" y="4749800"/>
            <a:ext cx="1651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innahum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19200" y="4749800"/>
            <a:ext cx="5892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‏إِنَّهُم فِي الطَّرِيق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innahum fī ṭ-ṭarīqi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They're on their way.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219200" y="5562600"/>
            <a:ext cx="10718800" cy="711200"/>
            <a:chOff x="1219200" y="5562600"/>
            <a:chExt cx="10718800" cy="711200"/>
          </a:xfrm>
        </p:grpSpPr>
        <p:sp>
          <p:nvSpPr>
            <p:cNvPr id="41" name="Rounded Rectangle 40"/>
            <p:cNvSpPr/>
            <p:nvPr/>
          </p:nvSpPr>
          <p:spPr>
            <a:xfrm>
              <a:off x="1219200" y="5562600"/>
              <a:ext cx="10718800" cy="711200"/>
            </a:xfrm>
            <a:prstGeom prst="roundRect">
              <a:avLst>
                <a:gd name="adj" fmla="val 1428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270000" y="5588000"/>
              <a:ext cx="106172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RULE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‎After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pronoun must be attached: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إِنَّه مَشْغُول ✓ — 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never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هُو مَشْغُول ✗. '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You (f.)' is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إِنَّك 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too: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innaki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‎Common Patterns with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22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54800" y="838200"/>
            <a:ext cx="5283200" cy="2489200"/>
            <a:chOff x="6654800" y="838200"/>
            <a:chExt cx="5283200" cy="2489200"/>
          </a:xfrm>
        </p:grpSpPr>
        <p:sp>
          <p:nvSpPr>
            <p:cNvPr id="13" name="Rounded Rectangle 12"/>
            <p:cNvSpPr/>
            <p:nvPr/>
          </p:nvSpPr>
          <p:spPr>
            <a:xfrm>
              <a:off x="6654800" y="838200"/>
              <a:ext cx="52832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548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54800" y="1092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548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‎Pattern 1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إِنّ + </a:t>
              </a: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Noun + Description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80200" y="1244600"/>
              <a:ext cx="52324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الْوَقْت ثَمِين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l-waqta thamīnun</a:t>
              </a:r>
            </a:p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Time is precious.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The most common pattern.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838200"/>
            <a:ext cx="5283200" cy="2489200"/>
            <a:chOff x="1219200" y="838200"/>
            <a:chExt cx="5283200" cy="2489200"/>
          </a:xfrm>
        </p:grpSpPr>
        <p:sp>
          <p:nvSpPr>
            <p:cNvPr id="19" name="Rounded Rectangle 18"/>
            <p:cNvSpPr/>
            <p:nvPr/>
          </p:nvSpPr>
          <p:spPr>
            <a:xfrm>
              <a:off x="1219200" y="838200"/>
              <a:ext cx="52832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1092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192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‎Pattern 2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إِنّ + </a:t>
              </a: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Pronoun + Verb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44600" y="1244600"/>
              <a:ext cx="52324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‏إِنَّه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يَعْمَل كَثِيرًا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innahu yaʿmalu kathīran</a:t>
              </a:r>
            </a:p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He really works a lot.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The predicate can be a whole verbal sentence.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654800" y="3479800"/>
            <a:ext cx="5283200" cy="2489200"/>
            <a:chOff x="6654800" y="3479800"/>
            <a:chExt cx="5283200" cy="2489200"/>
          </a:xfrm>
        </p:grpSpPr>
        <p:sp>
          <p:nvSpPr>
            <p:cNvPr id="25" name="Rounded Rectangle 24"/>
            <p:cNvSpPr/>
            <p:nvPr/>
          </p:nvSpPr>
          <p:spPr>
            <a:xfrm>
              <a:off x="6654800" y="3479800"/>
              <a:ext cx="52832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654800" y="34798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54800" y="37338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654800" y="34798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‎Pattern 3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إِنّ + </a:t>
              </a: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Place Phrase + Noun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80200" y="3886200"/>
              <a:ext cx="52324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فِي الْمَكْتَب ضُيُوفًا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fī l-maktabi ḍuyūfan</a:t>
              </a:r>
            </a:p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There are guests in the office.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The subject comes late but is still accusative: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ḍuyūf</a:t>
              </a:r>
              <a:r>
                <a:rPr lang="en-GB" sz="12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an</a:t>
              </a: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19200" y="3479800"/>
            <a:ext cx="5283200" cy="2489200"/>
            <a:chOff x="1219200" y="3479800"/>
            <a:chExt cx="5283200" cy="2489200"/>
          </a:xfrm>
        </p:grpSpPr>
        <p:sp>
          <p:nvSpPr>
            <p:cNvPr id="31" name="Rounded Rectangle 30"/>
            <p:cNvSpPr/>
            <p:nvPr/>
          </p:nvSpPr>
          <p:spPr>
            <a:xfrm>
              <a:off x="1219200" y="3479800"/>
              <a:ext cx="5283200" cy="2489200"/>
            </a:xfrm>
            <a:prstGeom prst="roundRect">
              <a:avLst>
                <a:gd name="adj" fmla="val 5102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219200" y="34798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19200" y="37338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219200" y="34798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‎Pattern 4 · Reported Speech: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قَال + إِنّ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44600" y="3886200"/>
              <a:ext cx="52324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‏قَال الطَّبِيب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الْحَالَة مُسْتَقِرَّة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qāla ṭ-ṭabību inna l-ḥālata mustaqirratun</a:t>
              </a:r>
            </a:p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doctor said that the condition is stable.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‎After </a:t>
              </a:r>
              <a:r>
                <a:rPr lang="ar-SA" altLang="en-GB" sz="150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قَال '</a:t>
              </a: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said', standard grammar uses </a:t>
              </a:r>
              <a:r>
                <a:rPr lang="ar-SA" altLang="en-GB" sz="150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إِنّ.</a:t>
              </a:r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219200" y="61595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47800" y="60960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‎blue = </a:t>
            </a:r>
            <a:r>
              <a:rPr lang="ar-SA" altLang="en-GB" sz="1350" b="0" i="0" dirty="0">
                <a:solidFill>
                  <a:srgbClr val="5F5F5F"/>
                </a:solidFill>
                <a:latin typeface="Geeza Pro"/>
                <a:cs typeface="Geeza Pro"/>
              </a:rPr>
              <a:t>إِنّ </a:t>
            </a: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and the ending it causes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2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أَنّ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anna) — That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23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731000" y="889000"/>
            <a:ext cx="5207000" cy="3810000"/>
            <a:chOff x="6731000" y="889000"/>
            <a:chExt cx="52070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731000" y="889000"/>
              <a:ext cx="52070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731000" y="889000"/>
              <a:ext cx="52070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31000" y="1143000"/>
              <a:ext cx="52070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31000" y="889000"/>
              <a:ext cx="520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What It Is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56400" y="1295400"/>
              <a:ext cx="51562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Type: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a particle — also a 'sister of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'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Position: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never first; it opens a clause inside a larger sentence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Meaning: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usually 'that'. Its emphasis is light; English simply says 'that'.</a:t>
              </a:r>
            </a:p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‎Grammar: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same effect as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— 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subject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-a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predicate nominative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‎Relationship: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same family as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إِنّ‎, 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but the position decides which one you use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1219200" y="889000"/>
            <a:ext cx="53340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‏عَرَفْت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أَنّ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الْمَتْحَف مُغْلَق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ʿaraftu anna l-matḥafa mughlaqun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 found out that the museum is closed.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2209800"/>
            <a:ext cx="53340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‏أَظُنّ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أَنّ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الْقِطَار مُتَأَخِّر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aẓunnu anna l-qiṭāra mutaʾakhkhirun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 think (that) the train is 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19200" y="3530600"/>
            <a:ext cx="53340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‏يَسُرُّنِي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أَنَّكُم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هُنَا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yasurrunī annakum hunā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I'm pleased that you are here.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219200" y="4902200"/>
            <a:ext cx="10718800" cy="1168400"/>
            <a:chOff x="1219200" y="4902200"/>
            <a:chExt cx="10718800" cy="1168400"/>
          </a:xfrm>
        </p:grpSpPr>
        <p:sp>
          <p:nvSpPr>
            <p:cNvPr id="22" name="Rounded Rectangle 21"/>
            <p:cNvSpPr/>
            <p:nvPr/>
          </p:nvSpPr>
          <p:spPr>
            <a:xfrm>
              <a:off x="1219200" y="4902200"/>
              <a:ext cx="10718800" cy="1168400"/>
            </a:xfrm>
            <a:prstGeom prst="roundRect">
              <a:avLst>
                <a:gd name="adj" fmla="val 869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70000" y="4927600"/>
              <a:ext cx="10617200" cy="1117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LOOK-ALIKE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‎Before a verb, 'to / that' is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أَن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an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— a different particle: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أُرِيد أَن أُسَافِر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urīdu an usāfira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'I want to travel').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‎Where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أَنّ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Appears Inside a Larger Sentence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24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863600"/>
            <a:ext cx="10718800" cy="1676400"/>
            <a:chOff x="1219200" y="863600"/>
            <a:chExt cx="10718800" cy="1676400"/>
          </a:xfrm>
        </p:grpSpPr>
        <p:sp>
          <p:nvSpPr>
            <p:cNvPr id="13" name="Rounded Rectangle 12"/>
            <p:cNvSpPr/>
            <p:nvPr/>
          </p:nvSpPr>
          <p:spPr>
            <a:xfrm>
              <a:off x="7747000" y="863600"/>
              <a:ext cx="4191000" cy="1676400"/>
            </a:xfrm>
            <a:prstGeom prst="roundRect">
              <a:avLst>
                <a:gd name="adj" fmla="val 7575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After Verbs of Knowing, Thinking, Hearing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‏عَرَف · عَلِم · ظَنّ · سَمِع · لَاحَظ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ʿarafa · ʿalima · ẓanna · samiʿa · lāḥaẓa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219200" y="863600"/>
              <a:ext cx="6375400" cy="1676400"/>
            </a:xfrm>
            <a:prstGeom prst="roundRect">
              <a:avLst>
                <a:gd name="adj" fmla="val 606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127000" tIns="76200" rIns="1270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‏سَمِعْت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أَنّ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الطَّقْس سَيَكُون حَارًّا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samiʿtu anna ṭ-ṭaqsa sa-yakūnu ḥārran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 heard that the weather will be hot.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219200" y="2667000"/>
            <a:ext cx="10718800" cy="1676400"/>
            <a:chOff x="1219200" y="2667000"/>
            <a:chExt cx="10718800" cy="1676400"/>
          </a:xfrm>
        </p:grpSpPr>
        <p:sp>
          <p:nvSpPr>
            <p:cNvPr id="16" name="Rounded Rectangle 15"/>
            <p:cNvSpPr/>
            <p:nvPr/>
          </p:nvSpPr>
          <p:spPr>
            <a:xfrm>
              <a:off x="7747000" y="2667000"/>
              <a:ext cx="4191000" cy="1676400"/>
            </a:xfrm>
            <a:prstGeom prst="roundRect">
              <a:avLst>
                <a:gd name="adj" fmla="val 7575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After Prepositions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‏لِأَنّ · بِمَا أَنّ · رَغْم أَنّ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li-anna · bi-mā anna · raghma anna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219200" y="2667000"/>
              <a:ext cx="6375400" cy="1676400"/>
            </a:xfrm>
            <a:prstGeom prst="roundRect">
              <a:avLst>
                <a:gd name="adj" fmla="val 606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127000" tIns="76200" rIns="1270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‏لَم أَحْضُر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لِأَنَّنِي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كُنْت مَرِيضًا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lam aḥḍur li-annanī kuntu marīḍan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 didn't attend because I was ill.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4470400"/>
            <a:ext cx="10718800" cy="1676400"/>
            <a:chOff x="1219200" y="4470400"/>
            <a:chExt cx="10718800" cy="1676400"/>
          </a:xfrm>
        </p:grpSpPr>
        <p:sp>
          <p:nvSpPr>
            <p:cNvPr id="19" name="Rounded Rectangle 18"/>
            <p:cNvSpPr/>
            <p:nvPr/>
          </p:nvSpPr>
          <p:spPr>
            <a:xfrm>
              <a:off x="7747000" y="4470400"/>
              <a:ext cx="4191000" cy="1676400"/>
            </a:xfrm>
            <a:prstGeom prst="roundRect">
              <a:avLst>
                <a:gd name="adj" fmla="val 7575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After Set Phrases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‏مِن الْوَاضِح أَنّ · مِن الْمُهِمّ أَنّ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mina l-wāḍiḥi anna · mina l-muhimmi anna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4470400"/>
              <a:ext cx="6375400" cy="1676400"/>
            </a:xfrm>
            <a:prstGeom prst="roundRect">
              <a:avLst>
                <a:gd name="adj" fmla="val 606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127000" tIns="76200" rIns="1270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‏مِن الْوَاضِح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أَنّ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الْخُطَّة نَاجِحَة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mina l-wāḍiḥi anna l-khuṭṭata nājiḥatun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It is clear that the plan is working.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1219200" y="6184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7800" y="6121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‎blue = </a:t>
            </a:r>
            <a:r>
              <a:rPr lang="ar-SA" altLang="en-GB" sz="1350" b="0" i="0" dirty="0">
                <a:solidFill>
                  <a:srgbClr val="5F5F5F"/>
                </a:solidFill>
                <a:latin typeface="Geeza Pro"/>
                <a:cs typeface="Geeza Pro"/>
              </a:rPr>
              <a:t>أَنّ (</a:t>
            </a: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with any attached pronoun)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‎Choosing Between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and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أَنّ‎: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Position Decides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25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They are not interchangeable. Look at what comes BEFORE the particle.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54800" y="1346200"/>
            <a:ext cx="5283200" cy="3327400"/>
            <a:chOff x="6654800" y="1346200"/>
            <a:chExt cx="5283200" cy="3327400"/>
          </a:xfrm>
        </p:grpSpPr>
        <p:sp>
          <p:nvSpPr>
            <p:cNvPr id="17" name="Rounded Rectangle 16"/>
            <p:cNvSpPr/>
            <p:nvPr/>
          </p:nvSpPr>
          <p:spPr>
            <a:xfrm>
              <a:off x="6654800" y="1346200"/>
              <a:ext cx="5283200" cy="3327400"/>
            </a:xfrm>
            <a:prstGeom prst="roundRect">
              <a:avLst>
                <a:gd name="adj" fmla="val 381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654800" y="1346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54800" y="1600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54800" y="1346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‎Use inna · </a:t>
              </a:r>
              <a:r>
                <a:rPr lang="ar-SA" altLang="en-GB" sz="19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إِنّ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80200" y="1752600"/>
              <a:ext cx="52324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• at the very start of a sentence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الصَّبْر جَمِيل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ṣ-ṣabra jamīlun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Patience is beautiful.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‎• after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قَال '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he said' (and its forms)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‏قَالَت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الطَّعَام جَاهِز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qālat inna ṭ-ṭaʿāma jāhizun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She said (that) the food is ready.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19200" y="1346200"/>
            <a:ext cx="5283200" cy="3327400"/>
            <a:chOff x="1219200" y="1346200"/>
            <a:chExt cx="5283200" cy="3327400"/>
          </a:xfrm>
        </p:grpSpPr>
        <p:sp>
          <p:nvSpPr>
            <p:cNvPr id="23" name="Rounded Rectangle 22"/>
            <p:cNvSpPr/>
            <p:nvPr/>
          </p:nvSpPr>
          <p:spPr>
            <a:xfrm>
              <a:off x="1219200" y="1346200"/>
              <a:ext cx="5283200" cy="3327400"/>
            </a:xfrm>
            <a:prstGeom prst="roundRect">
              <a:avLst>
                <a:gd name="adj" fmla="val 3816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19200" y="1346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219200" y="1600200"/>
              <a:ext cx="52832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19200" y="1346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‎Use anna · </a:t>
              </a:r>
              <a:r>
                <a:rPr lang="ar-SA" altLang="en-GB" sz="19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أَنّ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44600" y="1752600"/>
              <a:ext cx="52324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• after verbs of knowing, thinking, hearing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‏أَعْرِف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أَنّ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الطَّعَام جَاهِز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aʿrifu anna ṭ-ṭaʿāma jāhizun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I know (that) the food is ready.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• after a preposition or set phrase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‏لِأَنّ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الطَّعَام جَاهِز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li-anna ṭ-ṭaʿāma jāhizun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because the food is ready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19200" y="4826000"/>
            <a:ext cx="10718800" cy="1219200"/>
            <a:chOff x="1219200" y="4826000"/>
            <a:chExt cx="10718800" cy="1219200"/>
          </a:xfrm>
        </p:grpSpPr>
        <p:sp>
          <p:nvSpPr>
            <p:cNvPr id="29" name="Rounded Rectangle 28"/>
            <p:cNvSpPr/>
            <p:nvPr/>
          </p:nvSpPr>
          <p:spPr>
            <a:xfrm>
              <a:off x="1219200" y="4826000"/>
              <a:ext cx="10718800" cy="1219200"/>
            </a:xfrm>
            <a:prstGeom prst="roundRect">
              <a:avLst>
                <a:gd name="adj" fmla="val 833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70000" y="4851400"/>
              <a:ext cx="10617200" cy="1168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FORMAL vs. MODERN USAGE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‎Modern newspapers sometimes write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قَال أَنّ‎;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standard grammar and exams expect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قَال إِنّ.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Learn the standard form.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Formal and Everyday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26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54800" y="889000"/>
            <a:ext cx="5283200" cy="3810000"/>
            <a:chOff x="6654800" y="889000"/>
            <a:chExt cx="52832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654800" y="8890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54800" y="8890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54800" y="11430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54800" y="8890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FORMAL: Writing, News, Speeches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80200" y="12954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‎In formal Arabic,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often opens a statement.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هَذَا الْقَرَار خُطْوَة مُهِمَّة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hādhā l-qarāra khuṭwatun muhimmatun</a:t>
              </a:r>
            </a:p>
            <a:p>
              <a:pPr algn="r" rtl="0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This decision is an important step.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الْحَمْد لِلَّه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l-ḥamda li-llāhi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Praise be to God. (a fixed opening in speeches)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889000"/>
            <a:ext cx="5283200" cy="3810000"/>
            <a:chOff x="1219200" y="889000"/>
            <a:chExt cx="5283200" cy="3810000"/>
          </a:xfrm>
        </p:grpSpPr>
        <p:sp>
          <p:nvSpPr>
            <p:cNvPr id="19" name="Rounded Rectangle 18"/>
            <p:cNvSpPr/>
            <p:nvPr/>
          </p:nvSpPr>
          <p:spPr>
            <a:xfrm>
              <a:off x="1219200" y="8890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8890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1143000"/>
              <a:ext cx="52832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19200" y="8890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EVERYDAY: Conversation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44600" y="12954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‎Starting a spoken sentence with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is rare. Speakers use stress or words such as: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‏أَكِيد</a:t>
              </a:r>
            </a:p>
            <a:p>
              <a:pPr algn="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akīd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for sure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‏وَاللَّه</a:t>
              </a:r>
            </a:p>
            <a:p>
              <a:pPr algn="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wallāhi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honestly (literally 'by God')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‎In many dialects a form of </a:t>
              </a:r>
              <a:r>
                <a:rPr lang="ar-SA" altLang="en-GB" sz="150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إِنّ </a:t>
              </a: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simply means 'that': Egyptian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</a:t>
              </a: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, Levantine </a:t>
              </a: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innu</a:t>
              </a: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4876800"/>
            <a:ext cx="10718800" cy="1168400"/>
            <a:chOff x="1219200" y="4876800"/>
            <a:chExt cx="10718800" cy="11684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4876800"/>
              <a:ext cx="10718800" cy="1168400"/>
            </a:xfrm>
            <a:prstGeom prst="roundRect">
              <a:avLst>
                <a:gd name="adj" fmla="val 869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70000" y="4902200"/>
              <a:ext cx="10617200" cy="1117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EVERYDAY LOOK-ALIKE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phrase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 شَاء اللَّه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 shāʾa llāhu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'God willing') uses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 '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if', not Tool 1. Similar letters, different word.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‎Common Learner Errors with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and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أَنّ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5800" y="8382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 الْجَوّ جَمِيلًا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7848600" y="11938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89400" y="8382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 الْجَوّ جَمِيل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l-jawwa jamīlun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8382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The predicate stays nominative: </a:t>
            </a: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jamīlun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, not </a:t>
            </a: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jamīlan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5800" y="19050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 هُو مَشْغُول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848600" y="22606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89400" y="19050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‏إِنَّه مَشْغُول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innahu mashghūlun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9050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‎Attach the pronoun to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إِنّ.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5800" y="29718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‏عَرَفْت إِنّ الدَّرْس سَهْل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7848600" y="33274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89400" y="29718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‏عَرَفْت أَنّ الدَّرْس سَهْل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ʿaraftu anna d-darsa sahlun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9718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‎After a verb of knowing: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أَنّ.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5800" y="40386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‏أُرِيد أَنّ أُسَافِر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7848600" y="43942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89400" y="40386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‏أُرِيد أَن أُسَافِر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urīdu an usāfira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40386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‎Before a verb: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أَن (</a:t>
            </a: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an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), not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أَنّ.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5800" y="51054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 الْمُعَلِّمُون مُتَعَاوِنُون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7848600" y="54610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89400" y="51054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 الْمُعَلِّمِين مُتَعَاوِنُون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l-muʿallimīna mutaʿāwinūna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51054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‎Plural subject: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ـُون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becomes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ـِين.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Dialogue: At the Office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787400"/>
            <a:ext cx="10718800" cy="30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5F5F5F"/>
                </a:solidFill>
                <a:latin typeface="Chalkboard SE"/>
                <a:cs typeface="Geeza Pro"/>
              </a:rPr>
              <a:t>EVERYDAY · Sāra and ʿUmar talk about a client. Spot the blue tools.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49600" y="1168400"/>
            <a:ext cx="8788400" cy="1143000"/>
            <a:chOff x="3149600" y="1168400"/>
            <a:chExt cx="8788400" cy="1143000"/>
          </a:xfrm>
        </p:grpSpPr>
        <p:sp>
          <p:nvSpPr>
            <p:cNvPr id="14" name="Rounded Rectangle 13"/>
            <p:cNvSpPr/>
            <p:nvPr/>
          </p:nvSpPr>
          <p:spPr>
            <a:xfrm>
              <a:off x="4318000" y="1168400"/>
              <a:ext cx="7620000" cy="1143000"/>
            </a:xfrm>
            <a:prstGeom prst="roundRect">
              <a:avLst>
                <a:gd name="adj" fmla="val 15555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‏هَل صَحِيح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أَنّ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الْعَمِيل غَاضِب؟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hal ṣaḥīḥun anna l-ʿamīla ghāḍibun?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Is it true that the client is angry?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149600" y="15621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8E2453"/>
                  </a:solidFill>
                  <a:latin typeface="Geeza Pro"/>
                  <a:cs typeface="Geeza Pro"/>
                </a:rPr>
                <a:t>‏سَارَة · </a:t>
              </a: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Sāra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219200" y="2413000"/>
            <a:ext cx="8788400" cy="1143000"/>
            <a:chOff x="1219200" y="2413000"/>
            <a:chExt cx="8788400" cy="1143000"/>
          </a:xfrm>
        </p:grpSpPr>
        <p:sp>
          <p:nvSpPr>
            <p:cNvPr id="17" name="Rounded Rectangle 16"/>
            <p:cNvSpPr/>
            <p:nvPr/>
          </p:nvSpPr>
          <p:spPr>
            <a:xfrm>
              <a:off x="1219200" y="2413000"/>
              <a:ext cx="7620000" cy="1143000"/>
            </a:xfrm>
            <a:prstGeom prst="roundRect">
              <a:avLst>
                <a:gd name="adj" fmla="val 1555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‏لَا،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الْعَمِيل سَعِيد بِالنَّتَائِج.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lā, inna l-ʿamīla saʿīdun bi-n-natāʾiji.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No — the client is actually happy with the results.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915400" y="28067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l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‏عُمَر · ʿ</a:t>
              </a:r>
              <a:r>
                <a:rPr lang="en-GB" sz="12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Umar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149600" y="3657600"/>
            <a:ext cx="8788400" cy="1143000"/>
            <a:chOff x="3149600" y="3657600"/>
            <a:chExt cx="8788400" cy="1143000"/>
          </a:xfrm>
        </p:grpSpPr>
        <p:sp>
          <p:nvSpPr>
            <p:cNvPr id="20" name="Rounded Rectangle 19"/>
            <p:cNvSpPr/>
            <p:nvPr/>
          </p:nvSpPr>
          <p:spPr>
            <a:xfrm>
              <a:off x="4318000" y="3657600"/>
              <a:ext cx="7620000" cy="1143000"/>
            </a:xfrm>
            <a:prstGeom prst="roundRect">
              <a:avLst>
                <a:gd name="adj" fmla="val 15555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‏وَلَكِن الْمُدِير قَال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هُنَاك مُشْكِلَة.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wa-lākini l-mudīru qāla inna hunāka mushkilatan.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But the manager said (that) there is a problem.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149600" y="40513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8E2453"/>
                  </a:solidFill>
                  <a:latin typeface="Geeza Pro"/>
                  <a:cs typeface="Geeza Pro"/>
                </a:rPr>
                <a:t>‏سَارَة · </a:t>
              </a: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Sāra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19200" y="4902200"/>
            <a:ext cx="8788400" cy="1143000"/>
            <a:chOff x="1219200" y="4902200"/>
            <a:chExt cx="8788400" cy="1143000"/>
          </a:xfrm>
        </p:grpSpPr>
        <p:sp>
          <p:nvSpPr>
            <p:cNvPr id="23" name="Rounded Rectangle 22"/>
            <p:cNvSpPr/>
            <p:nvPr/>
          </p:nvSpPr>
          <p:spPr>
            <a:xfrm>
              <a:off x="1219200" y="4902200"/>
              <a:ext cx="7620000" cy="1143000"/>
            </a:xfrm>
            <a:prstGeom prst="roundRect">
              <a:avLst>
                <a:gd name="adj" fmla="val 1555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‏نَعَم، مُشْكِلَة صَغِيرَة، وَ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حَلَلْنَاهَا.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naʿam, mushkilatun ṣaghīratun, wa-qad ḥalalnāhā.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Yes, a small problem — and we have already solved it.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915400" y="52959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l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‏عُمَر · ʿ</a:t>
              </a:r>
              <a:r>
                <a:rPr lang="en-GB" sz="12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Umar</a:t>
              </a: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1219200" y="62103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47800" y="6146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‎blue = emphatic tool (</a:t>
            </a:r>
            <a:r>
              <a:rPr lang="ar-SA" altLang="en-GB" sz="1350" b="0" i="0" dirty="0">
                <a:solidFill>
                  <a:srgbClr val="5F5F5F"/>
                </a:solidFill>
                <a:latin typeface="Geeza Pro"/>
                <a:cs typeface="Geeza Pro"/>
              </a:rPr>
              <a:t>قَد </a:t>
            </a: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previews Part 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‎Guided Practice: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or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أَنّ?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7933" y="78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066" y="787400"/>
            <a:ext cx="2489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POSITION CUE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2870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ANSWER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47933" y="1092200"/>
            <a:ext cx="5164667" cy="812800"/>
            <a:chOff x="6747933" y="1092200"/>
            <a:chExt cx="5164667" cy="812800"/>
          </a:xfrm>
        </p:grpSpPr>
        <p:sp>
          <p:nvSpPr>
            <p:cNvPr id="16" name="Oval 15"/>
            <p:cNvSpPr/>
            <p:nvPr/>
          </p:nvSpPr>
          <p:spPr>
            <a:xfrm>
              <a:off x="11582400" y="13335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47933" y="10922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الصَّبْر مِفْتَاح الْفَرَج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Patience is the key to relief. (proverb)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4174066" y="10922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start of the sentence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ṣ-ṣabra miftāḥu l-faraji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47933" y="1968500"/>
            <a:ext cx="5164667" cy="812800"/>
            <a:chOff x="6747933" y="1968500"/>
            <a:chExt cx="5164667" cy="812800"/>
          </a:xfrm>
        </p:grpSpPr>
        <p:sp>
          <p:nvSpPr>
            <p:cNvPr id="21" name="Oval 20"/>
            <p:cNvSpPr/>
            <p:nvPr/>
          </p:nvSpPr>
          <p:spPr>
            <a:xfrm>
              <a:off x="11582400" y="2209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747933" y="19685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‏عَلِمْت ــــــ الرِّحْلَة مُلْغَاة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learned that the flight is cancelled.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174066" y="19685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after a verb of knowing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19685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‏أَنّ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ʿalimtu anna r-riḥlata mulghātun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747933" y="2844800"/>
            <a:ext cx="5164667" cy="812800"/>
            <a:chOff x="6747933" y="2844800"/>
            <a:chExt cx="5164667" cy="812800"/>
          </a:xfrm>
        </p:grpSpPr>
        <p:sp>
          <p:nvSpPr>
            <p:cNvPr id="26" name="Oval 25"/>
            <p:cNvSpPr/>
            <p:nvPr/>
          </p:nvSpPr>
          <p:spPr>
            <a:xfrm>
              <a:off x="11582400" y="30861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747933" y="28448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‏قَالَت الْمُعَلِّمَة ــــــ الِامْتِحَان سَهْل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teacher said the exam is easy.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174066" y="28448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‎after </a:t>
            </a:r>
            <a:r>
              <a:rPr lang="ar-SA" altLang="en-GB" sz="1450" b="0" i="0" dirty="0">
                <a:solidFill>
                  <a:srgbClr val="33618F"/>
                </a:solidFill>
                <a:latin typeface="Geeza Pro"/>
                <a:cs typeface="Geeza Pro"/>
              </a:rPr>
              <a:t>قَال '</a:t>
            </a: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said'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28448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qālati l-muʿallimatu inna l-imtiḥāna sahlun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747933" y="3721100"/>
            <a:ext cx="5164667" cy="812800"/>
            <a:chOff x="6747933" y="3721100"/>
            <a:chExt cx="5164667" cy="812800"/>
          </a:xfrm>
        </p:grpSpPr>
        <p:sp>
          <p:nvSpPr>
            <p:cNvPr id="31" name="Oval 30"/>
            <p:cNvSpPr/>
            <p:nvPr/>
          </p:nvSpPr>
          <p:spPr>
            <a:xfrm>
              <a:off x="11582400" y="39624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747933" y="37211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‏تَأَخَّرْت ــــــ الطَّرِيق مُزْدَحِم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was late because the road is busy.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174066" y="37211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'because' = preposition + 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37211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‏لِأَنّ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taʾakhkhartu li-anna ṭ-ṭarīqa muzdaḥimun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747933" y="4597400"/>
            <a:ext cx="5164667" cy="812800"/>
            <a:chOff x="6747933" y="4597400"/>
            <a:chExt cx="5164667" cy="812800"/>
          </a:xfrm>
        </p:grpSpPr>
        <p:sp>
          <p:nvSpPr>
            <p:cNvPr id="36" name="Oval 35"/>
            <p:cNvSpPr/>
            <p:nvPr/>
          </p:nvSpPr>
          <p:spPr>
            <a:xfrm>
              <a:off x="11582400" y="48387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747933" y="45974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مُوَظَّف أَمِين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He is truly an honest employee.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4174066" y="45974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start + 'he' attached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45974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‏إِنَّه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innahu muwaẓẓafun amīnun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747933" y="5473700"/>
            <a:ext cx="5164667" cy="812800"/>
            <a:chOff x="6747933" y="5473700"/>
            <a:chExt cx="5164667" cy="812800"/>
          </a:xfrm>
        </p:grpSpPr>
        <p:sp>
          <p:nvSpPr>
            <p:cNvPr id="41" name="Oval 40"/>
            <p:cNvSpPr/>
            <p:nvPr/>
          </p:nvSpPr>
          <p:spPr>
            <a:xfrm>
              <a:off x="11582400" y="57150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6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6747933" y="54737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‏أَظُنّ ــــــ الْمَطَر سَيَتَوَقَّف قَرِيبًا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think the rain will stop soon.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4174066" y="54737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after a verb of thinking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19200" y="54737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‏أَنّ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aẓunnu anna l-maṭara sa-yatawaqqafu qarīban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‎Cumulative Drill: Rewrite with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or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أَنّ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2333" y="787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REWRITE THIS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7666" y="787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INSTRUCTION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37338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ANSWER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62333" y="1092200"/>
            <a:ext cx="4250267" cy="965200"/>
            <a:chOff x="7662333" y="1092200"/>
            <a:chExt cx="4250267" cy="965200"/>
          </a:xfrm>
        </p:grpSpPr>
        <p:sp>
          <p:nvSpPr>
            <p:cNvPr id="16" name="Oval 15"/>
            <p:cNvSpPr/>
            <p:nvPr/>
          </p:nvSpPr>
          <p:spPr>
            <a:xfrm>
              <a:off x="11582400" y="14097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662333" y="10922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‏الطَّعَام لَذِيذ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food is delicious.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5037666" y="1092200"/>
            <a:ext cx="2540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‎add </a:t>
            </a:r>
            <a:r>
              <a:rPr lang="ar-SA" altLang="en-GB" sz="1450" b="0" i="0" dirty="0">
                <a:solidFill>
                  <a:srgbClr val="33618F"/>
                </a:solidFill>
                <a:latin typeface="Geeza Pro"/>
                <a:cs typeface="Geeza Pro"/>
              </a:rPr>
              <a:t>إِنّ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3733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‏إِنّ الطَّعَام لَذِيذ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ṭ-ṭaʿāma ladhīdhun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7662333" y="2133600"/>
            <a:ext cx="4250267" cy="965200"/>
            <a:chOff x="7662333" y="2133600"/>
            <a:chExt cx="4250267" cy="965200"/>
          </a:xfrm>
        </p:grpSpPr>
        <p:sp>
          <p:nvSpPr>
            <p:cNvPr id="21" name="Oval 20"/>
            <p:cNvSpPr/>
            <p:nvPr/>
          </p:nvSpPr>
          <p:spPr>
            <a:xfrm>
              <a:off x="11582400" y="24511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662333" y="21336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‏الْمُوَظَّفُون مُجْتَهِدُون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employees are hard-working.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5037666" y="2133600"/>
            <a:ext cx="2540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‎add </a:t>
            </a:r>
            <a:r>
              <a:rPr lang="ar-SA" altLang="en-GB" sz="1450" b="0" i="0" dirty="0">
                <a:solidFill>
                  <a:srgbClr val="33618F"/>
                </a:solidFill>
                <a:latin typeface="Geeza Pro"/>
                <a:cs typeface="Geeza Pro"/>
              </a:rPr>
              <a:t>إِنّ — </a:t>
            </a: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watch the plural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2133600"/>
            <a:ext cx="3733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‏إِنّ الْمُوَظَّفِين مُجْتَهِدُون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l-muwaẓẓafīna mujtahidūna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662333" y="3175000"/>
            <a:ext cx="4250267" cy="965200"/>
            <a:chOff x="7662333" y="3175000"/>
            <a:chExt cx="4250267" cy="965200"/>
          </a:xfrm>
        </p:grpSpPr>
        <p:sp>
          <p:nvSpPr>
            <p:cNvPr id="26" name="Oval 25"/>
            <p:cNvSpPr/>
            <p:nvPr/>
          </p:nvSpPr>
          <p:spPr>
            <a:xfrm>
              <a:off x="11582400" y="34925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662333" y="31750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‏هِي مُتْعَبَة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She is tired.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5037666" y="3175000"/>
            <a:ext cx="2540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‎add </a:t>
            </a:r>
            <a:r>
              <a:rPr lang="ar-SA" altLang="en-GB" sz="1450" b="0" i="0" dirty="0">
                <a:solidFill>
                  <a:srgbClr val="33618F"/>
                </a:solidFill>
                <a:latin typeface="Geeza Pro"/>
                <a:cs typeface="Geeza Pro"/>
              </a:rPr>
              <a:t>إِنّ — </a:t>
            </a: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attach the pronoun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3175000"/>
            <a:ext cx="3733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‏إِنَّهَا مُتْعَبَة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innahā mutʿabatun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662333" y="4216400"/>
            <a:ext cx="4250267" cy="965200"/>
            <a:chOff x="7662333" y="4216400"/>
            <a:chExt cx="4250267" cy="965200"/>
          </a:xfrm>
        </p:grpSpPr>
        <p:sp>
          <p:nvSpPr>
            <p:cNvPr id="31" name="Oval 30"/>
            <p:cNvSpPr/>
            <p:nvPr/>
          </p:nvSpPr>
          <p:spPr>
            <a:xfrm>
              <a:off x="11582400" y="45339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662333" y="42164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‏سَمِعْت: الْمَتْجَر مَفْتُوح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heard: the shop is open.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5037666" y="4216400"/>
            <a:ext cx="2540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‎join with </a:t>
            </a:r>
            <a:r>
              <a:rPr lang="ar-SA" altLang="en-GB" sz="1450" b="0" i="0" dirty="0">
                <a:solidFill>
                  <a:srgbClr val="33618F"/>
                </a:solidFill>
                <a:latin typeface="Geeza Pro"/>
                <a:cs typeface="Geeza Pro"/>
              </a:rPr>
              <a:t>أَنّ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4216400"/>
            <a:ext cx="3733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‏سَمِعْت أَنّ الْمَتْجَر مَفْتُوح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samiʿtu anna l-matjara maftūḥun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7662333" y="5257800"/>
            <a:ext cx="4250267" cy="965200"/>
            <a:chOff x="7662333" y="5257800"/>
            <a:chExt cx="4250267" cy="965200"/>
          </a:xfrm>
        </p:grpSpPr>
        <p:sp>
          <p:nvSpPr>
            <p:cNvPr id="36" name="Oval 35"/>
            <p:cNvSpPr/>
            <p:nvPr/>
          </p:nvSpPr>
          <p:spPr>
            <a:xfrm>
              <a:off x="11582400" y="55753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662333" y="52578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‏قَال الْمُدِير: الْعَرْض نَاجِح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manager said: the offer is successful.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5037666" y="5257800"/>
            <a:ext cx="2540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‎join — after </a:t>
            </a:r>
            <a:r>
              <a:rPr lang="ar-SA" altLang="en-GB" sz="1450" b="0" i="0" dirty="0">
                <a:solidFill>
                  <a:srgbClr val="33618F"/>
                </a:solidFill>
                <a:latin typeface="Geeza Pro"/>
                <a:cs typeface="Geeza Pro"/>
              </a:rPr>
              <a:t>قَال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5257800"/>
            <a:ext cx="3733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‏قَال الْمُدِير إِنّ الْعَرْض نَاجِح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qāla l-mudīru inna l-ʿarḍa nājiḥun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3 of 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Stop 3 of 6 · slides 31–41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2000" y="1016000"/>
            <a:ext cx="7874000" cy="38100"/>
          </a:xfrm>
          <a:prstGeom prst="rect">
            <a:avLst/>
          </a:prstGeom>
          <a:solidFill>
            <a:srgbClr val="D9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363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88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What Emphasis Means</a:t>
            </a:r>
          </a:p>
        </p:txBody>
      </p:sp>
      <p:sp>
        <p:nvSpPr>
          <p:cNvPr id="14" name="Oval 13"/>
          <p:cNvSpPr/>
          <p:nvPr/>
        </p:nvSpPr>
        <p:spPr>
          <a:xfrm>
            <a:off x="94615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38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Inside a Sentence</a:t>
            </a:r>
          </a:p>
        </p:txBody>
      </p:sp>
      <p:sp>
        <p:nvSpPr>
          <p:cNvPr id="16" name="Oval 15"/>
          <p:cNvSpPr/>
          <p:nvPr/>
        </p:nvSpPr>
        <p:spPr>
          <a:xfrm>
            <a:off x="7835900" y="844550"/>
            <a:ext cx="381000" cy="381000"/>
          </a:xfrm>
          <a:prstGeom prst="ellipse">
            <a:avLst/>
          </a:prstGeom>
          <a:solidFill>
            <a:srgbClr val="8E2453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1" i="0" dirty="0">
                <a:solidFill>
                  <a:srgbClr val="8E2453"/>
                </a:solidFill>
                <a:latin typeface="Chalkboard SE"/>
                <a:cs typeface="Geeza Pro"/>
              </a:rPr>
              <a:t>Before &amp; Within a Verb</a:t>
            </a:r>
          </a:p>
        </p:txBody>
      </p:sp>
      <p:sp>
        <p:nvSpPr>
          <p:cNvPr id="18" name="Oval 17"/>
          <p:cNvSpPr/>
          <p:nvPr/>
        </p:nvSpPr>
        <p:spPr>
          <a:xfrm>
            <a:off x="63119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42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Restriction &amp; Completeness</a:t>
            </a:r>
          </a:p>
        </p:txBody>
      </p:sp>
      <p:sp>
        <p:nvSpPr>
          <p:cNvPr id="20" name="Oval 19"/>
          <p:cNvSpPr/>
          <p:nvPr/>
        </p:nvSpPr>
        <p:spPr>
          <a:xfrm>
            <a:off x="47371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94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Putting It Together</a:t>
            </a:r>
          </a:p>
        </p:txBody>
      </p:sp>
      <p:sp>
        <p:nvSpPr>
          <p:cNvPr id="22" name="Oval 21"/>
          <p:cNvSpPr/>
          <p:nvPr/>
        </p:nvSpPr>
        <p:spPr>
          <a:xfrm>
            <a:off x="31623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Clearing the Confusion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889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0800" y="1574800"/>
            <a:ext cx="6807200" cy="1320800"/>
          </a:xfrm>
          <a:prstGeom prst="roundRect">
            <a:avLst>
              <a:gd name="adj" fmla="val 11538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127000" tIns="50800" rIns="127000" bIns="254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800" b="1" i="0" dirty="0">
                <a:solidFill>
                  <a:srgbClr val="FFFFFF"/>
                </a:solidFill>
                <a:latin typeface="Chalkboard SE"/>
                <a:cs typeface="Geeza Pro"/>
              </a:rPr>
              <a:t>Emphasis Before and Within a Verb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  <a:latin typeface="Chalkboard SE"/>
                <a:cs typeface="Geeza Pro"/>
              </a:rPr>
              <a:t>Completed events, possible events, and the emphatic prefix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FFFFFF"/>
                </a:solidFill>
                <a:latin typeface="Geeza Pro"/>
                <a:cs typeface="Geeza Pro"/>
              </a:rPr>
              <a:t>‏التَّوْكِيد مَع الْفِعْل  </a:t>
            </a:r>
            <a:r>
              <a:rPr lang="en-GB" sz="1800" b="1" i="0" dirty="0">
                <a:solidFill>
                  <a:srgbClr val="FFFFFF"/>
                </a:solidFill>
                <a:latin typeface="Chalkboard SE"/>
                <a:cs typeface="Geeza Pro"/>
              </a:rPr>
              <a:t>· at-tawkīd maʿa l-fiʿl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9200" y="1574800"/>
            <a:ext cx="3810000" cy="1320800"/>
          </a:xfrm>
          <a:prstGeom prst="roundRect">
            <a:avLst>
              <a:gd name="adj" fmla="val 11538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152400" tIns="50800" rIns="1524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THE FOCUS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‎Let the verb form tell you what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قَد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means, use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لَقَد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where it fits, and attach the prefix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لَـ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in the right place.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971800"/>
            <a:ext cx="10718800" cy="254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TOOLS IN THIS 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85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already / may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99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indeed (+ past verb)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laqad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13100" y="32766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truly (a prefix)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‏لَـ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la-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66666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1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‎Read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قَد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correctly: past verb = completion; present verb = possibility.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2933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2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‎Use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لَقَد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with past verbs only — and only when emphasis fits.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19200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3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‎Attach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لَـ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correctly, including the pattern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إِنّ … لَـ.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3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قَد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qad) — Two Meanings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32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particle 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</a:t>
              </a: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sits directly before a verb. The verb form decides its meaning.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858000" y="1346200"/>
            <a:ext cx="5080000" cy="3327400"/>
            <a:chOff x="6858000" y="1346200"/>
            <a:chExt cx="5080000" cy="3327400"/>
          </a:xfrm>
        </p:grpSpPr>
        <p:sp>
          <p:nvSpPr>
            <p:cNvPr id="17" name="Rounded Rectangle 16"/>
            <p:cNvSpPr/>
            <p:nvPr/>
          </p:nvSpPr>
          <p:spPr>
            <a:xfrm>
              <a:off x="6858000" y="1346200"/>
              <a:ext cx="5080000" cy="3327400"/>
            </a:xfrm>
            <a:prstGeom prst="roundRect">
              <a:avLst>
                <a:gd name="adj" fmla="val 381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858000" y="1346200"/>
              <a:ext cx="50800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58000" y="1600200"/>
              <a:ext cx="50800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58000" y="1346200"/>
              <a:ext cx="508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With a PAST Verb: Already, Indeed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883400" y="1752600"/>
              <a:ext cx="50292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Completion and certainty (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taḥqīq</a:t>
              </a: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)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وَصَل الْقِطَار</a:t>
              </a:r>
            </a:p>
            <a:p>
              <a:pPr algn="r" rtl="0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waṣala l-qiṭāru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The train has arrived.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أَرْسَلْت التَّقْرِير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arsaltu t-taqrīra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I have (already) sent the report.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19200" y="1346200"/>
            <a:ext cx="5080000" cy="3327400"/>
            <a:chOff x="1219200" y="1346200"/>
            <a:chExt cx="5080000" cy="3327400"/>
          </a:xfrm>
        </p:grpSpPr>
        <p:sp>
          <p:nvSpPr>
            <p:cNvPr id="23" name="Rounded Rectangle 22"/>
            <p:cNvSpPr/>
            <p:nvPr/>
          </p:nvSpPr>
          <p:spPr>
            <a:xfrm>
              <a:off x="1219200" y="1346200"/>
              <a:ext cx="5080000" cy="3327400"/>
            </a:xfrm>
            <a:prstGeom prst="roundRect">
              <a:avLst>
                <a:gd name="adj" fmla="val 3816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19200" y="1346200"/>
              <a:ext cx="50800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219200" y="1600200"/>
              <a:ext cx="50800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19200" y="1346200"/>
              <a:ext cx="508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With a PRESENT Verb: May, Sometimes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44600" y="1752600"/>
              <a:ext cx="50292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Possibility or occasional action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يَتَأَخَّر الْقِطَار</a:t>
              </a:r>
            </a:p>
            <a:p>
              <a:pPr algn="r" rtl="0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yataʾakhkharu l-qiṭāru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The train may be late.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أَعْمَل مِن الْبَيْت غَدًا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aʿmalu mina l-bayti ghadan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I may work from home tomorrow.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19200" y="4851400"/>
            <a:ext cx="10718800" cy="1219200"/>
            <a:chOff x="1219200" y="4851400"/>
            <a:chExt cx="10718800" cy="1219200"/>
          </a:xfrm>
        </p:grpSpPr>
        <p:sp>
          <p:nvSpPr>
            <p:cNvPr id="29" name="Rounded Rectangle 28"/>
            <p:cNvSpPr/>
            <p:nvPr/>
          </p:nvSpPr>
          <p:spPr>
            <a:xfrm>
              <a:off x="1219200" y="4851400"/>
              <a:ext cx="10718800" cy="1219200"/>
            </a:xfrm>
            <a:prstGeom prst="roundRect">
              <a:avLst>
                <a:gd name="adj" fmla="val 833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70000" y="4876800"/>
              <a:ext cx="10617200" cy="1168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CONTEXT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‎In classical and Qurʾanic texts,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+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present can also confirm a fact. In modern everyday and media Arabic, read it as 'may'. CONTEXT decides.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‎The Verb Decides: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قَد +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Past vs.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قَد +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Present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0" y="838200"/>
            <a:ext cx="2413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838200"/>
            <a:ext cx="317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7000" y="838200"/>
            <a:ext cx="2413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Meaning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838200"/>
            <a:ext cx="2717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Translation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25000" y="1193800"/>
            <a:ext cx="2413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past verb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1193800"/>
            <a:ext cx="3175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فَهِمْت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qad fahimtu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7000" y="1193800"/>
            <a:ext cx="2413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completion, certainty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193800"/>
            <a:ext cx="27178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I have understood.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5000" y="2006600"/>
            <a:ext cx="2413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present verb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2006600"/>
            <a:ext cx="3175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أَفْهَم لَاحِقًا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qad afhamu lāḥiqan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2006600"/>
            <a:ext cx="2413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possibility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006600"/>
            <a:ext cx="27178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I may understand later.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25000" y="2819400"/>
            <a:ext cx="2413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present verb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2819400"/>
            <a:ext cx="3175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يَغْضَب أَحْيَانًا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qad yaghḍabu aḥyānan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2819400"/>
            <a:ext cx="2413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occasional 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819400"/>
            <a:ext cx="27178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can sometimes get angry.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5000" y="3632200"/>
            <a:ext cx="2413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لَا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present verb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632200"/>
            <a:ext cx="3175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لَا يَأْتِي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qad lā yaʾtī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3632200"/>
            <a:ext cx="2413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negative possibility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3632200"/>
            <a:ext cx="27178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may not come.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6654800" y="4673600"/>
            <a:ext cx="5283200" cy="1473200"/>
            <a:chOff x="6654800" y="4673600"/>
            <a:chExt cx="5283200" cy="1473200"/>
          </a:xfrm>
        </p:grpSpPr>
        <p:sp>
          <p:nvSpPr>
            <p:cNvPr id="33" name="Rounded Rectangle 32"/>
            <p:cNvSpPr/>
            <p:nvPr/>
          </p:nvSpPr>
          <p:spPr>
            <a:xfrm>
              <a:off x="6654800" y="4673600"/>
              <a:ext cx="5283200" cy="1473200"/>
            </a:xfrm>
            <a:prstGeom prst="roundRect">
              <a:avLst>
                <a:gd name="adj" fmla="val 6896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705600" y="4699000"/>
              <a:ext cx="5181600" cy="1422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PLACEMENT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particle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sits directly before the verb. Only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لَا '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not' may come between: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لَا.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219200" y="4673600"/>
            <a:ext cx="5283200" cy="1473200"/>
            <a:chOff x="1219200" y="4673600"/>
            <a:chExt cx="5283200" cy="1473200"/>
          </a:xfrm>
        </p:grpSpPr>
        <p:sp>
          <p:nvSpPr>
            <p:cNvPr id="36" name="Rounded Rectangle 35"/>
            <p:cNvSpPr/>
            <p:nvPr/>
          </p:nvSpPr>
          <p:spPr>
            <a:xfrm>
              <a:off x="1219200" y="4673600"/>
              <a:ext cx="5283200" cy="1473200"/>
            </a:xfrm>
            <a:prstGeom prst="roundRect">
              <a:avLst>
                <a:gd name="adj" fmla="val 6896"/>
              </a:avLst>
            </a:prstGeom>
            <a:solidFill>
              <a:srgbClr val="FBEAEA"/>
            </a:solidFill>
            <a:ln w="12700">
              <a:solidFill>
                <a:srgbClr val="C628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270000" y="4699000"/>
              <a:ext cx="5181600" cy="1422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C62828"/>
                  </a:solidFill>
                  <a:latin typeface="Chalkboard SE"/>
                  <a:cs typeface="Geeza Pro"/>
                </a:rPr>
                <a:t>NOT USED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‎Future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سَـ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or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سَوْف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never follows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قَد‎: </a:t>
              </a:r>
              <a:r>
                <a:rPr lang="en-GB" sz="1400" b="1" i="0" dirty="0">
                  <a:solidFill>
                    <a:srgbClr val="C62828"/>
                  </a:solidFill>
                  <a:latin typeface="Chalkboard SE"/>
                  <a:cs typeface="Geeza Pro"/>
                </a:rPr>
                <a:t>✗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قَد سَيَذْهَب.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Say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سَيَذْهَب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sa-yadhhabu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or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يَذْهَب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yadhhabu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4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لَقَد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laqad) — Indeed (with a Past Verb)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34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572000" y="889000"/>
            <a:ext cx="5842000" cy="889000"/>
            <a:chOff x="4572000" y="889000"/>
            <a:chExt cx="5842000" cy="889000"/>
          </a:xfrm>
        </p:grpSpPr>
        <p:sp>
          <p:nvSpPr>
            <p:cNvPr id="13" name="Rounded Rectangle 12"/>
            <p:cNvSpPr/>
            <p:nvPr/>
          </p:nvSpPr>
          <p:spPr>
            <a:xfrm>
              <a:off x="8890000" y="889000"/>
              <a:ext cx="1524000" cy="889000"/>
            </a:xfrm>
            <a:prstGeom prst="roundRect">
              <a:avLst>
                <a:gd name="adj" fmla="val 1428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6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‏لَـ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82000" y="1092200"/>
              <a:ext cx="508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2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+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858000" y="889000"/>
              <a:ext cx="1524000" cy="889000"/>
            </a:xfrm>
            <a:prstGeom prst="roundRect">
              <a:avLst>
                <a:gd name="adj" fmla="val 1428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6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50000" y="1092200"/>
              <a:ext cx="508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2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=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72000" y="889000"/>
              <a:ext cx="1778000" cy="889000"/>
            </a:xfrm>
            <a:prstGeom prst="roundRect">
              <a:avLst>
                <a:gd name="adj" fmla="val 14285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800" b="1" i="0" dirty="0">
                  <a:solidFill>
                    <a:srgbClr val="8E2453"/>
                  </a:solidFill>
                  <a:latin typeface="Geeza Pro"/>
                  <a:cs typeface="Geeza Pro"/>
                </a:rPr>
                <a:t>‏لَقَد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1219200" y="1930400"/>
            <a:ext cx="10718800" cy="1041400"/>
          </a:xfrm>
          <a:prstGeom prst="roundRect">
            <a:avLst>
              <a:gd name="adj" fmla="val 12195"/>
            </a:avLst>
          </a:prstGeom>
          <a:solidFill>
            <a:srgbClr val="FBF3F7"/>
          </a:solidFill>
          <a:ln w="12700">
            <a:solidFill>
              <a:srgbClr val="D9CDD3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1" i="0" dirty="0">
                <a:solidFill>
                  <a:srgbClr val="262626"/>
                </a:solidFill>
                <a:latin typeface="Chalkboard SE"/>
                <a:cs typeface="Geeza Pro"/>
              </a:rPr>
              <a:t>‎Only before a PAST verb.</a:t>
            </a:r>
            <a:r>
              <a:rPr lang="en-GB" sz="1500" b="0" i="0" dirty="0">
                <a:solidFill>
                  <a:srgbClr val="262626"/>
                </a:solidFill>
                <a:latin typeface="Chalkboard SE"/>
                <a:cs typeface="Geeza Pro"/>
              </a:rPr>
              <a:t> Stronger than 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قَد </a:t>
            </a:r>
            <a:r>
              <a:rPr lang="en-GB" sz="1500" b="0" i="0" dirty="0">
                <a:solidFill>
                  <a:srgbClr val="262626"/>
                </a:solidFill>
                <a:latin typeface="Chalkboard SE"/>
                <a:cs typeface="Geeza Pro"/>
              </a:rPr>
              <a:t>alone.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500" b="0" i="0" dirty="0">
                <a:solidFill>
                  <a:srgbClr val="262626"/>
                </a:solidFill>
                <a:latin typeface="Chalkboard SE"/>
                <a:cs typeface="Geeza Pro"/>
              </a:rPr>
              <a:t>Used for news, a sudden realisation, strong feeling, or answering doubt.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66666" y="3149600"/>
            <a:ext cx="3471333" cy="13970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‏لَقَد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وَصَلْنَا أَخِيرًا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laqad waṣalnā akhīran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We've finally arrived!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2933" y="3149600"/>
            <a:ext cx="3471333" cy="13970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‏لَقَد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تَغَيَّر كُلّ شَيْء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laqad taghayyara kullu shayʾin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Everything has truly changed.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9200" y="3149600"/>
            <a:ext cx="3471333" cy="13970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‏لَقَد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فَهِمْت الْآن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laqad fahimtu l-āna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Now I really understand.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219200" y="4724400"/>
            <a:ext cx="10718800" cy="1320800"/>
            <a:chOff x="1219200" y="4724400"/>
            <a:chExt cx="10718800" cy="1320800"/>
          </a:xfrm>
        </p:grpSpPr>
        <p:sp>
          <p:nvSpPr>
            <p:cNvPr id="23" name="Rounded Rectangle 22"/>
            <p:cNvSpPr/>
            <p:nvPr/>
          </p:nvSpPr>
          <p:spPr>
            <a:xfrm>
              <a:off x="1219200" y="4724400"/>
              <a:ext cx="10718800" cy="1320800"/>
            </a:xfrm>
            <a:prstGeom prst="roundRect">
              <a:avLst>
                <a:gd name="adj" fmla="val 7692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70000" y="4749800"/>
              <a:ext cx="1061720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WHY IT IS STRONG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la-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in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لَقَد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is the same emphatic prefix you will meet as Tool 5. Grammarians link it to an implied oath: 'I swear, it has happened.'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‎Why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لَقَد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Is Not Automatically 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5800" y="838200"/>
            <a:ext cx="3632200" cy="939800"/>
          </a:xfrm>
          <a:prstGeom prst="roundRect">
            <a:avLst>
              <a:gd name="adj" fmla="val 10810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 أَذْهَب إِلَى الْعَمَل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7848600" y="11684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89400" y="838200"/>
            <a:ext cx="3632200" cy="939800"/>
          </a:xfrm>
          <a:prstGeom prst="roundRect">
            <a:avLst>
              <a:gd name="adj" fmla="val 1081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‏أَذْهَب إِلَى الْعَمَل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adhhabu ilā l-ʿamali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838200"/>
            <a:ext cx="2717800" cy="939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‎A PAST verb is needed after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لَقَد.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For 'may go', use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قَد أَذْهَب.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5800" y="1879600"/>
            <a:ext cx="3632200" cy="939800"/>
          </a:xfrm>
          <a:prstGeom prst="roundRect">
            <a:avLst>
              <a:gd name="adj" fmla="val 10810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 لَم أَفْهَم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848600" y="22098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89400" y="1879600"/>
            <a:ext cx="3632200" cy="939800"/>
          </a:xfrm>
          <a:prstGeom prst="roundRect">
            <a:avLst>
              <a:gd name="adj" fmla="val 1081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‏لَم أَفْهَم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lam afham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879600"/>
            <a:ext cx="2717800" cy="939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‎No negation after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لَقَد.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5800" y="2921000"/>
            <a:ext cx="3632200" cy="939800"/>
          </a:xfrm>
          <a:prstGeom prst="roundRect">
            <a:avLst>
              <a:gd name="adj" fmla="val 10810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 سَأُسَافِر غَدًا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7848600" y="32512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89400" y="2921000"/>
            <a:ext cx="3632200" cy="939800"/>
          </a:xfrm>
          <a:prstGeom prst="roundRect">
            <a:avLst>
              <a:gd name="adj" fmla="val 1081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‏سَأُسَافِر غَدًا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sa-usāfiru ghadan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921000"/>
            <a:ext cx="2717800" cy="939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‎Future: no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قَد‎,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no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لَقَد.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219200" y="4038600"/>
            <a:ext cx="10718800" cy="2032000"/>
            <a:chOff x="1219200" y="4038600"/>
            <a:chExt cx="10718800" cy="2032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4038600"/>
              <a:ext cx="10718800" cy="2032000"/>
            </a:xfrm>
            <a:prstGeom prst="roundRect">
              <a:avLst>
                <a:gd name="adj" fmla="val 5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70000" y="4064000"/>
              <a:ext cx="106172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‎TONE: ROUTINE INFORMATION NEEDS NO </a:t>
              </a:r>
              <a:r>
                <a:rPr lang="ar-SA" altLang="en-GB" sz="14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لَقَد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normal report is </a:t>
              </a:r>
              <a:r>
                <a:rPr lang="ar-SA" altLang="en-GB" sz="175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شَرِبْت الْقَهْوَة (</a:t>
              </a:r>
              <a:r>
                <a:rPr lang="en-GB" sz="14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sharibtu l-qahwata</a:t>
              </a:r>
              <a:r>
                <a:rPr lang="en-GB" sz="14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'I drank the coffee'). Saying </a:t>
              </a:r>
              <a:r>
                <a:rPr lang="ar-SA" altLang="en-GB" sz="175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لَقَد شَرِبْتُهَا (</a:t>
              </a:r>
              <a:r>
                <a:rPr lang="en-GB" sz="14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sharibtuhā</a:t>
              </a:r>
              <a:r>
                <a:rPr lang="en-GB" sz="14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sounds dramatic — natural only if someone says you didn't. Using </a:t>
              </a:r>
              <a:r>
                <a:rPr lang="ar-SA" altLang="en-GB" sz="175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لَقَد </a:t>
              </a:r>
              <a:r>
                <a:rPr lang="en-GB" sz="14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in every sentence weakens it.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5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لَـ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la-) — The Emphatic Prefix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36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One letter with a fatha, written JOINED to the next word. It is not an independent word.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483600" y="1346200"/>
            <a:ext cx="3454400" cy="3175000"/>
            <a:chOff x="8483600" y="1346200"/>
            <a:chExt cx="3454400" cy="3175000"/>
          </a:xfrm>
        </p:grpSpPr>
        <p:sp>
          <p:nvSpPr>
            <p:cNvPr id="17" name="Rounded Rectangle 16"/>
            <p:cNvSpPr/>
            <p:nvPr/>
          </p:nvSpPr>
          <p:spPr>
            <a:xfrm>
              <a:off x="8483600" y="1346200"/>
              <a:ext cx="3454400" cy="3175000"/>
            </a:xfrm>
            <a:prstGeom prst="roundRect">
              <a:avLst>
                <a:gd name="adj" fmla="val 400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4836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36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4836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‎After </a:t>
              </a:r>
              <a:r>
                <a:rPr lang="ar-SA" altLang="en-GB" sz="17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إِنّ — </a:t>
              </a: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on the Predicate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509000" y="1752600"/>
              <a:ext cx="34036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الْحَقّ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لَ</a:t>
              </a: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وَاضِح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l-ḥaqqa la-wāḍiḥun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truth is clearly evident.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‎Name: </a:t>
              </a:r>
              <a:r>
                <a:rPr lang="ar-SA" altLang="en-GB" sz="145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اللَّام الْمُزَحْلَقَة (</a:t>
              </a: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al-lām al-muzaḥlaqa</a:t>
              </a:r>
              <a:r>
                <a:rPr lang="en-GB" sz="11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, 'the moved lām')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51400" y="1346200"/>
            <a:ext cx="3454400" cy="3175000"/>
            <a:chOff x="4851400" y="1346200"/>
            <a:chExt cx="3454400" cy="3175000"/>
          </a:xfrm>
        </p:grpSpPr>
        <p:sp>
          <p:nvSpPr>
            <p:cNvPr id="23" name="Rounded Rectangle 22"/>
            <p:cNvSpPr/>
            <p:nvPr/>
          </p:nvSpPr>
          <p:spPr>
            <a:xfrm>
              <a:off x="4851400" y="1346200"/>
              <a:ext cx="3454400" cy="3175000"/>
            </a:xfrm>
            <a:prstGeom prst="roundRect">
              <a:avLst>
                <a:gd name="adj" fmla="val 400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8514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8514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514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At the Start of a Sentence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876800" y="1752600"/>
              <a:ext cx="34036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</a:t>
              </a: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أَنْت صَدِيق وَفِيّ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la-anta ṣadīqun wafiyyun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You truly are a loyal friend.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‎FORMAL / literary. Name: </a:t>
              </a:r>
              <a:r>
                <a:rPr lang="ar-SA" altLang="en-GB" sz="145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لَام الِابْتِدَاء (</a:t>
              </a: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lām al-ibtidāʾ</a:t>
              </a:r>
              <a:r>
                <a:rPr lang="en-GB" sz="11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)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19200" y="1346200"/>
            <a:ext cx="3454400" cy="3175000"/>
            <a:chOff x="1219200" y="1346200"/>
            <a:chExt cx="3454400" cy="3175000"/>
          </a:xfrm>
        </p:grpSpPr>
        <p:sp>
          <p:nvSpPr>
            <p:cNvPr id="29" name="Rounded Rectangle 28"/>
            <p:cNvSpPr/>
            <p:nvPr/>
          </p:nvSpPr>
          <p:spPr>
            <a:xfrm>
              <a:off x="1219200" y="1346200"/>
              <a:ext cx="3454400" cy="3175000"/>
            </a:xfrm>
            <a:prstGeom prst="roundRect">
              <a:avLst>
                <a:gd name="adj" fmla="val 400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2192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92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192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‎Inside </a:t>
              </a:r>
              <a:r>
                <a:rPr lang="ar-SA" altLang="en-GB" sz="17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لَقَد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44600" y="1752600"/>
              <a:ext cx="34036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</a:t>
              </a: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نَجَحْنَا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najaḥnā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We have truly succeeded.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‎Prefix </a:t>
              </a:r>
              <a:r>
                <a:rPr lang="ar-SA" altLang="en-GB" sz="145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لَـ + قَد‎, </a:t>
              </a:r>
              <a:r>
                <a:rPr lang="en-GB" sz="11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before a past verb (Tool 4)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219200" y="4699000"/>
            <a:ext cx="10718800" cy="1320800"/>
            <a:chOff x="1219200" y="4699000"/>
            <a:chExt cx="10718800" cy="1320800"/>
          </a:xfrm>
        </p:grpSpPr>
        <p:sp>
          <p:nvSpPr>
            <p:cNvPr id="35" name="Rounded Rectangle 34"/>
            <p:cNvSpPr/>
            <p:nvPr/>
          </p:nvSpPr>
          <p:spPr>
            <a:xfrm>
              <a:off x="1219200" y="4699000"/>
              <a:ext cx="10718800" cy="1320800"/>
            </a:xfrm>
            <a:prstGeom prst="roundRect">
              <a:avLst>
                <a:gd name="adj" fmla="val 7692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270000" y="4724400"/>
              <a:ext cx="1061720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LOOK-ALIKE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‎Do not confuse it with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لِـ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li-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'for / to') with a kasra: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لِلطُّلَّاب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li-ṭ-ṭullābi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'for the students'). Emphatic 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la-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has a fatha and adds no 'for'.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‎Building Up: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 … لَـ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889000"/>
            <a:ext cx="3251200" cy="14732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NEUTRAL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‏الْخَبَر مُهِمّ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al-khabaru muhimmun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news is important.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8255000" y="1473200"/>
            <a:ext cx="381000" cy="3302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53000" y="889000"/>
            <a:ext cx="3251200" cy="1473200"/>
          </a:xfrm>
          <a:prstGeom prst="roundRect">
            <a:avLst>
              <a:gd name="adj" fmla="val 6896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‎WITH </a:t>
            </a:r>
            <a:r>
              <a:rPr lang="ar-SA" altLang="en-GB" sz="1400" b="1" i="0" dirty="0">
                <a:solidFill>
                  <a:srgbClr val="8E2453"/>
                </a:solidFill>
                <a:latin typeface="Geeza Pro"/>
                <a:cs typeface="Geeza Pro"/>
              </a:rPr>
              <a:t>إِنّ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الْخَبَر مُهِمّ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l-khabara muhimmun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news is indeed important.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4521200" y="1473200"/>
            <a:ext cx="381000" cy="3302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19200" y="889000"/>
            <a:ext cx="3251200" cy="1473200"/>
          </a:xfrm>
          <a:prstGeom prst="roundRect">
            <a:avLst>
              <a:gd name="adj" fmla="val 6896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‎WITH </a:t>
            </a:r>
            <a:r>
              <a:rPr lang="ar-SA" altLang="en-GB" sz="1400" b="1" i="0" dirty="0">
                <a:solidFill>
                  <a:srgbClr val="8E2453"/>
                </a:solidFill>
                <a:latin typeface="Geeza Pro"/>
                <a:cs typeface="Geeza Pro"/>
              </a:rPr>
              <a:t>إِنّ … لَـ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الْخَبَر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لَ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مُهِمّ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l-khabara la-muhimmun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news is truly, really important.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219200" y="2540000"/>
            <a:ext cx="10718800" cy="965200"/>
            <a:chOff x="1219200" y="2540000"/>
            <a:chExt cx="10718800" cy="965200"/>
          </a:xfrm>
        </p:grpSpPr>
        <p:sp>
          <p:nvSpPr>
            <p:cNvPr id="18" name="Rounded Rectangle 17"/>
            <p:cNvSpPr/>
            <p:nvPr/>
          </p:nvSpPr>
          <p:spPr>
            <a:xfrm>
              <a:off x="1219200" y="2540000"/>
              <a:ext cx="10718800" cy="965200"/>
            </a:xfrm>
            <a:prstGeom prst="roundRect">
              <a:avLst>
                <a:gd name="adj" fmla="val 10526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270000" y="2565400"/>
              <a:ext cx="106172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WHERE THE PREFIX GOES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prefix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لَـ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goes on the predicate (or on a subject that comes late), never directly after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إِنّ‎: </a:t>
              </a:r>
              <a:r>
                <a:rPr lang="en-GB" sz="1400" b="1" i="0" dirty="0">
                  <a:solidFill>
                    <a:srgbClr val="C62828"/>
                  </a:solidFill>
                  <a:latin typeface="Chalkboard SE"/>
                  <a:cs typeface="Geeza Pro"/>
                </a:rPr>
                <a:t>✗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إِنّ لَالْخَبَر مُهِمّ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6654800" y="3683000"/>
            <a:ext cx="52832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WITH A PRONOUN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‏إِنَّك لَ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عَلَى حَقّ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innaka la-ʿalā ḥaqqin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You are absolutely right.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9200" y="3683000"/>
            <a:ext cx="52832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WITH A PRONOUN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‏إِنَّه لَ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شَرَف لِي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innahu la-sharafun lī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It is truly an honour for me.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219200" y="5029200"/>
            <a:ext cx="10718800" cy="1041400"/>
            <a:chOff x="1219200" y="5029200"/>
            <a:chExt cx="10718800" cy="1041400"/>
          </a:xfrm>
        </p:grpSpPr>
        <p:sp>
          <p:nvSpPr>
            <p:cNvPr id="23" name="Rounded Rectangle 22"/>
            <p:cNvSpPr/>
            <p:nvPr/>
          </p:nvSpPr>
          <p:spPr>
            <a:xfrm>
              <a:off x="1219200" y="5029200"/>
              <a:ext cx="10718800" cy="1041400"/>
            </a:xfrm>
            <a:prstGeom prst="roundRect">
              <a:avLst>
                <a:gd name="adj" fmla="val 9756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70000" y="5054600"/>
              <a:ext cx="10617200" cy="990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REGISTER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This double emphasis is typical of FORMAL speech and writing. In conversation, one tool is usually enough.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‎Reading Context: Which Meaning of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قَد?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7933" y="78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066" y="787400"/>
            <a:ext cx="2489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LOOK AT THE VERB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2870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MEANING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47933" y="1092200"/>
            <a:ext cx="5164667" cy="1168400"/>
            <a:chOff x="6747933" y="1092200"/>
            <a:chExt cx="5164667" cy="1168400"/>
          </a:xfrm>
        </p:grpSpPr>
        <p:sp>
          <p:nvSpPr>
            <p:cNvPr id="16" name="Oval 15"/>
            <p:cNvSpPr/>
            <p:nvPr/>
          </p:nvSpPr>
          <p:spPr>
            <a:xfrm>
              <a:off x="11582400" y="15113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47933" y="1092200"/>
              <a:ext cx="4724400" cy="1168400"/>
            </a:xfrm>
            <a:prstGeom prst="roundRect">
              <a:avLst>
                <a:gd name="adj" fmla="val 8695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‏قَد يَنْزِل الْمَطَر الْيَوْم، فَخُذ مِظَلَّة.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yanzilu l-maṭaru l-yawma, fa-khudh miẓallatan.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It may rain today, so take an umbrella.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4174066" y="1092200"/>
            <a:ext cx="2489200" cy="1168400"/>
          </a:xfrm>
          <a:prstGeom prst="roundRect">
            <a:avLst>
              <a:gd name="adj" fmla="val 8695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33618F"/>
                </a:solidFill>
                <a:latin typeface="Geeza Pro"/>
                <a:cs typeface="Geeza Pro"/>
              </a:rPr>
              <a:t>‏يَنْزِل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present verb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2870200" cy="1168400"/>
          </a:xfrm>
          <a:prstGeom prst="roundRect">
            <a:avLst>
              <a:gd name="adj" fmla="val 8695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Possibility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'may'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47933" y="2362200"/>
            <a:ext cx="5164667" cy="1168400"/>
            <a:chOff x="6747933" y="2362200"/>
            <a:chExt cx="5164667" cy="1168400"/>
          </a:xfrm>
        </p:grpSpPr>
        <p:sp>
          <p:nvSpPr>
            <p:cNvPr id="21" name="Oval 20"/>
            <p:cNvSpPr/>
            <p:nvPr/>
          </p:nvSpPr>
          <p:spPr>
            <a:xfrm>
              <a:off x="11582400" y="27813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747933" y="2362200"/>
              <a:ext cx="4724400" cy="1168400"/>
            </a:xfrm>
            <a:prstGeom prst="roundRect">
              <a:avLst>
                <a:gd name="adj" fmla="val 8695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‏قَد انْتَهَى الِاجْتِمَاع، تَفَضَّل.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qadi ntahā l-ijtimāʿu, tafaḍḍal.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meeting has ended — please come in.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174066" y="2362200"/>
            <a:ext cx="2489200" cy="1168400"/>
          </a:xfrm>
          <a:prstGeom prst="roundRect">
            <a:avLst>
              <a:gd name="adj" fmla="val 8695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33618F"/>
                </a:solidFill>
                <a:latin typeface="Geeza Pro"/>
                <a:cs typeface="Geeza Pro"/>
              </a:rPr>
              <a:t>‏انْتَهَى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past verb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2362200"/>
            <a:ext cx="2870200" cy="1168400"/>
          </a:xfrm>
          <a:prstGeom prst="roundRect">
            <a:avLst>
              <a:gd name="adj" fmla="val 8695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Completion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'has ended'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747933" y="3632200"/>
            <a:ext cx="5164667" cy="1168400"/>
            <a:chOff x="6747933" y="3632200"/>
            <a:chExt cx="5164667" cy="1168400"/>
          </a:xfrm>
        </p:grpSpPr>
        <p:sp>
          <p:nvSpPr>
            <p:cNvPr id="26" name="Oval 25"/>
            <p:cNvSpPr/>
            <p:nvPr/>
          </p:nvSpPr>
          <p:spPr>
            <a:xfrm>
              <a:off x="11582400" y="40513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747933" y="3632200"/>
              <a:ext cx="4724400" cy="1168400"/>
            </a:xfrm>
            <a:prstGeom prst="roundRect">
              <a:avLst>
                <a:gd name="adj" fmla="val 8695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‏قَد يَكُون الْمُدِير فِي اجْتِمَاع.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yakūnu l-mudīru fī jtimāʿin.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manager may be in a meeting.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174066" y="3632200"/>
            <a:ext cx="2489200" cy="1168400"/>
          </a:xfrm>
          <a:prstGeom prst="roundRect">
            <a:avLst>
              <a:gd name="adj" fmla="val 8695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33618F"/>
                </a:solidFill>
                <a:latin typeface="Geeza Pro"/>
                <a:cs typeface="Geeza Pro"/>
              </a:rPr>
              <a:t>‏يَكُون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present verb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3632200"/>
            <a:ext cx="2870200" cy="1168400"/>
          </a:xfrm>
          <a:prstGeom prst="roundRect">
            <a:avLst>
              <a:gd name="adj" fmla="val 8695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Possibility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'may be'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747933" y="4902200"/>
            <a:ext cx="5164667" cy="1168400"/>
            <a:chOff x="6747933" y="4902200"/>
            <a:chExt cx="5164667" cy="1168400"/>
          </a:xfrm>
        </p:grpSpPr>
        <p:sp>
          <p:nvSpPr>
            <p:cNvPr id="31" name="Oval 30"/>
            <p:cNvSpPr/>
            <p:nvPr/>
          </p:nvSpPr>
          <p:spPr>
            <a:xfrm>
              <a:off x="11582400" y="53213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747933" y="4902200"/>
              <a:ext cx="4724400" cy="1168400"/>
            </a:xfrm>
            <a:prstGeom prst="roundRect">
              <a:avLst>
                <a:gd name="adj" fmla="val 8695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‏وَقَد أَعْلَنَت الْوِزَارَة النَّتَائِج.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wa-qad aʿlanati l-wizāratu n-natāʾija.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ministry has announced the results.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174066" y="4902200"/>
            <a:ext cx="2489200" cy="1168400"/>
          </a:xfrm>
          <a:prstGeom prst="roundRect">
            <a:avLst>
              <a:gd name="adj" fmla="val 8695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33618F"/>
                </a:solidFill>
                <a:latin typeface="Geeza Pro"/>
                <a:cs typeface="Geeza Pro"/>
              </a:rPr>
              <a:t>‏أَعْلَنَت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past verb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4902200"/>
            <a:ext cx="2870200" cy="1168400"/>
          </a:xfrm>
          <a:prstGeom prst="roundRect">
            <a:avLst>
              <a:gd name="adj" fmla="val 8695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Completion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FORMAL news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In Conversation and in the News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787400"/>
            <a:ext cx="10718800" cy="2794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5F5F5F"/>
                </a:solidFill>
                <a:latin typeface="Chalkboard SE"/>
                <a:cs typeface="Geeza Pro"/>
              </a:rPr>
              <a:t>EVERYDAY · Two colleagues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657600" y="1092200"/>
            <a:ext cx="8280400" cy="914400"/>
            <a:chOff x="3657600" y="1092200"/>
            <a:chExt cx="8280400" cy="914400"/>
          </a:xfrm>
        </p:grpSpPr>
        <p:sp>
          <p:nvSpPr>
            <p:cNvPr id="14" name="Rounded Rectangle 13"/>
            <p:cNvSpPr/>
            <p:nvPr/>
          </p:nvSpPr>
          <p:spPr>
            <a:xfrm>
              <a:off x="4826000" y="1092200"/>
              <a:ext cx="7112000" cy="914400"/>
            </a:xfrm>
            <a:prstGeom prst="roundRect">
              <a:avLst>
                <a:gd name="adj" fmla="val 19444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‏هَل وَصَلَت رِسَالَتِي؟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hal waṣalat risālatī?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Did my message arrive?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657600" y="13716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8E2453"/>
                  </a:solidFill>
                  <a:latin typeface="Geeza Pro"/>
                  <a:cs typeface="Geeza Pro"/>
                </a:rPr>
                <a:t>‏مُنَى · </a:t>
              </a: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Muna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219200" y="2082800"/>
            <a:ext cx="8280400" cy="914400"/>
            <a:chOff x="1219200" y="2082800"/>
            <a:chExt cx="8280400" cy="914400"/>
          </a:xfrm>
        </p:grpSpPr>
        <p:sp>
          <p:nvSpPr>
            <p:cNvPr id="17" name="Rounded Rectangle 16"/>
            <p:cNvSpPr/>
            <p:nvPr/>
          </p:nvSpPr>
          <p:spPr>
            <a:xfrm>
              <a:off x="1219200" y="2082800"/>
              <a:ext cx="7112000" cy="914400"/>
            </a:xfrm>
            <a:prstGeom prst="roundRect">
              <a:avLst>
                <a:gd name="adj" fmla="val 19444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‏نَعَم،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لَقَد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وَصَلَت وَقَرَأْتُهَا.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naʿam, laqad waṣalat wa-qaraʾtuhā.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Yes, it did arrive, and I've read it.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407400" y="23622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l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‏خَالِد · </a:t>
              </a:r>
              <a:r>
                <a:rPr lang="en-GB" sz="12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Khālid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657600" y="3073400"/>
            <a:ext cx="8280400" cy="914400"/>
            <a:chOff x="3657600" y="3073400"/>
            <a:chExt cx="8280400" cy="914400"/>
          </a:xfrm>
        </p:grpSpPr>
        <p:sp>
          <p:nvSpPr>
            <p:cNvPr id="20" name="Rounded Rectangle 19"/>
            <p:cNvSpPr/>
            <p:nvPr/>
          </p:nvSpPr>
          <p:spPr>
            <a:xfrm>
              <a:off x="4826000" y="3073400"/>
              <a:ext cx="7112000" cy="914400"/>
            </a:xfrm>
            <a:prstGeom prst="roundRect">
              <a:avLst>
                <a:gd name="adj" fmla="val 19444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‏وَمَتَى سَتَرُدّ؟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wa-matā sa-taruddu?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And when will you reply?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657600" y="33528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8E2453"/>
                  </a:solidFill>
                  <a:latin typeface="Geeza Pro"/>
                  <a:cs typeface="Geeza Pro"/>
                </a:rPr>
                <a:t>‏مُنَى · </a:t>
              </a: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Muna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19200" y="4064000"/>
            <a:ext cx="8280400" cy="914400"/>
            <a:chOff x="1219200" y="4064000"/>
            <a:chExt cx="8280400" cy="914400"/>
          </a:xfrm>
        </p:grpSpPr>
        <p:sp>
          <p:nvSpPr>
            <p:cNvPr id="23" name="Rounded Rectangle 22"/>
            <p:cNvSpPr/>
            <p:nvPr/>
          </p:nvSpPr>
          <p:spPr>
            <a:xfrm>
              <a:off x="1219200" y="4064000"/>
              <a:ext cx="7112000" cy="914400"/>
            </a:xfrm>
            <a:prstGeom prst="roundRect">
              <a:avLst>
                <a:gd name="adj" fmla="val 19444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أَرُدّ اللَّيْلَة.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aruddu l-laylata.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may reply tonight.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407400" y="43434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l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‏خَالِد · </a:t>
              </a:r>
              <a:r>
                <a:rPr lang="en-GB" sz="12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Khālid</a:t>
              </a: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1219200" y="5130800"/>
            <a:ext cx="10718800" cy="965200"/>
          </a:xfrm>
          <a:prstGeom prst="roundRect">
            <a:avLst>
              <a:gd name="adj" fmla="val 10526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FORMAL · NEWS REPORT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‏وَ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قَد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أَكَّدَت الشَّرِكَة أَنّ الْخِدْمَة سَتَعُود قَرِيبًا.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wa-qad akkadati sh-sharikatu anna l-khidmata sa-taʿūdu qarīban.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company has confirmed that the service will return soon.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Verb-Form Comparison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0" y="787400"/>
            <a:ext cx="2413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Arabic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0" y="787400"/>
            <a:ext cx="2413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Sound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7000" y="787400"/>
            <a:ext cx="317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Translation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787400"/>
            <a:ext cx="2717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What It Shows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25000" y="1143000"/>
            <a:ext cx="241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‏ذَهَب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2000" y="1143000"/>
            <a:ext cx="241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dhahaba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7000" y="1143000"/>
            <a:ext cx="317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went.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143000"/>
            <a:ext cx="27178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neutral past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5000" y="1676400"/>
            <a:ext cx="2413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ذَهَب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2000" y="1676400"/>
            <a:ext cx="2413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qad dhahaba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1676400"/>
            <a:ext cx="3175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has (already) gone.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1676400"/>
            <a:ext cx="27178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completion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25000" y="2209800"/>
            <a:ext cx="241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 ذَهَب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2000" y="2209800"/>
            <a:ext cx="241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laqad dhahaba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2209800"/>
            <a:ext cx="317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has indeed gone.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209800"/>
            <a:ext cx="27178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completion, stressed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5000" y="2743200"/>
            <a:ext cx="2413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‏يَذْهَب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2000" y="2743200"/>
            <a:ext cx="2413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yadhhabu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2743200"/>
            <a:ext cx="3175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goes / is going.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2743200"/>
            <a:ext cx="27178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neutral present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5000" y="3276600"/>
            <a:ext cx="241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يَذْهَب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12000" y="3276600"/>
            <a:ext cx="241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qad yadhhabu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3276600"/>
            <a:ext cx="317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may go.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9200" y="3276600"/>
            <a:ext cx="27178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possibility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25000" y="3810000"/>
            <a:ext cx="2413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لَا يَذْهَب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12000" y="3810000"/>
            <a:ext cx="2413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qad lā yadhhabu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7000" y="3810000"/>
            <a:ext cx="3175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may not go.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19200" y="3810000"/>
            <a:ext cx="27178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negative possibility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25000" y="4343400"/>
            <a:ext cx="241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‏سَيَذْهَب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12000" y="4343400"/>
            <a:ext cx="241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sa-yadhhabu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7000" y="4343400"/>
            <a:ext cx="317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He will go.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19200" y="4343400"/>
            <a:ext cx="27178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‎future — no </a:t>
            </a:r>
            <a:r>
              <a:rPr lang="ar-SA" altLang="en-GB" sz="1500" b="0" i="0" dirty="0">
                <a:solidFill>
                  <a:srgbClr val="262626"/>
                </a:solidFill>
                <a:latin typeface="Geeza Pro"/>
                <a:cs typeface="Geeza Pro"/>
              </a:rPr>
              <a:t>قَد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654800" y="4978400"/>
            <a:ext cx="5283200" cy="1244600"/>
            <a:chOff x="6654800" y="4978400"/>
            <a:chExt cx="5283200" cy="1244600"/>
          </a:xfrm>
        </p:grpSpPr>
        <p:sp>
          <p:nvSpPr>
            <p:cNvPr id="45" name="Rounded Rectangle 44"/>
            <p:cNvSpPr/>
            <p:nvPr/>
          </p:nvSpPr>
          <p:spPr>
            <a:xfrm>
              <a:off x="6654800" y="4978400"/>
              <a:ext cx="5283200" cy="1244600"/>
            </a:xfrm>
            <a:prstGeom prst="roundRect">
              <a:avLst>
                <a:gd name="adj" fmla="val 8163"/>
              </a:avLst>
            </a:prstGeom>
            <a:solidFill>
              <a:srgbClr val="FBEAEA"/>
            </a:solidFill>
            <a:ln w="12700">
              <a:solidFill>
                <a:srgbClr val="C628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705600" y="5003800"/>
              <a:ext cx="5181600" cy="11938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C62828"/>
                  </a:solidFill>
                  <a:latin typeface="Chalkboard SE"/>
                  <a:cs typeface="Geeza Pro"/>
                </a:rPr>
                <a:t>NOT USED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‎These combinations are not used: </a:t>
              </a:r>
              <a:r>
                <a:rPr lang="en-GB" sz="1400" b="1" i="0" dirty="0">
                  <a:solidFill>
                    <a:srgbClr val="C62828"/>
                  </a:solidFill>
                  <a:latin typeface="Chalkboard SE"/>
                  <a:cs typeface="Geeza Pro"/>
                </a:rPr>
                <a:t>✗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لَقَد يَذْهَب · </a:t>
              </a:r>
              <a:r>
                <a:rPr lang="en-GB" sz="1400" b="1" i="0" dirty="0">
                  <a:solidFill>
                    <a:srgbClr val="C62828"/>
                  </a:solidFill>
                  <a:latin typeface="Chalkboard SE"/>
                  <a:cs typeface="Geeza Pro"/>
                </a:rPr>
                <a:t>✗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قَد سَيَذْهَب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219200" y="4978400"/>
            <a:ext cx="5283200" cy="1244600"/>
            <a:chOff x="1219200" y="4978400"/>
            <a:chExt cx="5283200" cy="1244600"/>
          </a:xfrm>
        </p:grpSpPr>
        <p:sp>
          <p:nvSpPr>
            <p:cNvPr id="48" name="Rounded Rectangle 47"/>
            <p:cNvSpPr/>
            <p:nvPr/>
          </p:nvSpPr>
          <p:spPr>
            <a:xfrm>
              <a:off x="1219200" y="4978400"/>
              <a:ext cx="5283200" cy="1244600"/>
            </a:xfrm>
            <a:prstGeom prst="roundRect">
              <a:avLst>
                <a:gd name="adj" fmla="val 816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270000" y="5003800"/>
              <a:ext cx="5181600" cy="11938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YOU MAY ALSO MEET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‎Further ahead: </a:t>
              </a:r>
              <a:r>
                <a:rPr lang="ar-SA" altLang="en-GB" sz="155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لَأُسَاعِدَنَّك (</a:t>
              </a:r>
              <a:r>
                <a:rPr lang="en-GB" sz="12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la-usāʿidannaka</a:t>
              </a: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'I will certainly help you') uses an emphatic </a:t>
              </a:r>
              <a:r>
                <a:rPr lang="en-GB" sz="12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-nna</a:t>
              </a: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ending — not one of this chapter's tools.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8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2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‎Practice: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قَد‎, لَقَد‎, لَـ —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or Nothing?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7933" y="78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066" y="787400"/>
            <a:ext cx="2489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CUE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2870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ANSWER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47933" y="1092200"/>
            <a:ext cx="5164667" cy="812800"/>
            <a:chOff x="6747933" y="1092200"/>
            <a:chExt cx="5164667" cy="812800"/>
          </a:xfrm>
        </p:grpSpPr>
        <p:sp>
          <p:nvSpPr>
            <p:cNvPr id="16" name="Oval 15"/>
            <p:cNvSpPr/>
            <p:nvPr/>
          </p:nvSpPr>
          <p:spPr>
            <a:xfrm>
              <a:off x="11582400" y="13335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47933" y="10922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يَتَأَخَّر الْبَاص بِسَبَب الزَّحْمَة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bus may be late because of traffic.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4174066" y="10922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present verb + 'may'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qad yataʾakhkharu l-bāṣu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47933" y="1968500"/>
            <a:ext cx="5164667" cy="812800"/>
            <a:chOff x="6747933" y="1968500"/>
            <a:chExt cx="5164667" cy="812800"/>
          </a:xfrm>
        </p:grpSpPr>
        <p:sp>
          <p:nvSpPr>
            <p:cNvPr id="21" name="Oval 20"/>
            <p:cNvSpPr/>
            <p:nvPr/>
          </p:nvSpPr>
          <p:spPr>
            <a:xfrm>
              <a:off x="11582400" y="2209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747933" y="19685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نَجَحْت فِي الِامْتِحَان!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I've actually passed the exam!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174066" y="19685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past verb + strong feeling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19685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‏لَقَد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laqad najaḥtu fī l-imtiḥāni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747933" y="2844800"/>
            <a:ext cx="5164667" cy="812800"/>
            <a:chOff x="6747933" y="2844800"/>
            <a:chExt cx="5164667" cy="812800"/>
          </a:xfrm>
        </p:grpSpPr>
        <p:sp>
          <p:nvSpPr>
            <p:cNvPr id="26" name="Oval 25"/>
            <p:cNvSpPr/>
            <p:nvPr/>
          </p:nvSpPr>
          <p:spPr>
            <a:xfrm>
              <a:off x="11582400" y="30861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747933" y="28448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سَأُسَافِر غَدًا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will travel tomorrow.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174066" y="28448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future verb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28448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nothing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sa-usāfiru ghadan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747933" y="3721100"/>
            <a:ext cx="5164667" cy="812800"/>
            <a:chOff x="6747933" y="3721100"/>
            <a:chExt cx="5164667" cy="812800"/>
          </a:xfrm>
        </p:grpSpPr>
        <p:sp>
          <p:nvSpPr>
            <p:cNvPr id="31" name="Oval 30"/>
            <p:cNvSpPr/>
            <p:nvPr/>
          </p:nvSpPr>
          <p:spPr>
            <a:xfrm>
              <a:off x="11582400" y="39624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747933" y="37211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أَنْهَيْنَا الْمَشْرُوع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We have completed the project.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174066" y="37211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past verb, completion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37211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‎or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لَقَد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for more force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qad anhaynā l-mashrūʿa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747933" y="4597400"/>
            <a:ext cx="5164667" cy="812800"/>
            <a:chOff x="6747933" y="4597400"/>
            <a:chExt cx="5164667" cy="812800"/>
          </a:xfrm>
        </p:grpSpPr>
        <p:sp>
          <p:nvSpPr>
            <p:cNvPr id="36" name="Oval 35"/>
            <p:cNvSpPr/>
            <p:nvPr/>
          </p:nvSpPr>
          <p:spPr>
            <a:xfrm>
              <a:off x="11582400" y="48387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747933" y="45974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النَّتِيجَة ــــــرَائِعَة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result is truly wonderful.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4174066" y="45974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‎predicate after </a:t>
            </a:r>
            <a:r>
              <a:rPr lang="ar-SA" altLang="en-GB" sz="1450" b="0" i="0" dirty="0">
                <a:solidFill>
                  <a:srgbClr val="33618F"/>
                </a:solidFill>
                <a:latin typeface="Geeza Pro"/>
                <a:cs typeface="Geeza Pro"/>
              </a:rPr>
              <a:t>إِنّ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45974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‏لَـ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← لَرَائِعَة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n-natījata la-rāʾiʿatun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747933" y="5473700"/>
            <a:ext cx="5164667" cy="812800"/>
            <a:chOff x="6747933" y="5473700"/>
            <a:chExt cx="5164667" cy="812800"/>
          </a:xfrm>
        </p:grpSpPr>
        <p:sp>
          <p:nvSpPr>
            <p:cNvPr id="41" name="Oval 40"/>
            <p:cNvSpPr/>
            <p:nvPr/>
          </p:nvSpPr>
          <p:spPr>
            <a:xfrm>
              <a:off x="11582400" y="57150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6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6747933" y="54737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أَعْمَل فِي الْمَكْتَب كُلّ يَوْم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work in the office every day.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4174066" y="54737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routine fact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19200" y="54737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nothing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aʿmalu fī l-maktabi kulla yawmin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4 of 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Stop 4 of 6 · slides 42–54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2000" y="1016000"/>
            <a:ext cx="7874000" cy="38100"/>
          </a:xfrm>
          <a:prstGeom prst="rect">
            <a:avLst/>
          </a:prstGeom>
          <a:solidFill>
            <a:srgbClr val="D9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363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88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What Emphasis Means</a:t>
            </a:r>
          </a:p>
        </p:txBody>
      </p:sp>
      <p:sp>
        <p:nvSpPr>
          <p:cNvPr id="14" name="Oval 13"/>
          <p:cNvSpPr/>
          <p:nvPr/>
        </p:nvSpPr>
        <p:spPr>
          <a:xfrm>
            <a:off x="94615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38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Inside a Sentence</a:t>
            </a:r>
          </a:p>
        </p:txBody>
      </p:sp>
      <p:sp>
        <p:nvSpPr>
          <p:cNvPr id="16" name="Oval 15"/>
          <p:cNvSpPr/>
          <p:nvPr/>
        </p:nvSpPr>
        <p:spPr>
          <a:xfrm>
            <a:off x="78867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Before &amp; Within a Verb</a:t>
            </a:r>
          </a:p>
        </p:txBody>
      </p:sp>
      <p:sp>
        <p:nvSpPr>
          <p:cNvPr id="18" name="Oval 17"/>
          <p:cNvSpPr/>
          <p:nvPr/>
        </p:nvSpPr>
        <p:spPr>
          <a:xfrm>
            <a:off x="6261100" y="844550"/>
            <a:ext cx="381000" cy="381000"/>
          </a:xfrm>
          <a:prstGeom prst="ellipse">
            <a:avLst/>
          </a:prstGeom>
          <a:solidFill>
            <a:srgbClr val="8E2453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42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1" i="0" dirty="0">
                <a:solidFill>
                  <a:srgbClr val="8E2453"/>
                </a:solidFill>
                <a:latin typeface="Chalkboard SE"/>
                <a:cs typeface="Geeza Pro"/>
              </a:rPr>
              <a:t>Restriction &amp; Completeness</a:t>
            </a:r>
          </a:p>
        </p:txBody>
      </p:sp>
      <p:sp>
        <p:nvSpPr>
          <p:cNvPr id="20" name="Oval 19"/>
          <p:cNvSpPr/>
          <p:nvPr/>
        </p:nvSpPr>
        <p:spPr>
          <a:xfrm>
            <a:off x="47371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94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Putting It Together</a:t>
            </a:r>
          </a:p>
        </p:txBody>
      </p:sp>
      <p:sp>
        <p:nvSpPr>
          <p:cNvPr id="22" name="Oval 21"/>
          <p:cNvSpPr/>
          <p:nvPr/>
        </p:nvSpPr>
        <p:spPr>
          <a:xfrm>
            <a:off x="31623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Clearing the Confusion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889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0800" y="1574800"/>
            <a:ext cx="6807200" cy="1320800"/>
          </a:xfrm>
          <a:prstGeom prst="roundRect">
            <a:avLst>
              <a:gd name="adj" fmla="val 11538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127000" tIns="50800" rIns="127000" bIns="254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800" b="1" i="0" dirty="0">
                <a:solidFill>
                  <a:srgbClr val="FFFFFF"/>
                </a:solidFill>
                <a:latin typeface="Chalkboard SE"/>
                <a:cs typeface="Geeza Pro"/>
              </a:rPr>
              <a:t>Emphasis, Restriction and Completeness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  <a:latin typeface="Chalkboard SE"/>
                <a:cs typeface="Geeza Pro"/>
              </a:rPr>
              <a:t>Limiting a statement · stressing identity · stressing totality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FFFFFF"/>
                </a:solidFill>
                <a:latin typeface="Geeza Pro"/>
                <a:cs typeface="Geeza Pro"/>
              </a:rPr>
              <a:t>‏الْقَصْر وَالتَّوْكِيد الْمَعْنَوِيّ  </a:t>
            </a:r>
            <a:r>
              <a:rPr lang="en-GB" sz="1800" b="1" i="0" dirty="0">
                <a:solidFill>
                  <a:srgbClr val="FFFFFF"/>
                </a:solidFill>
                <a:latin typeface="Chalkboard SE"/>
                <a:cs typeface="Geeza Pro"/>
              </a:rPr>
              <a:t>· al-qaṣr wa-t-tawkīd al-maʿnawī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9200" y="1574800"/>
            <a:ext cx="3810000" cy="1320800"/>
          </a:xfrm>
          <a:prstGeom prst="roundRect">
            <a:avLst>
              <a:gd name="adj" fmla="val 11538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152400" tIns="50800" rIns="1524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THE FOCUS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‎Use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إِنَّمَا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to limit a statement, and the nouns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نَفْس، عَيْن، كُلّ، جَمِيع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with the right pronoun suffix.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971800"/>
            <a:ext cx="10718800" cy="254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TOOLS IN THIS 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80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only, merely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innamā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1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self, same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‏نَفْس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nafs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62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the very same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‏عَيْن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ʿayn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3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all, every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‏كُلّ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kull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44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all, altogether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‏جَمِيع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jamīʿ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66666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1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‎Use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إِنَّمَا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to restrict a statement, and know what it does NOT mean.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2933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2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‎Make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نَفْس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and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عَيْن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agree with the noun they follow.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9200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3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‎Choose correctly between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كُلّ 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and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جَمِيع.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6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إِنَّمَا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innamā) — Only, Merely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43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318000" y="838200"/>
            <a:ext cx="6096000" cy="812800"/>
            <a:chOff x="4318000" y="838200"/>
            <a:chExt cx="6096000" cy="812800"/>
          </a:xfrm>
        </p:grpSpPr>
        <p:sp>
          <p:nvSpPr>
            <p:cNvPr id="13" name="Rounded Rectangle 12"/>
            <p:cNvSpPr/>
            <p:nvPr/>
          </p:nvSpPr>
          <p:spPr>
            <a:xfrm>
              <a:off x="8890000" y="838200"/>
              <a:ext cx="1524000" cy="8128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4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82000" y="1016000"/>
              <a:ext cx="508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2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+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858000" y="838200"/>
              <a:ext cx="1524000" cy="8128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4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‏مَا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50000" y="1016000"/>
              <a:ext cx="508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2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=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318000" y="838200"/>
              <a:ext cx="2032000" cy="812800"/>
            </a:xfrm>
            <a:prstGeom prst="roundRect">
              <a:avLst>
                <a:gd name="adj" fmla="val 1562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26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‏إِنَّمَا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1219200" y="1803400"/>
            <a:ext cx="10718800" cy="1270000"/>
          </a:xfrm>
          <a:prstGeom prst="roundRect">
            <a:avLst>
              <a:gd name="adj" fmla="val 10000"/>
            </a:avLst>
          </a:prstGeom>
          <a:solidFill>
            <a:srgbClr val="FBF3F7"/>
          </a:solidFill>
          <a:ln w="12700">
            <a:solidFill>
              <a:srgbClr val="D9CDD3"/>
            </a:solidFill>
          </a:ln>
        </p:spPr>
        <p:txBody>
          <a:bodyPr rtlCol="0" anchor="ctr" wrap="square" lIns="152400" tIns="50800" rIns="1524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262626"/>
                </a:solidFill>
                <a:latin typeface="Chalkboard SE"/>
                <a:cs typeface="Geeza Pro"/>
              </a:rPr>
              <a:t>Meaning: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 restriction (</a:t>
            </a:r>
            <a:r>
              <a:rPr lang="en-GB" sz="1400" b="0" i="1" dirty="0">
                <a:solidFill>
                  <a:srgbClr val="5F5F5F"/>
                </a:solidFill>
                <a:latin typeface="Chalkboard SE"/>
                <a:cs typeface="Geeza Pro"/>
              </a:rPr>
              <a:t>qaṣr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) — 'only, merely, nothing more than'. It limits; it does not just strengthen.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262626"/>
                </a:solidFill>
                <a:latin typeface="Chalkboard SE"/>
                <a:cs typeface="Geeza Pro"/>
              </a:rPr>
              <a:t>‎Grammar: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 the 'restraining </a:t>
            </a:r>
            <a:r>
              <a:rPr lang="en-GB" sz="1400" b="0" i="1" dirty="0">
                <a:solidFill>
                  <a:srgbClr val="5F5F5F"/>
                </a:solidFill>
                <a:latin typeface="Chalkboard SE"/>
                <a:cs typeface="Geeza Pro"/>
              </a:rPr>
              <a:t>mā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' cancels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إِنّ'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s effect, so endings stay normal. It can come before a noun or a verb.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262626"/>
                </a:solidFill>
                <a:latin typeface="Chalkboard SE"/>
                <a:cs typeface="Geeza Pro"/>
              </a:rPr>
              <a:t>‎Register: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 FORMAL and written; everyday speech prefers 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فَقَط (</a:t>
            </a:r>
            <a:r>
              <a:rPr lang="en-GB" sz="1400" b="0" i="1" dirty="0">
                <a:solidFill>
                  <a:srgbClr val="5F5F5F"/>
                </a:solidFill>
                <a:latin typeface="Chalkboard SE"/>
                <a:cs typeface="Geeza Pro"/>
              </a:rPr>
              <a:t>faqaṭ</a:t>
            </a: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, 'only').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4800" y="3251200"/>
            <a:ext cx="5283200" cy="13970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FAMOUS HADITH · BEFORE A NOUN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الْأَعْمَال بِالنِّيَّات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innamā l-aʿmālu bi-n-niyyāti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Actions are judged only by intentions.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19200" y="3251200"/>
            <a:ext cx="5283200" cy="13970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BEFORE A VERB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أَرَدْت الْمُسَاعَدَة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innamā aradtu l-musāʿadata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 only wanted to help.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219200" y="4826000"/>
            <a:ext cx="10718800" cy="1219200"/>
            <a:chOff x="1219200" y="4826000"/>
            <a:chExt cx="10718800" cy="1219200"/>
          </a:xfrm>
        </p:grpSpPr>
        <p:sp>
          <p:nvSpPr>
            <p:cNvPr id="22" name="Rounded Rectangle 21"/>
            <p:cNvSpPr/>
            <p:nvPr/>
          </p:nvSpPr>
          <p:spPr>
            <a:xfrm>
              <a:off x="1219200" y="4826000"/>
              <a:ext cx="10718800" cy="1219200"/>
            </a:xfrm>
            <a:prstGeom prst="roundRect">
              <a:avLst>
                <a:gd name="adj" fmla="val 833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70000" y="4851400"/>
              <a:ext cx="10617200" cy="1168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NO CASE CHANGE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‎After 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إِنَّمَا 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subject keeps </a:t>
              </a:r>
              <a:r>
                <a:rPr lang="en-GB" sz="15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-u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: </a:t>
              </a:r>
              <a:r>
                <a:rPr lang="en-GB" sz="15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 l-aʿmāl</a:t>
              </a:r>
              <a:r>
                <a:rPr lang="en-GB" sz="15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u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— compare </a:t>
              </a:r>
              <a:r>
                <a:rPr lang="en-GB" sz="15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l-aʿmāl</a:t>
              </a:r>
              <a:r>
                <a:rPr lang="en-GB" sz="15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a</a:t>
              </a:r>
              <a:r>
                <a:rPr lang="en-GB" sz="15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‎How Restriction Works with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إِنَّمَا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44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limited idea usually comes LAST. Everything else is excluded.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6858000" y="1320800"/>
            <a:ext cx="5080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Example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83000" y="1320800"/>
            <a:ext cx="317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Translation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9200" y="1320800"/>
            <a:ext cx="2463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What Is Limited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676400"/>
            <a:ext cx="5080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أَنَا مُوَظَّف جَدِيد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innamā ana muwaẓẓafun jadīdun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3000" y="1676400"/>
            <a:ext cx="3175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I'm only a new employee.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9200" y="1676400"/>
            <a:ext cx="24638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what I am: nothing more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667000"/>
            <a:ext cx="5080000" cy="990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الْعِلْم بِالتَّعَلُّم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innamā l-ʿilmu bi-t-taʿallumi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3000" y="2667000"/>
            <a:ext cx="3175000" cy="990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Knowledge comes only through learning.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2667000"/>
            <a:ext cx="2463800" cy="990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the way to knowledge: one way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657600"/>
            <a:ext cx="5080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‏لَم أَقْصِد الْإِسَاءَة،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وَإِنَّمَا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أَرَدْت الْمُسَاعَدَة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lam aqṣidi l-isāʾata, wa-innamā aradtu l-musāʿadata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83000" y="3657600"/>
            <a:ext cx="3175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I didn't mean to offend; I only wanted to help.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3657600"/>
            <a:ext cx="24638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‎after a negative, </a:t>
            </a:r>
            <a:r>
              <a:rPr lang="ar-SA" altLang="en-GB" sz="1500" b="0" i="0" dirty="0">
                <a:solidFill>
                  <a:srgbClr val="262626"/>
                </a:solidFill>
                <a:latin typeface="Geeza Pro"/>
                <a:cs typeface="Geeza Pro"/>
              </a:rPr>
              <a:t>وَإِنَّمَا = '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but rather'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54800" y="4826000"/>
            <a:ext cx="5283200" cy="1320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ANOTHER RESTRICTION PATTERN (often stronger)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‏مَا أَنَا إِلَّا مُوَظَّف جَدِيد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mā ana illā muwaẓẓafun jadīdun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I'm nothing but a new employee.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4826000"/>
            <a:ext cx="5283200" cy="1320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‎EVERYDAY: </a:t>
            </a:r>
            <a:r>
              <a:rPr lang="ar-SA" altLang="en-GB" sz="1400" b="1" i="0" dirty="0">
                <a:solidFill>
                  <a:srgbClr val="8E2453"/>
                </a:solidFill>
                <a:latin typeface="Geeza Pro"/>
                <a:cs typeface="Geeza Pro"/>
              </a:rPr>
              <a:t>فَقَط '</a:t>
            </a: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only'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‏أَنَا مُوَظَّف جَدِيد فَقَط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ana muwaẓẓafun jadīdun faqaṭ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I'm only a new employee.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7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نَفْس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nafs) — Self, Same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45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word 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نَفْس </a:t>
              </a: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is a NOUN (literally 'self, soul'), not a particle. Its position changes the meaning.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483600" y="1346200"/>
            <a:ext cx="3454400" cy="3327400"/>
            <a:chOff x="8483600" y="1346200"/>
            <a:chExt cx="3454400" cy="3327400"/>
          </a:xfrm>
        </p:grpSpPr>
        <p:sp>
          <p:nvSpPr>
            <p:cNvPr id="17" name="Rounded Rectangle 16"/>
            <p:cNvSpPr/>
            <p:nvPr/>
          </p:nvSpPr>
          <p:spPr>
            <a:xfrm>
              <a:off x="8483600" y="1346200"/>
              <a:ext cx="3454400" cy="3327400"/>
            </a:xfrm>
            <a:prstGeom prst="roundRect">
              <a:avLst>
                <a:gd name="adj" fmla="val 381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4836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36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4836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AFTER a Noun + Suffix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509000" y="1752600"/>
              <a:ext cx="34036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'-self' (emphasis)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‏حَضَر الْمُدِير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نَفْسُه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ḥaḍara l-mudīru nafsuhu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manager himself attended.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Follows the noun's case. Can also mean 'the same' in formal style.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51400" y="1346200"/>
            <a:ext cx="3454400" cy="3327400"/>
            <a:chOff x="4851400" y="1346200"/>
            <a:chExt cx="3454400" cy="3327400"/>
          </a:xfrm>
        </p:grpSpPr>
        <p:sp>
          <p:nvSpPr>
            <p:cNvPr id="23" name="Rounded Rectangle 22"/>
            <p:cNvSpPr/>
            <p:nvPr/>
          </p:nvSpPr>
          <p:spPr>
            <a:xfrm>
              <a:off x="4851400" y="1346200"/>
              <a:ext cx="3454400" cy="3327400"/>
            </a:xfrm>
            <a:prstGeom prst="roundRect">
              <a:avLst>
                <a:gd name="adj" fmla="val 381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8514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8514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514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BEFORE a Noun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876800" y="1752600"/>
              <a:ext cx="34036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'the same'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‏نَسْكُن فِي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نَفْس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الْحَيّ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naskunu fī nafsi l-ḥayyi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We live in the same neighbourhood.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A possessive structure, very common in modern Arabic.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19200" y="1346200"/>
            <a:ext cx="3454400" cy="3327400"/>
            <a:chOff x="1219200" y="1346200"/>
            <a:chExt cx="3454400" cy="3327400"/>
          </a:xfrm>
        </p:grpSpPr>
        <p:sp>
          <p:nvSpPr>
            <p:cNvPr id="29" name="Rounded Rectangle 28"/>
            <p:cNvSpPr/>
            <p:nvPr/>
          </p:nvSpPr>
          <p:spPr>
            <a:xfrm>
              <a:off x="1219200" y="1346200"/>
              <a:ext cx="3454400" cy="3327400"/>
            </a:xfrm>
            <a:prstGeom prst="roundRect">
              <a:avLst>
                <a:gd name="adj" fmla="val 381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2192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92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192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‎With the Prefix </a:t>
              </a:r>
              <a:r>
                <a:rPr lang="ar-SA" altLang="en-GB" sz="175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بِـ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44600" y="1752600"/>
              <a:ext cx="34036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'personally, by myself'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‏سَأَتَكَلَّم مَعَه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بِنَفْسِي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sa-atakallamu maʿahu bi-nafsī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I'll speak to him myself.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45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‎بِنَفْسِي · بِنَفْسِك · بِنَفْسِه …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219200" y="4851400"/>
            <a:ext cx="10718800" cy="1193800"/>
            <a:chOff x="1219200" y="4851400"/>
            <a:chExt cx="10718800" cy="1193800"/>
          </a:xfrm>
        </p:grpSpPr>
        <p:sp>
          <p:nvSpPr>
            <p:cNvPr id="35" name="Rounded Rectangle 34"/>
            <p:cNvSpPr/>
            <p:nvPr/>
          </p:nvSpPr>
          <p:spPr>
            <a:xfrm>
              <a:off x="1219200" y="4851400"/>
              <a:ext cx="10718800" cy="1193800"/>
            </a:xfrm>
            <a:prstGeom prst="roundRect">
              <a:avLst>
                <a:gd name="adj" fmla="val 851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270000" y="4876800"/>
              <a:ext cx="1061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KEEP THEM APART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‎Only the first use is grammatical emphasis (</a:t>
              </a:r>
              <a:r>
                <a:rPr lang="en-GB" sz="13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tawkīd</a:t>
              </a:r>
              <a:r>
                <a:rPr lang="ar-SA" altLang="en-GB" sz="165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). نَفْس الشَّخْص (</a:t>
              </a:r>
              <a:r>
                <a:rPr lang="en-GB" sz="13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nafsu sh-shakhṣi</a:t>
              </a:r>
              <a:r>
                <a:rPr lang="en-GB" sz="13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= 'the same person'; </a:t>
              </a:r>
              <a:r>
                <a:rPr lang="ar-SA" altLang="en-GB" sz="165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الشَّخْص نَفْسُه (</a:t>
              </a:r>
              <a:r>
                <a:rPr lang="en-GB" sz="13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ash-shakhṣu nafsuhu</a:t>
              </a:r>
              <a:r>
                <a:rPr lang="en-GB" sz="13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= 'the person himself' (or, formally, 'the same person').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8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عَيْن (ʿ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ayn) — The Very Same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46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word 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عَيْن </a:t>
              </a: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is a NOUN (literally 'eye'). After a noun with a suffix it means 'the very same'. FORMAL.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7366000" y="1320800"/>
            <a:ext cx="4572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Example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4000" y="1320800"/>
            <a:ext cx="3302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Translation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9200" y="1320800"/>
            <a:ext cx="2844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Agreement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6000" y="1676400"/>
            <a:ext cx="4572000" cy="86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‏هَذَا هُو الْكِتَاب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عَيْنُه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hādhā huwa l-kitābu ʿaynuhu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4000" y="1676400"/>
            <a:ext cx="3302000" cy="86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This is the very same book.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9200" y="1676400"/>
            <a:ext cx="2844800" cy="86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subject case: </a:t>
            </a: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ʿaynu-hu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6000" y="2540000"/>
            <a:ext cx="4572000" cy="863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‏رَأَيْت الرَّجُل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عَيْنَه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raʾaytu r-rajula ʿaynahu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4000" y="2540000"/>
            <a:ext cx="3302000" cy="863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I saw the very same man.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2540000"/>
            <a:ext cx="2844800" cy="863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object case: </a:t>
            </a: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ʿayna-hu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6000" y="3403600"/>
            <a:ext cx="4572000" cy="86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‏الْفِكْرَة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عَيْنُهَا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al-fikratu ʿaynuhā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4000" y="3403600"/>
            <a:ext cx="3302000" cy="86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the very same idea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3403600"/>
            <a:ext cx="2844800" cy="86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feminine noun: </a:t>
            </a: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-hā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6000" y="4267200"/>
            <a:ext cx="4572000" cy="863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‏هَذَا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عَيْن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الصَّوَاب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hādhā ʿaynu ṣ-ṣawābi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4000" y="4267200"/>
            <a:ext cx="3302000" cy="863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This is exactly right.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9200" y="4267200"/>
            <a:ext cx="2844800" cy="863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fixed expression, before a noun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219200" y="5207000"/>
            <a:ext cx="10718800" cy="889000"/>
            <a:chOff x="1219200" y="5207000"/>
            <a:chExt cx="10718800" cy="889000"/>
          </a:xfrm>
        </p:grpSpPr>
        <p:sp>
          <p:nvSpPr>
            <p:cNvPr id="32" name="Rounded Rectangle 31"/>
            <p:cNvSpPr/>
            <p:nvPr/>
          </p:nvSpPr>
          <p:spPr>
            <a:xfrm>
              <a:off x="1219200" y="5207000"/>
              <a:ext cx="10718800" cy="889000"/>
            </a:xfrm>
            <a:prstGeom prst="roundRect">
              <a:avLst>
                <a:gd name="adj" fmla="val 11428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70000" y="5232400"/>
              <a:ext cx="106172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AGREEMENT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‎Like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نَفْس‎,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word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عَيْن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follows the case of its noun and takes a matching pronoun suffix. In everyday speech,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نَفْس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is far more common.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Agreement: The Pronoun Suffix Must 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0" y="787400"/>
            <a:ext cx="2540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The Noun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000" y="787400"/>
            <a:ext cx="317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‎with </a:t>
            </a:r>
            <a:r>
              <a:rPr lang="ar-SA" altLang="en-GB" sz="1500" b="1" i="0" dirty="0">
                <a:solidFill>
                  <a:srgbClr val="FFFFFF"/>
                </a:solidFill>
                <a:latin typeface="Geeza Pro"/>
                <a:cs typeface="Geeza Pro"/>
              </a:rPr>
              <a:t>نَفْس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787400"/>
            <a:ext cx="317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‎with </a:t>
            </a:r>
            <a:r>
              <a:rPr lang="ar-SA" altLang="en-GB" sz="1500" b="1" i="0" dirty="0">
                <a:solidFill>
                  <a:srgbClr val="FFFFFF"/>
                </a:solidFill>
                <a:latin typeface="Geeza Pro"/>
                <a:cs typeface="Geeza Pro"/>
              </a:rPr>
              <a:t>كُلّ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787400"/>
            <a:ext cx="1828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Suffix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0" y="1143000"/>
            <a:ext cx="2540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masculine singular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‏(الْمُدِير)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000" y="1143000"/>
            <a:ext cx="3175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‏الْمُدِير نَفْسُه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al-mudīru nafsuhu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8000" y="1143000"/>
            <a:ext cx="3175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‏الْكِتَاب كُلُّه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al-kitābu kulluhu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143000"/>
            <a:ext cx="18288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-hu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98000" y="1930400"/>
            <a:ext cx="2540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feminine singular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‏(الْمُدِيرَة)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3000" y="1930400"/>
            <a:ext cx="3175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‏الْمُدِيرَة نَفْسُهَا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al-mudīratu nafsuhā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0" y="1930400"/>
            <a:ext cx="3175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‏الْمَدِينَة كُلُّهَا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al-madīnatu kulluhā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1930400"/>
            <a:ext cx="18288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-hā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98000" y="2717800"/>
            <a:ext cx="2540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masculine plural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(people)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3000" y="2717800"/>
            <a:ext cx="3175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‏الطُّلَّاب أَنْفُسُهُم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aṭ-ṭullābu anfusuhum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8000" y="2717800"/>
            <a:ext cx="3175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‏الطُّلَّاب كُلُّهُم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aṭ-ṭullābu kulluhum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717800"/>
            <a:ext cx="18288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-hum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98000" y="3505200"/>
            <a:ext cx="2540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feminine plural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(people)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3000" y="3505200"/>
            <a:ext cx="3175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‏الطَّالِبَات أَنْفُسُهُنّ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aṭ-ṭālibātu anfusuhunna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0" y="3505200"/>
            <a:ext cx="3175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‏الطَّالِبَات كُلُّهُنّ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aṭ-ṭālibātu kulluhunna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3505200"/>
            <a:ext cx="18288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-hunna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98000" y="4292600"/>
            <a:ext cx="2540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plural of things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3000" y="4292600"/>
            <a:ext cx="3175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48000" y="4292600"/>
            <a:ext cx="3175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‏الْكُتُب كُلُّهَا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al-kutubu kulluhā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9200" y="4292600"/>
            <a:ext cx="18288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-hā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(things)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219200" y="5156200"/>
            <a:ext cx="10718800" cy="1066800"/>
            <a:chOff x="1219200" y="5156200"/>
            <a:chExt cx="10718800" cy="1066800"/>
          </a:xfrm>
        </p:grpSpPr>
        <p:sp>
          <p:nvSpPr>
            <p:cNvPr id="37" name="Rounded Rectangle 36"/>
            <p:cNvSpPr/>
            <p:nvPr/>
          </p:nvSpPr>
          <p:spPr>
            <a:xfrm>
              <a:off x="1219200" y="5156200"/>
              <a:ext cx="10718800" cy="1066800"/>
            </a:xfrm>
            <a:prstGeom prst="roundRect">
              <a:avLst>
                <a:gd name="adj" fmla="val 952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70000" y="5181600"/>
              <a:ext cx="10617200" cy="1016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CASE TOO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word also copies the case: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جَاء الْمُدِير نَفْسُه (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nafsu-hu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) · رَأَيْت الْمُدِير نَفْسَه (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nafsa-hu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) · سَلَّمْت عَلَى الْمُدِير نَفْسِه (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nafsi-hu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). Plural of </a:t>
              </a:r>
              <a:r>
                <a:rPr lang="ar-SA" altLang="en-GB" sz="16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نَفْس‎: أَنْفُس (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anfus</a:t>
              </a: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9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كُلّ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kull) — All, Every, Whole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71000" y="787400"/>
            <a:ext cx="2667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787400"/>
            <a:ext cx="3556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5000" y="787400"/>
            <a:ext cx="2540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Meaning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787400"/>
            <a:ext cx="1955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1000" y="1143000"/>
            <a:ext cx="2667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‏كُلّ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indefinite singular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1143000"/>
            <a:ext cx="3556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‏كُلّ يَوْم · كُلّ طَالِب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kulla yawmin · kullu ṭālibin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5000" y="1143000"/>
            <a:ext cx="2540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every day · every student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143000"/>
            <a:ext cx="19558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quantifier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71000" y="1930400"/>
            <a:ext cx="2667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‏كُلّ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definite plural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1930400"/>
            <a:ext cx="3556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‏كُلّ الطُّلَّاب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kullu ṭ-ṭullābi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75000" y="1930400"/>
            <a:ext cx="2540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all the students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1930400"/>
            <a:ext cx="19558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quantifier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71000" y="2717800"/>
            <a:ext cx="2667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‏كُلّ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definite singular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2717800"/>
            <a:ext cx="3556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‏كُلّ الْيَوْم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kulla l-yawmi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75000" y="2717800"/>
            <a:ext cx="2540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the whole 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717800"/>
            <a:ext cx="19558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quantifier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71000" y="3505200"/>
            <a:ext cx="2667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‎noun + </a:t>
            </a:r>
            <a:r>
              <a:rPr lang="ar-SA" altLang="en-GB" sz="1500" b="0" i="0" dirty="0">
                <a:solidFill>
                  <a:srgbClr val="262626"/>
                </a:solidFill>
                <a:latin typeface="Geeza Pro"/>
                <a:cs typeface="Geeza Pro"/>
              </a:rPr>
              <a:t>كُلّ + 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suffix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3505200"/>
            <a:ext cx="3556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‏نَجَح الطُّلَّاب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كُلُّهُم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najaḥa ṭ-ṭullābu kulluhum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75000" y="3505200"/>
            <a:ext cx="2540000" cy="787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The students all passed.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3505200"/>
            <a:ext cx="1955800" cy="787400"/>
          </a:xfrm>
          <a:prstGeom prst="rect">
            <a:avLst/>
          </a:prstGeom>
          <a:solidFill>
            <a:srgbClr val="E8EF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33618F"/>
                </a:solidFill>
                <a:latin typeface="Chalkboard SE"/>
                <a:cs typeface="Geeza Pro"/>
              </a:rPr>
              <a:t>emphasis (tawkīd)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1000" y="4292600"/>
            <a:ext cx="2667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‎noun + </a:t>
            </a:r>
            <a:r>
              <a:rPr lang="ar-SA" altLang="en-GB" sz="1500" b="0" i="0" dirty="0">
                <a:solidFill>
                  <a:srgbClr val="262626"/>
                </a:solidFill>
                <a:latin typeface="Geeza Pro"/>
                <a:cs typeface="Geeza Pro"/>
              </a:rPr>
              <a:t>كُلّ + 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suffix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4292600"/>
            <a:ext cx="3556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‏قَرَأْت الْكِتَاب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كُلَّه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qaraʾtu l-kitāba kullahu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5000" y="4292600"/>
            <a:ext cx="25400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I read the entire book.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9200" y="4292600"/>
            <a:ext cx="1955800" cy="787400"/>
          </a:xfrm>
          <a:prstGeom prst="rect">
            <a:avLst/>
          </a:prstGeom>
          <a:solidFill>
            <a:srgbClr val="E8EF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33618F"/>
                </a:solidFill>
                <a:latin typeface="Chalkboard SE"/>
                <a:cs typeface="Geeza Pro"/>
              </a:rPr>
              <a:t>emphasis (tawkīd)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219200" y="5156200"/>
            <a:ext cx="10718800" cy="1066800"/>
            <a:chOff x="1219200" y="5156200"/>
            <a:chExt cx="10718800" cy="1066800"/>
          </a:xfrm>
        </p:grpSpPr>
        <p:sp>
          <p:nvSpPr>
            <p:cNvPr id="37" name="Rounded Rectangle 36"/>
            <p:cNvSpPr/>
            <p:nvPr/>
          </p:nvSpPr>
          <p:spPr>
            <a:xfrm>
              <a:off x="1219200" y="5156200"/>
              <a:ext cx="10718800" cy="1066800"/>
            </a:xfrm>
            <a:prstGeom prst="roundRect">
              <a:avLst>
                <a:gd name="adj" fmla="val 952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70000" y="5181600"/>
              <a:ext cx="10617200" cy="1016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GRAMMAR NOTE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‎Only after the noun is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كُلّ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grammatical emphasis. Before a noun it is an ordinary quantifier ('every', 'all', 'whole').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‎Tool 10 ·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جَمِيع (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jamīʿ) — All, Altogether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49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483600" y="838200"/>
            <a:ext cx="3454400" cy="2921000"/>
            <a:chOff x="8483600" y="838200"/>
            <a:chExt cx="3454400" cy="2921000"/>
          </a:xfrm>
        </p:grpSpPr>
        <p:sp>
          <p:nvSpPr>
            <p:cNvPr id="13" name="Rounded Rectangle 12"/>
            <p:cNvSpPr/>
            <p:nvPr/>
          </p:nvSpPr>
          <p:spPr>
            <a:xfrm>
              <a:off x="8483600" y="838200"/>
              <a:ext cx="3454400" cy="2921000"/>
            </a:xfrm>
            <a:prstGeom prst="roundRect">
              <a:avLst>
                <a:gd name="adj" fmla="val 4347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4836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836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836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Before a Definite Plural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509000" y="1244600"/>
              <a:ext cx="3403600" cy="248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‏جَمِيع</a:t>
              </a: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الْمُوَظَّفِين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jamīʿu l-muwaẓẓafīna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all the employees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Common in FORMAL notices.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51400" y="838200"/>
            <a:ext cx="3454400" cy="2921000"/>
            <a:chOff x="4851400" y="838200"/>
            <a:chExt cx="3454400" cy="2921000"/>
          </a:xfrm>
        </p:grpSpPr>
        <p:sp>
          <p:nvSpPr>
            <p:cNvPr id="19" name="Rounded Rectangle 18"/>
            <p:cNvSpPr/>
            <p:nvPr/>
          </p:nvSpPr>
          <p:spPr>
            <a:xfrm>
              <a:off x="4851400" y="838200"/>
              <a:ext cx="3454400" cy="2921000"/>
            </a:xfrm>
            <a:prstGeom prst="roundRect">
              <a:avLst>
                <a:gd name="adj" fmla="val 4347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8514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514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514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After a Noun + Suffix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76800" y="1244600"/>
              <a:ext cx="3403600" cy="248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‏جَاء الضُّيُوف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جَمِيعُهُم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jāʾa ḍ-ḍuyūfu jamīʿuhum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guests came, all of them.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‎Grammatical emphasis, like </a:t>
              </a:r>
              <a:r>
                <a:rPr lang="ar-SA" altLang="en-GB" sz="150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كُلُّهُم.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838200"/>
            <a:ext cx="3454400" cy="2921000"/>
            <a:chOff x="1219200" y="838200"/>
            <a:chExt cx="3454400" cy="2921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838200"/>
              <a:ext cx="3454400" cy="2921000"/>
            </a:xfrm>
            <a:prstGeom prst="roundRect">
              <a:avLst>
                <a:gd name="adj" fmla="val 4347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2192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192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192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‎'All Together': </a:t>
              </a:r>
              <a:r>
                <a:rPr lang="ar-SA" altLang="en-GB" sz="175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جَمِيعًا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44600" y="1244600"/>
              <a:ext cx="3403600" cy="248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‏شُكْرًا لَكُم </a:t>
              </a:r>
              <a:r>
                <a:rPr lang="ar-SA" altLang="en-GB" sz="20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جَمِيعًا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shukran lakum jamīʿan</a:t>
              </a:r>
            </a:p>
            <a:p>
              <a:pPr algn="ct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Thank you all.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Very common EVERYDAY phrase.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8305800" y="4013200"/>
            <a:ext cx="3632200" cy="965200"/>
          </a:xfrm>
          <a:prstGeom prst="roundRect">
            <a:avLst>
              <a:gd name="adj" fmla="val 1052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‏جَمِيع يَوْم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7848600" y="43561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89400" y="4013200"/>
            <a:ext cx="36322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‏كُلّ يَوْم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kulla yawmin — every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9200" y="4013200"/>
            <a:ext cx="2717800" cy="965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‎Never use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جَمِيع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for 'every' with a single indefinite noun.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219200" y="5130800"/>
            <a:ext cx="10718800" cy="965200"/>
            <a:chOff x="1219200" y="5130800"/>
            <a:chExt cx="10718800" cy="965200"/>
          </a:xfrm>
        </p:grpSpPr>
        <p:sp>
          <p:nvSpPr>
            <p:cNvPr id="35" name="Rounded Rectangle 34"/>
            <p:cNvSpPr/>
            <p:nvPr/>
          </p:nvSpPr>
          <p:spPr>
            <a:xfrm>
              <a:off x="1219200" y="5130800"/>
              <a:ext cx="10718800" cy="965200"/>
            </a:xfrm>
            <a:prstGeom prst="roundRect">
              <a:avLst>
                <a:gd name="adj" fmla="val 10526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270000" y="5156200"/>
              <a:ext cx="106172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ALSO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‎Also everyday: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ذَهَبْنَا جَمِيعًا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dhahabnā jamīʿan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= 'we all went (together)'.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‎Choosing Between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كُلّ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and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جَمِيع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1200" y="787400"/>
            <a:ext cx="3606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5200" y="787400"/>
            <a:ext cx="3556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200" b="1" i="0" dirty="0">
                <a:solidFill>
                  <a:srgbClr val="FFFFFF"/>
                </a:solidFill>
                <a:latin typeface="Geeza Pro"/>
                <a:cs typeface="Geeza Pro"/>
              </a:rPr>
              <a:t>‏كُلّ (</a:t>
            </a: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kull)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3556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200" b="1" i="0" dirty="0">
                <a:solidFill>
                  <a:srgbClr val="FFFFFF"/>
                </a:solidFill>
                <a:latin typeface="Geeza Pro"/>
                <a:cs typeface="Geeza Pro"/>
              </a:rPr>
              <a:t>‏جَمِيع (</a:t>
            </a: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jamīʿ)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1200" y="1143000"/>
            <a:ext cx="36068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every (+ one indefinite noun)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5200" y="1143000"/>
            <a:ext cx="3556000" cy="7366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كُلّ طَالِب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1143000"/>
            <a:ext cx="3556000" cy="7366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1" i="0" dirty="0">
                <a:solidFill>
                  <a:srgbClr val="C62828"/>
                </a:solidFill>
                <a:latin typeface="Chalkboard SE"/>
                <a:cs typeface="Geeza Pro"/>
              </a:rPr>
              <a:t>✗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 not 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1200" y="1879600"/>
            <a:ext cx="3606800" cy="736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all (+ definite plural)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5200" y="1879600"/>
            <a:ext cx="3556000" cy="7366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كُلّ الطُّلَّاب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" y="1879600"/>
            <a:ext cx="3556000" cy="7366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جَمِيع الطُّلَّاب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1200" y="2616200"/>
            <a:ext cx="36068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the whole (+ definite singular)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75200" y="2616200"/>
            <a:ext cx="3556000" cy="7366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كُلّ الْيَوْم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616200"/>
            <a:ext cx="3556000" cy="7366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1" i="0" dirty="0">
                <a:solidFill>
                  <a:srgbClr val="C62828"/>
                </a:solidFill>
                <a:latin typeface="Chalkboard SE"/>
                <a:cs typeface="Geeza Pro"/>
              </a:rPr>
              <a:t>✗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 not usual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1200" y="3352800"/>
            <a:ext cx="3606800" cy="736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emphasis after a noun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75200" y="3352800"/>
            <a:ext cx="3556000" cy="7366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الطُّلَّاب كُلُّهُم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9200" y="3352800"/>
            <a:ext cx="3556000" cy="7366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الطُّلَّاب جَمِيعُهُم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1200" y="4089400"/>
            <a:ext cx="36068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'all together' (adverb)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5200" y="4089400"/>
            <a:ext cx="3556000" cy="7366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1" i="0" dirty="0">
                <a:solidFill>
                  <a:srgbClr val="C62828"/>
                </a:solidFill>
                <a:latin typeface="Chalkboard SE"/>
                <a:cs typeface="Geeza Pro"/>
              </a:rPr>
              <a:t>✗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 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4089400"/>
            <a:ext cx="3556000" cy="7366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جَمِيعًا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219200" y="4902200"/>
            <a:ext cx="10718800" cy="1219200"/>
            <a:chOff x="1219200" y="4902200"/>
            <a:chExt cx="10718800" cy="1219200"/>
          </a:xfrm>
        </p:grpSpPr>
        <p:sp>
          <p:nvSpPr>
            <p:cNvPr id="31" name="Rounded Rectangle 30"/>
            <p:cNvSpPr/>
            <p:nvPr/>
          </p:nvSpPr>
          <p:spPr>
            <a:xfrm>
              <a:off x="1219200" y="4902200"/>
              <a:ext cx="10718800" cy="1219200"/>
            </a:xfrm>
            <a:prstGeom prst="roundRect">
              <a:avLst>
                <a:gd name="adj" fmla="val 833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70000" y="4927600"/>
              <a:ext cx="10617200" cy="1168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RULE OF THUMB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all-rounder is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كُلّ.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word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جَمِيع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means 'all' of a group and sounds more FORMAL — except the everyday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جَمِيعًا.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Avoid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جَمِيع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for 'every' or 'the whole'.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1219200" y="62103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47800" y="6146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✓ green = used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62103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90088" y="6146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✗ red = not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What Each Construction Emphasizes — and What It Does Not Mean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33000" y="787400"/>
            <a:ext cx="190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000" y="787400"/>
            <a:ext cx="4572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Emphasizes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4241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Does NOT 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33000" y="1143000"/>
            <a:ext cx="190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1000" y="1143000"/>
            <a:ext cx="4572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the truth of the whole statement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11430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‎not 'if' (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إِن);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not 'only'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33000" y="1676400"/>
            <a:ext cx="1905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‏أَنّ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61000" y="1676400"/>
            <a:ext cx="4572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a fact reported inside a sentence ('that')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" y="16764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‎not a sentence opener; not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أَن + 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verb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33000" y="2209800"/>
            <a:ext cx="190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past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1000" y="2209800"/>
            <a:ext cx="4572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completion, certainty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2098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not possibility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33000" y="2743200"/>
            <a:ext cx="1905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‏قَد + 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present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1000" y="2743200"/>
            <a:ext cx="4572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possibility, 'may'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9200" y="27432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not certainty (modern usage)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3000" y="3276600"/>
            <a:ext cx="190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1000" y="3276600"/>
            <a:ext cx="4572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a completed event, stated strongly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32766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never with present, future or negation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33000" y="3810000"/>
            <a:ext cx="1905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‏لَـ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1000" y="3810000"/>
            <a:ext cx="4572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reinforcement on one word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9200" y="38100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‎not a separate word; not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لِـ '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for'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33000" y="4343400"/>
            <a:ext cx="190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1000" y="4343400"/>
            <a:ext cx="4572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restriction: 'only'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9200" y="43434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not simple 'indeed'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33000" y="4876800"/>
            <a:ext cx="1905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‏نَفْس / عَيْن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61000" y="4876800"/>
            <a:ext cx="4572000" cy="533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identity: '-self', 'the very same'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19200" y="48768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not 'all'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33000" y="5410200"/>
            <a:ext cx="190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‏كُلّ / جَمِيع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61000" y="5410200"/>
            <a:ext cx="4572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totality: 'all of it / them'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9200" y="5410200"/>
            <a:ext cx="4241800" cy="5334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not 'the same'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19200" y="6184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47800" y="6121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red column = what the tool does NOT mean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8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8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Four English Words, Four Different Arabic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52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English words do not map one-to-one. Choose by the JOB, not by the English word.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372600" y="1346200"/>
            <a:ext cx="2565400" cy="3810000"/>
            <a:chOff x="9372600" y="1346200"/>
            <a:chExt cx="2565400" cy="3810000"/>
          </a:xfrm>
        </p:grpSpPr>
        <p:sp>
          <p:nvSpPr>
            <p:cNvPr id="17" name="Rounded Rectangle 16"/>
            <p:cNvSpPr/>
            <p:nvPr/>
          </p:nvSpPr>
          <p:spPr>
            <a:xfrm>
              <a:off x="9372600" y="1346200"/>
              <a:ext cx="2565400" cy="3810000"/>
            </a:xfrm>
            <a:prstGeom prst="roundRect">
              <a:avLst>
                <a:gd name="adj" fmla="val 495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372600" y="1346200"/>
              <a:ext cx="2565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372600" y="1600200"/>
              <a:ext cx="2565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372600" y="1346200"/>
              <a:ext cx="256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'indeed'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398000" y="1752600"/>
              <a:ext cx="2514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1" i="0" dirty="0">
                  <a:solidFill>
                    <a:srgbClr val="5F5F5F"/>
                  </a:solidFill>
                  <a:latin typeface="Chalkboard SE"/>
                  <a:cs typeface="Geeza Pro"/>
                </a:rPr>
                <a:t>STRENGTHEN THE TRUTH</a:t>
              </a:r>
            </a:p>
            <a:p>
              <a:pPr algn="ctr" rtl="1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· لَقَد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‏لَقَد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فَاز فَرِيقُنَا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fāza farīqunā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Our team has indeed won.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654800" y="1346200"/>
            <a:ext cx="2565400" cy="3810000"/>
            <a:chOff x="6654800" y="1346200"/>
            <a:chExt cx="2565400" cy="3810000"/>
          </a:xfrm>
        </p:grpSpPr>
        <p:sp>
          <p:nvSpPr>
            <p:cNvPr id="23" name="Rounded Rectangle 22"/>
            <p:cNvSpPr/>
            <p:nvPr/>
          </p:nvSpPr>
          <p:spPr>
            <a:xfrm>
              <a:off x="6654800" y="1346200"/>
              <a:ext cx="2565400" cy="3810000"/>
            </a:xfrm>
            <a:prstGeom prst="roundRect">
              <a:avLst>
                <a:gd name="adj" fmla="val 495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654800" y="1346200"/>
              <a:ext cx="2565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54800" y="1600200"/>
              <a:ext cx="2565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54800" y="1346200"/>
              <a:ext cx="256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'only'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80200" y="1752600"/>
              <a:ext cx="2514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1" i="0" dirty="0">
                  <a:solidFill>
                    <a:srgbClr val="5F5F5F"/>
                  </a:solidFill>
                  <a:latin typeface="Chalkboard SE"/>
                  <a:cs typeface="Geeza Pro"/>
                </a:rPr>
                <a:t>LIMIT THE STATEMENT</a:t>
              </a:r>
            </a:p>
            <a:p>
              <a:pPr algn="ctr" rtl="1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‏إِنَّمَا · فَقَط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‏إِنَّمَا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أَسْأَل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 asʾalu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I'm only asking.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937000" y="1346200"/>
            <a:ext cx="2565400" cy="3810000"/>
            <a:chOff x="3937000" y="1346200"/>
            <a:chExt cx="2565400" cy="3810000"/>
          </a:xfrm>
        </p:grpSpPr>
        <p:sp>
          <p:nvSpPr>
            <p:cNvPr id="29" name="Rounded Rectangle 28"/>
            <p:cNvSpPr/>
            <p:nvPr/>
          </p:nvSpPr>
          <p:spPr>
            <a:xfrm>
              <a:off x="3937000" y="1346200"/>
              <a:ext cx="2565400" cy="3810000"/>
            </a:xfrm>
            <a:prstGeom prst="roundRect">
              <a:avLst>
                <a:gd name="adj" fmla="val 495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937000" y="1346200"/>
              <a:ext cx="2565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937000" y="1600200"/>
              <a:ext cx="2565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937000" y="1346200"/>
              <a:ext cx="256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'himself / the same'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962400" y="1752600"/>
              <a:ext cx="2514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1" i="0" dirty="0">
                  <a:solidFill>
                    <a:srgbClr val="5F5F5F"/>
                  </a:solidFill>
                  <a:latin typeface="Chalkboard SE"/>
                  <a:cs typeface="Geeza Pro"/>
                </a:rPr>
                <a:t>STRESS IDENTITY</a:t>
              </a:r>
            </a:p>
            <a:p>
              <a:pPr algn="ctr" rtl="1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‏نَفْس · عَيْن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‏قَابَلْت الْكَاتِب </a:t>
              </a: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نَفْسَه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qābaltu l-kātiba nafsahu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I met the writer himself.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219200" y="1346200"/>
            <a:ext cx="2565400" cy="3810000"/>
            <a:chOff x="1219200" y="1346200"/>
            <a:chExt cx="2565400" cy="3810000"/>
          </a:xfrm>
        </p:grpSpPr>
        <p:sp>
          <p:nvSpPr>
            <p:cNvPr id="35" name="Rounded Rectangle 34"/>
            <p:cNvSpPr/>
            <p:nvPr/>
          </p:nvSpPr>
          <p:spPr>
            <a:xfrm>
              <a:off x="1219200" y="1346200"/>
              <a:ext cx="2565400" cy="3810000"/>
            </a:xfrm>
            <a:prstGeom prst="roundRect">
              <a:avLst>
                <a:gd name="adj" fmla="val 4950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219200" y="1346200"/>
              <a:ext cx="2565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219200" y="1600200"/>
              <a:ext cx="2565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19200" y="1346200"/>
              <a:ext cx="256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'all'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244600" y="1752600"/>
              <a:ext cx="2514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050" b="1" i="0" dirty="0">
                  <a:solidFill>
                    <a:srgbClr val="5F5F5F"/>
                  </a:solidFill>
                  <a:latin typeface="Chalkboard SE"/>
                  <a:cs typeface="Geeza Pro"/>
                </a:rPr>
                <a:t>STRESS TOTALITY</a:t>
              </a:r>
            </a:p>
            <a:p>
              <a:pPr algn="ctr" rtl="1">
                <a:lnSpc>
                  <a:spcPct val="108000"/>
                </a:lnSpc>
                <a:spcAft>
                  <a:spcPts val="1200"/>
                </a:spcAft>
                <a:buNone/>
              </a:pPr>
              <a:r>
                <a:rPr lang="ar-SA" altLang="en-GB" sz="20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‏كُلّ · جَمِيع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‏وَصَل الْفَرِيق </a:t>
              </a: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كُلُّه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5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waṣala l-farīqu kulluhu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whole team arrived.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219200" y="5308600"/>
            <a:ext cx="10718800" cy="762000"/>
            <a:chOff x="1219200" y="5308600"/>
            <a:chExt cx="10718800" cy="762000"/>
          </a:xfrm>
        </p:grpSpPr>
        <p:sp>
          <p:nvSpPr>
            <p:cNvPr id="41" name="Rounded Rectangle 40"/>
            <p:cNvSpPr/>
            <p:nvPr/>
          </p:nvSpPr>
          <p:spPr>
            <a:xfrm>
              <a:off x="1219200" y="5308600"/>
              <a:ext cx="10718800" cy="762000"/>
            </a:xfrm>
            <a:prstGeom prst="roundRect">
              <a:avLst>
                <a:gd name="adj" fmla="val 1333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270000" y="5334000"/>
              <a:ext cx="10617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TRANSLATION TIP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‎English 'indeed' is often best left out of a translation of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—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use stress or 'really' instead.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Common Mistakes: Restriction, Identity and Totality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5800" y="8128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‏حَضَر الْمُدِير نَفْس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7848600" y="11684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89400" y="8128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‏حَضَر الْمُدِير نَفْسُه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ḥaḍara l-mudīru nafsuhu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8128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'-self' needs a pronoun suffix.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5800" y="18796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‏رَأَيْت الطَّالِبَة نَفْسَه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848600" y="22352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89400" y="18796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‏رَأَيْت الطَّالِبَة نَفْسَهَا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raʾaytu ṭ-ṭālibata nafsahā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8796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The suffix agrees: feminine takes </a:t>
            </a: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-hā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5800" y="29464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‏نَسْكُن فِي الْحَيّ نَفْس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7848600" y="33020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89400" y="29464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‏نَسْكُن فِي نَفْس الْحَيّ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naskunu fī nafsi l-ḥayyi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9464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‎'the same' + noun: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نَفْس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comes first.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5800" y="40132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‏قَرَأْت الْكُتُب كُلَّهُم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7848600" y="43688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89400" y="40132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‏قَرَأْت الْكُتُب كُلَّهَا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qaraʾtu l-kutuba kullahā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40132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Plural of things takes </a:t>
            </a: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-hā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5800" y="50800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C62828"/>
                </a:solidFill>
                <a:latin typeface="Chalkboard SE"/>
                <a:cs typeface="Geeza Pro"/>
              </a:rPr>
              <a:t>✗ Incorrect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 الْمُشَارِكِين طُلَّاب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7848600" y="5435600"/>
            <a:ext cx="381000" cy="2794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89400" y="5080000"/>
            <a:ext cx="3632200" cy="990600"/>
          </a:xfrm>
          <a:prstGeom prst="roundRect">
            <a:avLst>
              <a:gd name="adj" fmla="val 1025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01600" tIns="38100" rIns="101600" bIns="381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✓ Correct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 الْمُشَارِكُون طُلَّاب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innamā l-mushārikūna ṭullābun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5080000"/>
            <a:ext cx="2717800" cy="990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50800" tIns="25400" rIns="50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‎No case change after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إِنَّمَا.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Practice: Complete with the Right 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7933" y="78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066" y="787400"/>
            <a:ext cx="2489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MEANING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2870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ANSWER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47933" y="1092200"/>
            <a:ext cx="5164667" cy="812800"/>
            <a:chOff x="6747933" y="1092200"/>
            <a:chExt cx="5164667" cy="812800"/>
          </a:xfrm>
        </p:grpSpPr>
        <p:sp>
          <p:nvSpPr>
            <p:cNvPr id="16" name="Oval 15"/>
            <p:cNvSpPr/>
            <p:nvPr/>
          </p:nvSpPr>
          <p:spPr>
            <a:xfrm>
              <a:off x="11582400" y="13335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47933" y="10922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‏سَأُكَلِّم الْمُدِير ــــــ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I'll speak to the manager himself.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4174066" y="10922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'himself' (object)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‏نَفْسَه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sa-ukallimu l-mudīra nafsahu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47933" y="1968500"/>
            <a:ext cx="5164667" cy="812800"/>
            <a:chOff x="6747933" y="1968500"/>
            <a:chExt cx="5164667" cy="812800"/>
          </a:xfrm>
        </p:grpSpPr>
        <p:sp>
          <p:nvSpPr>
            <p:cNvPr id="21" name="Oval 20"/>
            <p:cNvSpPr/>
            <p:nvPr/>
          </p:nvSpPr>
          <p:spPr>
            <a:xfrm>
              <a:off x="11582400" y="2209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747933" y="19685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أَنَا زَائِر، لَسْت مِن هُنَا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I'm only a visitor; I'm not from here.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174066" y="19685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'only'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19685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‏إِنَّمَا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innamā ana zāʾirun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747933" y="2844800"/>
            <a:ext cx="5164667" cy="812800"/>
            <a:chOff x="6747933" y="2844800"/>
            <a:chExt cx="5164667" cy="812800"/>
          </a:xfrm>
        </p:grpSpPr>
        <p:sp>
          <p:nvSpPr>
            <p:cNvPr id="26" name="Oval 25"/>
            <p:cNvSpPr/>
            <p:nvPr/>
          </p:nvSpPr>
          <p:spPr>
            <a:xfrm>
              <a:off x="11582400" y="30861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747933" y="28448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‏حَضَر الطُّلَّاب ــــــ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students all attended.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174066" y="28448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'all of them'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28448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‏كُلُّهُم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 / </a:t>
            </a: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جَمِيعُهُم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kulluhum / jamīʿuhum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747933" y="3721100"/>
            <a:ext cx="5164667" cy="812800"/>
            <a:chOff x="6747933" y="3721100"/>
            <a:chExt cx="5164667" cy="812800"/>
          </a:xfrm>
        </p:grpSpPr>
        <p:sp>
          <p:nvSpPr>
            <p:cNvPr id="31" name="Oval 30"/>
            <p:cNvSpPr/>
            <p:nvPr/>
          </p:nvSpPr>
          <p:spPr>
            <a:xfrm>
              <a:off x="11582400" y="39624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747933" y="37211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‏نَعْمَل فِي ــــــ الشَّرِكَة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We work in the same company.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174066" y="37211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'the same' + noun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37211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‏نَفْس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naʿmalu fī nafsi sh-sharikati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747933" y="4597400"/>
            <a:ext cx="5164667" cy="812800"/>
            <a:chOff x="6747933" y="4597400"/>
            <a:chExt cx="5164667" cy="812800"/>
          </a:xfrm>
        </p:grpSpPr>
        <p:sp>
          <p:nvSpPr>
            <p:cNvPr id="36" name="Oval 35"/>
            <p:cNvSpPr/>
            <p:nvPr/>
          </p:nvSpPr>
          <p:spPr>
            <a:xfrm>
              <a:off x="11582400" y="48387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747933" y="45974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‏شُكْرًا لَكُم ــــــ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Thank you all.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4174066" y="45974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'all (together)'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45974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‏جَمِيعًا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shukran lakum jamīʿan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747933" y="5473700"/>
            <a:ext cx="5164667" cy="812800"/>
            <a:chOff x="6747933" y="5473700"/>
            <a:chExt cx="5164667" cy="812800"/>
          </a:xfrm>
        </p:grpSpPr>
        <p:sp>
          <p:nvSpPr>
            <p:cNvPr id="41" name="Oval 40"/>
            <p:cNvSpPr/>
            <p:nvPr/>
          </p:nvSpPr>
          <p:spPr>
            <a:xfrm>
              <a:off x="11582400" y="57150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6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6747933" y="54737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‏هَذَا هُو الْعُنْوَان ــــــ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This is the very same address.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4174066" y="54737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'the very same' (FORMAL)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19200" y="54737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‏عَيْنُه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hādhā huwa l-ʿunwānu ʿaynuhu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5 of 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Stop 5 of 6 · slides 55–66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2000" y="1016000"/>
            <a:ext cx="7874000" cy="38100"/>
          </a:xfrm>
          <a:prstGeom prst="rect">
            <a:avLst/>
          </a:prstGeom>
          <a:solidFill>
            <a:srgbClr val="D9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363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88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What Emphasis Means</a:t>
            </a:r>
          </a:p>
        </p:txBody>
      </p:sp>
      <p:sp>
        <p:nvSpPr>
          <p:cNvPr id="14" name="Oval 13"/>
          <p:cNvSpPr/>
          <p:nvPr/>
        </p:nvSpPr>
        <p:spPr>
          <a:xfrm>
            <a:off x="94615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38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Inside a Sentence</a:t>
            </a:r>
          </a:p>
        </p:txBody>
      </p:sp>
      <p:sp>
        <p:nvSpPr>
          <p:cNvPr id="16" name="Oval 15"/>
          <p:cNvSpPr/>
          <p:nvPr/>
        </p:nvSpPr>
        <p:spPr>
          <a:xfrm>
            <a:off x="78867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Before &amp; Within a Verb</a:t>
            </a:r>
          </a:p>
        </p:txBody>
      </p:sp>
      <p:sp>
        <p:nvSpPr>
          <p:cNvPr id="18" name="Oval 17"/>
          <p:cNvSpPr/>
          <p:nvPr/>
        </p:nvSpPr>
        <p:spPr>
          <a:xfrm>
            <a:off x="63119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42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Restriction &amp; Completeness</a:t>
            </a:r>
          </a:p>
        </p:txBody>
      </p:sp>
      <p:sp>
        <p:nvSpPr>
          <p:cNvPr id="20" name="Oval 19"/>
          <p:cNvSpPr/>
          <p:nvPr/>
        </p:nvSpPr>
        <p:spPr>
          <a:xfrm>
            <a:off x="4686300" y="844550"/>
            <a:ext cx="381000" cy="381000"/>
          </a:xfrm>
          <a:prstGeom prst="ellipse">
            <a:avLst/>
          </a:prstGeom>
          <a:solidFill>
            <a:srgbClr val="8E2453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94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1" i="0" dirty="0">
                <a:solidFill>
                  <a:srgbClr val="8E2453"/>
                </a:solidFill>
                <a:latin typeface="Chalkboard SE"/>
                <a:cs typeface="Geeza Pro"/>
              </a:rPr>
              <a:t>Putting It Together</a:t>
            </a:r>
          </a:p>
        </p:txBody>
      </p:sp>
      <p:sp>
        <p:nvSpPr>
          <p:cNvPr id="22" name="Oval 21"/>
          <p:cNvSpPr/>
          <p:nvPr/>
        </p:nvSpPr>
        <p:spPr>
          <a:xfrm>
            <a:off x="3162300" y="89535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5F5F5F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Clearing the Confusion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889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0800" y="1574800"/>
            <a:ext cx="6807200" cy="1320800"/>
          </a:xfrm>
          <a:prstGeom prst="roundRect">
            <a:avLst>
              <a:gd name="adj" fmla="val 11538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127000" tIns="50800" rIns="127000" bIns="254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800" b="1" i="0" dirty="0">
                <a:solidFill>
                  <a:srgbClr val="FFFFFF"/>
                </a:solidFill>
                <a:latin typeface="Chalkboard SE"/>
                <a:cs typeface="Geeza Pro"/>
              </a:rPr>
              <a:t>Putting the Tools Together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  <a:latin typeface="Chalkboard SE"/>
                <a:cs typeface="Geeza Pro"/>
              </a:rPr>
              <a:t>Choosing the right tool for the meaning you intend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FFFFFF"/>
                </a:solidFill>
                <a:latin typeface="Geeza Pro"/>
                <a:cs typeface="Geeza Pro"/>
              </a:rPr>
              <a:t>‏اخْتِيَار الْأَدَاة الْمُنَاسِبَة  </a:t>
            </a:r>
            <a:r>
              <a:rPr lang="en-GB" sz="1800" b="1" i="0" dirty="0">
                <a:solidFill>
                  <a:srgbClr val="FFFFFF"/>
                </a:solidFill>
                <a:latin typeface="Chalkboard SE"/>
                <a:cs typeface="Geeza Pro"/>
              </a:rPr>
              <a:t>· ikhtiyār al-adāti l-munāsiba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9200" y="1574800"/>
            <a:ext cx="3810000" cy="1320800"/>
          </a:xfrm>
          <a:prstGeom prst="roundRect">
            <a:avLst>
              <a:gd name="adj" fmla="val 11538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152400" tIns="50800" rIns="1524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THE FOCUS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Work out what you want to stress, check the structure, then pick the tool — in conversation, at work and in formal Arabic.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971800"/>
            <a:ext cx="10718800" cy="254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TOOLS IN THIS 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80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strengthen a statement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‏إِنّ · أَنّ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· anna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1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complete / possible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‏قَد · لَقَد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qad · laqad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62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reinforce a word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‏لَـ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la-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3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limit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innamā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44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identity &amp; totality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‏نَفْس · كُلّ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nafs · kull 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66666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1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Identify the PURPOSE of emphasis in any sentence.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2933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2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Apply the three-step method: meaning, then structure, then tool.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9200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3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Produce natural emphatic sentences for real situations.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Master Map of the Chapter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6000" y="8382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33618F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33618F"/>
                </a:solidFill>
                <a:latin typeface="Chalkboard SE"/>
                <a:cs typeface="Geeza Pro"/>
              </a:rPr>
              <a:t>TOOL 1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‏إِنّ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strengthens a whole nominal sentence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4300" y="8382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33618F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33618F"/>
                </a:solidFill>
                <a:latin typeface="Chalkboard SE"/>
                <a:cs typeface="Geeza Pro"/>
              </a:rPr>
              <a:t>TOOL 2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‏أَنّ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anna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'that' — a fact inside a sentence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62600" y="8382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8E2453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8E2453"/>
                </a:solidFill>
                <a:latin typeface="Chalkboard SE"/>
                <a:cs typeface="Geeza Pro"/>
              </a:rPr>
              <a:t>TOOL 3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qad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past: already · present: may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900" y="8382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8E2453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8E2453"/>
                </a:solidFill>
                <a:latin typeface="Chalkboard SE"/>
                <a:cs typeface="Geeza Pro"/>
              </a:rPr>
              <a:t>TOOL 4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laqad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strong completion (past only)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9200" y="8382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2E7D32"/>
                </a:solidFill>
                <a:latin typeface="Chalkboard SE"/>
                <a:cs typeface="Geeza Pro"/>
              </a:rPr>
              <a:t>TOOL 5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‏لَـ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la-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prefix: reinforces one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6000" y="28956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33618F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33618F"/>
                </a:solidFill>
                <a:latin typeface="Chalkboard SE"/>
                <a:cs typeface="Geeza Pro"/>
              </a:rPr>
              <a:t>TOOL 6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innamā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restriction: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34300" y="28956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7A5C00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7A5C00"/>
                </a:solidFill>
                <a:latin typeface="Chalkboard SE"/>
                <a:cs typeface="Geeza Pro"/>
              </a:rPr>
              <a:t>TOOL 7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‏نَفْس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nafs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-self; 'the same' before a noun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62600" y="28956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7A5C00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7A5C00"/>
                </a:solidFill>
                <a:latin typeface="Chalkboard SE"/>
                <a:cs typeface="Geeza Pro"/>
              </a:rPr>
              <a:t>TOOL 8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‏عَيْن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ʿayn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the very same (FORMAL)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0900" y="28956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7A5C00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7A5C00"/>
                </a:solidFill>
                <a:latin typeface="Chalkboard SE"/>
                <a:cs typeface="Geeza Pro"/>
              </a:rPr>
              <a:t>TOOL 9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‏كُلّ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kull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all, every, whole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9200" y="28956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7A5C00"/>
            </a:solidFill>
          </a:ln>
        </p:spPr>
        <p:txBody>
          <a:bodyPr rtlCol="0" anchor="ctr" wrap="square" lIns="76200" tIns="50800" rIns="762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7A5C00"/>
                </a:solidFill>
                <a:latin typeface="Chalkboard SE"/>
                <a:cs typeface="Geeza Pro"/>
              </a:rPr>
              <a:t>TOOL 10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400" b="0" i="0" dirty="0">
                <a:solidFill>
                  <a:srgbClr val="262626"/>
                </a:solidFill>
                <a:latin typeface="Geeza Pro"/>
                <a:cs typeface="Geeza Pro"/>
              </a:rPr>
              <a:t>‏جَمِيع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jamīʿ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‎all;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جَمِيعًا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all together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19200" y="5168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47800" y="5105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sentence particles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3456" y="5168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E24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2056" y="5105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verb particles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5744" y="5168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84344" y="5105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attached prefix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1024" y="5168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A5C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9624" y="5105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nouns used for emphasis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219200" y="5461000"/>
            <a:ext cx="10718800" cy="711200"/>
            <a:chOff x="1219200" y="5461000"/>
            <a:chExt cx="10718800" cy="711200"/>
          </a:xfrm>
        </p:grpSpPr>
        <p:sp>
          <p:nvSpPr>
            <p:cNvPr id="31" name="Rounded Rectangle 30"/>
            <p:cNvSpPr/>
            <p:nvPr/>
          </p:nvSpPr>
          <p:spPr>
            <a:xfrm>
              <a:off x="1219200" y="5461000"/>
              <a:ext cx="10718800" cy="711200"/>
            </a:xfrm>
            <a:prstGeom prst="roundRect">
              <a:avLst>
                <a:gd name="adj" fmla="val 14285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70000" y="5486400"/>
              <a:ext cx="106172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NOTE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Numbers follow the teaching order of this chapter.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What Is the Speaker Trying to 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5000" y="787400"/>
            <a:ext cx="3683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The Speaker Wants To…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000" y="787400"/>
            <a:ext cx="2794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4241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5000" y="1143000"/>
            <a:ext cx="3683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Insist that a statement is true?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1000" y="1143000"/>
            <a:ext cx="2794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‏إِنّ · إِنّ … لَـ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1143000"/>
            <a:ext cx="42418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 الْخُطَّة نَاجِحَة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inna l-khuṭṭata nājiḥatun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5000" y="1955800"/>
            <a:ext cx="3683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Report a fact inside a sentence?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61000" y="1955800"/>
            <a:ext cx="2794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‏أَنّ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" y="1955800"/>
            <a:ext cx="42418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‏أَعْرِف </a:t>
            </a:r>
            <a:r>
              <a:rPr lang="ar-SA" altLang="en-GB" sz="1750" b="1" i="0" dirty="0">
                <a:solidFill>
                  <a:srgbClr val="33618F"/>
                </a:solidFill>
                <a:latin typeface="Geeza Pro"/>
                <a:cs typeface="Geeza Pro"/>
              </a:rPr>
              <a:t>أَنّ</a:t>
            </a: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 الْخُطَّة نَاجِحَة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aʿrifu anna l-khuṭṭata nājiḥatun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5000" y="2768600"/>
            <a:ext cx="3683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Present an action as really done?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1000" y="2768600"/>
            <a:ext cx="2794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‏قَد / لَقَد + </a:t>
            </a:r>
            <a:r>
              <a:rPr lang="en-GB" sz="1750" b="0" i="0" dirty="0">
                <a:solidFill>
                  <a:srgbClr val="262626"/>
                </a:solidFill>
                <a:latin typeface="Chalkboard SE"/>
                <a:cs typeface="Geeza Pro"/>
              </a:rPr>
              <a:t>past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768600"/>
            <a:ext cx="42418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1" i="0" dirty="0">
                <a:solidFill>
                  <a:srgbClr val="33618F"/>
                </a:solidFill>
                <a:latin typeface="Geeza Pro"/>
                <a:cs typeface="Geeza Pro"/>
              </a:rPr>
              <a:t>‏لَقَد</a:t>
            </a: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 نَجَحَت الْخُطَّة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laqad najaḥati l-khuṭṭatu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55000" y="3581400"/>
            <a:ext cx="3683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Say something may happen?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1000" y="3581400"/>
            <a:ext cx="2794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‏قَد + </a:t>
            </a:r>
            <a:r>
              <a:rPr lang="en-GB" sz="1750" b="0" i="0" dirty="0">
                <a:solidFill>
                  <a:srgbClr val="262626"/>
                </a:solidFill>
                <a:latin typeface="Chalkboard SE"/>
                <a:cs typeface="Geeza Pro"/>
              </a:rPr>
              <a:t>present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9200" y="3581400"/>
            <a:ext cx="42418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1" i="0" dirty="0">
                <a:solidFill>
                  <a:srgbClr val="33618F"/>
                </a:solidFill>
                <a:latin typeface="Geeza Pro"/>
                <a:cs typeface="Geeza Pro"/>
              </a:rPr>
              <a:t>‏قَد</a:t>
            </a: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 تَنْجَح الْخُطَّة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qad tanjaḥu l-khuṭṭatu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55000" y="4394200"/>
            <a:ext cx="3683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Limit the statement?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1000" y="4394200"/>
            <a:ext cx="27940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4394200"/>
            <a:ext cx="4241800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 هِي فِكْرَة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innamā hiya fikratun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55000" y="5207000"/>
            <a:ext cx="3683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Stress who or how much?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1000" y="5207000"/>
            <a:ext cx="27940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‏نَفْس · عَيْن · كُلّ · جَمِيع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9200" y="5207000"/>
            <a:ext cx="4241800" cy="8128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‏الْفَرِيق </a:t>
            </a:r>
            <a:r>
              <a:rPr lang="ar-SA" altLang="en-GB" sz="1750" b="1" i="0" dirty="0">
                <a:solidFill>
                  <a:srgbClr val="33618F"/>
                </a:solidFill>
                <a:latin typeface="Geeza Pro"/>
                <a:cs typeface="Geeza Pro"/>
              </a:rPr>
              <a:t>كُلُّه</a:t>
            </a:r>
            <a:r>
              <a:rPr lang="ar-SA" altLang="en-GB" sz="1750" b="0" i="0" dirty="0">
                <a:solidFill>
                  <a:srgbClr val="262626"/>
                </a:solidFill>
                <a:latin typeface="Geeza Pro"/>
                <a:cs typeface="Geeza Pro"/>
              </a:rPr>
              <a:t> مُوَافِق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al-farīqu kulluhu muwāfiqun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9200" y="6045200"/>
            <a:ext cx="10718800" cy="30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Translations: The plan is working. · I know the plan is working. · The plan has succeeded. · The plan may succeed. · It's only an idea. · The whole team agrees.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 Three-Step Selection 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58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686800" y="889000"/>
            <a:ext cx="3251200" cy="2667000"/>
            <a:chOff x="8686800" y="889000"/>
            <a:chExt cx="3251200" cy="2667000"/>
          </a:xfrm>
        </p:grpSpPr>
        <p:sp>
          <p:nvSpPr>
            <p:cNvPr id="13" name="Rounded Rectangle 12"/>
            <p:cNvSpPr/>
            <p:nvPr/>
          </p:nvSpPr>
          <p:spPr>
            <a:xfrm>
              <a:off x="8686800" y="889000"/>
              <a:ext cx="3251200" cy="2667000"/>
            </a:xfrm>
            <a:prstGeom prst="roundRect">
              <a:avLst>
                <a:gd name="adj" fmla="val 4761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686800" y="889000"/>
              <a:ext cx="3251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686800" y="1143000"/>
              <a:ext cx="3251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86800" y="889000"/>
              <a:ext cx="325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STEP 1 · Meaning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712200" y="1295400"/>
              <a:ext cx="3200400" cy="2235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en-GB" sz="15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What do I want to stress?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Example: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33618F"/>
                  </a:solidFill>
                  <a:latin typeface="Chalkboard SE"/>
                  <a:cs typeface="Geeza Pro"/>
                </a:rPr>
                <a:t>identity: 'the manager HIMSELF'</a:t>
              </a:r>
            </a:p>
          </p:txBody>
        </p:sp>
      </p:grpSp>
      <p:sp>
        <p:nvSpPr>
          <p:cNvPr id="18" name="Left Arrow 17"/>
          <p:cNvSpPr/>
          <p:nvPr/>
        </p:nvSpPr>
        <p:spPr>
          <a:xfrm>
            <a:off x="8255000" y="2032000"/>
            <a:ext cx="381000" cy="3556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9" name="Group 18"/>
          <p:cNvGrpSpPr/>
          <p:nvPr/>
        </p:nvGrpSpPr>
        <p:grpSpPr>
          <a:xfrm>
            <a:off x="4953000" y="889000"/>
            <a:ext cx="3251200" cy="2667000"/>
            <a:chOff x="4953000" y="889000"/>
            <a:chExt cx="3251200" cy="2667000"/>
          </a:xfrm>
        </p:grpSpPr>
        <p:sp>
          <p:nvSpPr>
            <p:cNvPr id="20" name="Rounded Rectangle 19"/>
            <p:cNvSpPr/>
            <p:nvPr/>
          </p:nvSpPr>
          <p:spPr>
            <a:xfrm>
              <a:off x="4953000" y="889000"/>
              <a:ext cx="3251200" cy="2667000"/>
            </a:xfrm>
            <a:prstGeom prst="roundRect">
              <a:avLst>
                <a:gd name="adj" fmla="val 4761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953000" y="889000"/>
              <a:ext cx="3251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953000" y="1143000"/>
              <a:ext cx="3251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953000" y="889000"/>
              <a:ext cx="325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STEP 2 · Structure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978400" y="1295400"/>
              <a:ext cx="3200400" cy="2235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en-GB" sz="15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What is the word or sentence type?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Example: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33618F"/>
                  </a:solidFill>
                  <a:latin typeface="Chalkboard SE"/>
                  <a:cs typeface="Geeza Pro"/>
                </a:rPr>
                <a:t>‎a noun: </a:t>
              </a:r>
              <a:r>
                <a:rPr lang="ar-SA" altLang="en-GB" sz="1600" b="0" i="0" dirty="0">
                  <a:solidFill>
                    <a:srgbClr val="33618F"/>
                  </a:solidFill>
                  <a:latin typeface="Geeza Pro"/>
                  <a:cs typeface="Geeza Pro"/>
                </a:rPr>
                <a:t>الْمُدِير‎, </a:t>
              </a:r>
              <a:r>
                <a:rPr lang="en-GB" sz="1300" b="0" i="0" dirty="0">
                  <a:solidFill>
                    <a:srgbClr val="33618F"/>
                  </a:solidFill>
                  <a:latin typeface="Chalkboard SE"/>
                  <a:cs typeface="Geeza Pro"/>
                </a:rPr>
                <a:t>masculine singular, subject</a:t>
              </a:r>
            </a:p>
          </p:txBody>
        </p:sp>
      </p:grpSp>
      <p:sp>
        <p:nvSpPr>
          <p:cNvPr id="25" name="Left Arrow 24"/>
          <p:cNvSpPr/>
          <p:nvPr/>
        </p:nvSpPr>
        <p:spPr>
          <a:xfrm>
            <a:off x="4521200" y="2032000"/>
            <a:ext cx="381000" cy="355600"/>
          </a:xfrm>
          <a:prstGeom prst="leftArrow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6" name="Group 25"/>
          <p:cNvGrpSpPr/>
          <p:nvPr/>
        </p:nvGrpSpPr>
        <p:grpSpPr>
          <a:xfrm>
            <a:off x="1219200" y="889000"/>
            <a:ext cx="3251200" cy="2667000"/>
            <a:chOff x="1219200" y="889000"/>
            <a:chExt cx="3251200" cy="2667000"/>
          </a:xfrm>
        </p:grpSpPr>
        <p:sp>
          <p:nvSpPr>
            <p:cNvPr id="27" name="Rounded Rectangle 26"/>
            <p:cNvSpPr/>
            <p:nvPr/>
          </p:nvSpPr>
          <p:spPr>
            <a:xfrm>
              <a:off x="1219200" y="889000"/>
              <a:ext cx="3251200" cy="2667000"/>
            </a:xfrm>
            <a:prstGeom prst="roundRect">
              <a:avLst>
                <a:gd name="adj" fmla="val 4761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219200" y="889000"/>
              <a:ext cx="3251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19200" y="1143000"/>
              <a:ext cx="3251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9200" y="889000"/>
              <a:ext cx="325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STEP 3 · Tool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44600" y="1295400"/>
              <a:ext cx="3200400" cy="2235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en-GB" sz="150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Which construction fits?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Example: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0" i="0" dirty="0">
                  <a:solidFill>
                    <a:srgbClr val="33618F"/>
                  </a:solidFill>
                  <a:latin typeface="Chalkboard SE"/>
                  <a:cs typeface="Geeza Pro"/>
                </a:rPr>
                <a:t>‎use </a:t>
              </a:r>
              <a:r>
                <a:rPr lang="ar-SA" altLang="en-GB" sz="1600" b="0" i="0" dirty="0">
                  <a:solidFill>
                    <a:srgbClr val="33618F"/>
                  </a:solidFill>
                  <a:latin typeface="Geeza Pro"/>
                  <a:cs typeface="Geeza Pro"/>
                </a:rPr>
                <a:t>نَفْس + </a:t>
              </a:r>
              <a:r>
                <a:rPr lang="en-GB" sz="13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-hu</a:t>
              </a:r>
              <a:r>
                <a:rPr lang="en-GB" sz="1300" b="0" i="0" dirty="0">
                  <a:solidFill>
                    <a:srgbClr val="33618F"/>
                  </a:solidFill>
                  <a:latin typeface="Chalkboard SE"/>
                  <a:cs typeface="Geeza Pro"/>
                </a:rPr>
                <a:t> (nominative): </a:t>
              </a:r>
              <a:r>
                <a:rPr lang="ar-SA" altLang="en-GB" sz="1600" b="0" i="0" dirty="0">
                  <a:solidFill>
                    <a:srgbClr val="33618F"/>
                  </a:solidFill>
                  <a:latin typeface="Geeza Pro"/>
                  <a:cs typeface="Geeza Pro"/>
                </a:rPr>
                <a:t>نَفْسُه</a:t>
              </a:r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2997200" y="3810000"/>
            <a:ext cx="7162800" cy="1320800"/>
          </a:xfrm>
          <a:prstGeom prst="roundRect">
            <a:avLst>
              <a:gd name="adj" fmla="val 7692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2E7D32"/>
                </a:solidFill>
                <a:latin typeface="Chalkboard SE"/>
                <a:cs typeface="Geeza Pro"/>
              </a:rPr>
              <a:t>RESULT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‏رَدّ الْمُدِير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نَفْسُه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عَلَى رِسَالَتِي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radda l-mudīru nafsuhu ʿalā risālatī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manager himself replied to my message.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219200" y="5308600"/>
            <a:ext cx="10718800" cy="812800"/>
            <a:chOff x="1219200" y="5308600"/>
            <a:chExt cx="10718800" cy="812800"/>
          </a:xfrm>
        </p:grpSpPr>
        <p:sp>
          <p:nvSpPr>
            <p:cNvPr id="34" name="Rounded Rectangle 33"/>
            <p:cNvSpPr/>
            <p:nvPr/>
          </p:nvSpPr>
          <p:spPr>
            <a:xfrm>
              <a:off x="1219200" y="5308600"/>
              <a:ext cx="10718800" cy="812800"/>
            </a:xfrm>
            <a:prstGeom prst="roundRect">
              <a:avLst>
                <a:gd name="adj" fmla="val 125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70000" y="5334000"/>
              <a:ext cx="10617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STEP 0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If no emphasis is needed, the best choice is often NO tool.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Worked Examples with the 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787400"/>
            <a:ext cx="2794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I Want to Say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1000" y="787400"/>
            <a:ext cx="2413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1 · 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26000" y="787400"/>
            <a:ext cx="1905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2 ·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787400"/>
            <a:ext cx="3606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3 · Arabic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43000"/>
            <a:ext cx="279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We've finally finished!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31000" y="1143000"/>
            <a:ext cx="241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completed event + feeling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6000" y="1143000"/>
            <a:ext cx="1905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past verb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143000"/>
            <a:ext cx="3606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‏لَقَد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انْتَهَيْنَا أَخِيرًا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laqadi ntahaynā akhīran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057400"/>
            <a:ext cx="2794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It may rain this evening.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1000" y="2057400"/>
            <a:ext cx="2413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possibility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26000" y="2057400"/>
            <a:ext cx="1905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present verb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057400"/>
            <a:ext cx="36068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‏قَد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تُمْطِر مَسَاء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qad tumṭiru masāʾan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971800"/>
            <a:ext cx="279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I'm only asking.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1000" y="2971800"/>
            <a:ext cx="241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restriction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26000" y="2971800"/>
            <a:ext cx="1905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verb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971800"/>
            <a:ext cx="3606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أَسْأَل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innamā asʾalu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886200"/>
            <a:ext cx="2794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Arabic is truly beautiful.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1000" y="3886200"/>
            <a:ext cx="2413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strengthen a statement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26000" y="3886200"/>
            <a:ext cx="19050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nominal sentence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3886200"/>
            <a:ext cx="3606800" cy="9144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الْعَرَبِيَّة جَمِيلَة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inna l-ʿarabiyyata jamīlatun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4800600"/>
            <a:ext cx="279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I read all the messages.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1000" y="4800600"/>
            <a:ext cx="241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totality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6000" y="4800600"/>
            <a:ext cx="1905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plural of things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9200" y="4800600"/>
            <a:ext cx="3606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‏قَرَأْت الرَّسَائِل </a:t>
            </a:r>
            <a:r>
              <a:rPr lang="ar-SA" altLang="en-GB" sz="1800" b="1" i="0" dirty="0">
                <a:solidFill>
                  <a:srgbClr val="33618F"/>
                </a:solidFill>
                <a:latin typeface="Geeza Pro"/>
                <a:cs typeface="Geeza Pro"/>
              </a:rPr>
              <a:t>كُلَّهَا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1" dirty="0">
                <a:solidFill>
                  <a:srgbClr val="5F5F5F"/>
                </a:solidFill>
                <a:latin typeface="Chalkboard SE"/>
                <a:cs typeface="Geeza Pro"/>
              </a:rPr>
              <a:t>qaraʾtu r-rasāʾila kullahā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19200" y="6184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47800" y="6121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the selected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Everyday Conversation: Planning a Trip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60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149600" y="812800"/>
            <a:ext cx="8788400" cy="990600"/>
            <a:chOff x="3149600" y="812800"/>
            <a:chExt cx="8788400" cy="990600"/>
          </a:xfrm>
        </p:grpSpPr>
        <p:sp>
          <p:nvSpPr>
            <p:cNvPr id="13" name="Rounded Rectangle 12"/>
            <p:cNvSpPr/>
            <p:nvPr/>
          </p:nvSpPr>
          <p:spPr>
            <a:xfrm>
              <a:off x="4318000" y="812800"/>
              <a:ext cx="7620000" cy="990600"/>
            </a:xfrm>
            <a:prstGeom prst="roundRect">
              <a:avLst>
                <a:gd name="adj" fmla="val 17948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‏هَل حَجَزْت الْفُنْدُق؟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hal ḥajazta l-funduqa?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Have you booked the hotel?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149600" y="11303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8E2453"/>
                  </a:solidFill>
                  <a:latin typeface="Geeza Pro"/>
                  <a:cs typeface="Geeza Pro"/>
                </a:rPr>
                <a:t>‏لَيْلَى · </a:t>
              </a: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Layla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219200" y="1879600"/>
            <a:ext cx="8788400" cy="990600"/>
            <a:chOff x="1219200" y="1879600"/>
            <a:chExt cx="8788400" cy="990600"/>
          </a:xfrm>
        </p:grpSpPr>
        <p:sp>
          <p:nvSpPr>
            <p:cNvPr id="16" name="Rounded Rectangle 15"/>
            <p:cNvSpPr/>
            <p:nvPr/>
          </p:nvSpPr>
          <p:spPr>
            <a:xfrm>
              <a:off x="1219200" y="1879600"/>
              <a:ext cx="7620000" cy="990600"/>
            </a:xfrm>
            <a:prstGeom prst="roundRect">
              <a:avLst>
                <a:gd name="adj" fmla="val 17948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‏نَعَم،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لَقَد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حَجَزْتُه أَمْس.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naʿam, laqad ḥajaztuhu amsi.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Yes — I booked it yesterday. It's done.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915400" y="21971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l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‏سَامِي · </a:t>
              </a:r>
              <a:r>
                <a:rPr lang="en-GB" sz="12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Sāmī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149600" y="2946400"/>
            <a:ext cx="8788400" cy="990600"/>
            <a:chOff x="3149600" y="2946400"/>
            <a:chExt cx="8788400" cy="990600"/>
          </a:xfrm>
        </p:grpSpPr>
        <p:sp>
          <p:nvSpPr>
            <p:cNvPr id="19" name="Rounded Rectangle 18"/>
            <p:cNvSpPr/>
            <p:nvPr/>
          </p:nvSpPr>
          <p:spPr>
            <a:xfrm>
              <a:off x="4318000" y="2946400"/>
              <a:ext cx="7620000" cy="990600"/>
            </a:xfrm>
            <a:prstGeom prst="roundRect">
              <a:avLst>
                <a:gd name="adj" fmla="val 17948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‏وَالتَّذَاكِر؟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wa-t-tadhākiru?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And the tickets?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149600" y="32639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8E2453"/>
                  </a:solidFill>
                  <a:latin typeface="Geeza Pro"/>
                  <a:cs typeface="Geeza Pro"/>
                </a:rPr>
                <a:t>‏لَيْلَى · </a:t>
              </a: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Layla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219200" y="4013200"/>
            <a:ext cx="8788400" cy="990600"/>
            <a:chOff x="1219200" y="4013200"/>
            <a:chExt cx="8788400" cy="990600"/>
          </a:xfrm>
        </p:grpSpPr>
        <p:sp>
          <p:nvSpPr>
            <p:cNvPr id="22" name="Rounded Rectangle 21"/>
            <p:cNvSpPr/>
            <p:nvPr/>
          </p:nvSpPr>
          <p:spPr>
            <a:xfrm>
              <a:off x="1219200" y="4013200"/>
              <a:ext cx="7620000" cy="990600"/>
            </a:xfrm>
            <a:prstGeom prst="roundRect">
              <a:avLst>
                <a:gd name="adj" fmla="val 17948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أَشْتَرِيهَا اللَّيْلَة؛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إِنَّمَا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أَنْتَظِر سِعْرًا أَفْضَل.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ashtarīhā l-laylata; innamā antaẓiru siʿran afḍala.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may buy them tonight — I'm only waiting for a better price.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915400" y="43307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l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‏سَامِي · </a:t>
              </a:r>
              <a:r>
                <a:rPr lang="en-GB" sz="12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Sāmī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149600" y="5080000"/>
            <a:ext cx="8788400" cy="990600"/>
            <a:chOff x="3149600" y="5080000"/>
            <a:chExt cx="8788400" cy="990600"/>
          </a:xfrm>
        </p:grpSpPr>
        <p:sp>
          <p:nvSpPr>
            <p:cNvPr id="25" name="Rounded Rectangle 24"/>
            <p:cNvSpPr/>
            <p:nvPr/>
          </p:nvSpPr>
          <p:spPr>
            <a:xfrm>
              <a:off x="4318000" y="5080000"/>
              <a:ext cx="7620000" cy="990600"/>
            </a:xfrm>
            <a:prstGeom prst="roundRect">
              <a:avLst>
                <a:gd name="adj" fmla="val 17948"/>
              </a:avLst>
            </a:prstGeom>
            <a:solidFill>
              <a:srgbClr val="F7E6EE"/>
            </a:solidFill>
            <a:ln w="12700">
              <a:solidFill>
                <a:srgbClr val="8E2453"/>
              </a:solidFill>
            </a:ln>
          </p:spPr>
          <p:txBody>
            <a:bodyPr rtlCol="0" anchor="ctr" wrap="square" lIns="177800" tIns="76200" rIns="1778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‏مُمْتَاز! سَنُسَافِر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كُلُّنَا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مَعًا.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mumtāzun! sa-nusāfiru kullunā maʿan.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Excellent! We'll all travel together.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149600" y="5397500"/>
              <a:ext cx="1092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200" b="1" i="0" dirty="0">
                  <a:solidFill>
                    <a:srgbClr val="8E2453"/>
                  </a:solidFill>
                  <a:latin typeface="Geeza Pro"/>
                  <a:cs typeface="Geeza Pro"/>
                </a:rPr>
                <a:t>‏لَيْلَى · </a:t>
              </a:r>
              <a:r>
                <a:rPr lang="en-GB" sz="1200" b="1" i="0" dirty="0">
                  <a:solidFill>
                    <a:srgbClr val="8E2453"/>
                  </a:solidFill>
                  <a:latin typeface="Chalkboard SE"/>
                  <a:cs typeface="Geeza Pro"/>
                </a:rPr>
                <a:t>Layla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1219200" y="62103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7800" y="6146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emphatic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At Work: A Team Meeting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787400"/>
            <a:ext cx="10718800" cy="2794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5F5F5F"/>
                </a:solidFill>
                <a:latin typeface="Chalkboard SE"/>
                <a:cs typeface="Geeza Pro"/>
              </a:rPr>
              <a:t>WORKPLACE · The team leader speaks (polite, semi-formal)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9200" y="1143000"/>
            <a:ext cx="107188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‏أَوَدّ أَن أَشْكُرَكُم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جَمِيعًا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عَلَى جُهُودِكُم.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awaddu an ashkurakum jamīʿan ʿalā juhūdikum.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I'd like to thank you all for your efforts.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2362200"/>
            <a:ext cx="107188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‏لَقَد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حَقَّقْنَا هَدَفَنَا هَذَا الشَّهْر.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laqad ḥaqqaqnā hadafanā hādhā sh-shahra.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We have truly achieved our goal this month.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9200" y="3581400"/>
            <a:ext cx="107188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‏وَ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قَد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أَكَّد الْمُدِير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نَفْسُه</a:t>
            </a:r>
            <a:r>
              <a:rPr lang="en-GB" sz="1900" b="0" i="0" dirty="0">
                <a:solidFill>
                  <a:srgbClr val="262626"/>
                </a:solidFill>
                <a:latin typeface="Chalkboard SE"/>
                <a:cs typeface="Geeza Pro"/>
              </a:rPr>
              <a:t>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أَنّ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الْمَشْرُوع نَاجِح.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wa-qad akkada l-mudīru nafsuhu anna l-mashrūʿa nājiḥun.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director himself has confirmed that the project is a success.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9200" y="4800600"/>
            <a:ext cx="107188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نَحْتَاج إِلَى وَقْت إِضَافِيّ قَلِيل.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innamā naḥtāju ilā waqtin iḍāfiyyin qalīlin.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We only need a little extra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9200" y="62103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47800" y="6146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emphatic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Announcements and Formal Statements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200" y="812800"/>
            <a:ext cx="10718800" cy="1219200"/>
          </a:xfrm>
          <a:prstGeom prst="roundRect">
            <a:avLst>
              <a:gd name="adj" fmla="val 8333"/>
            </a:avLst>
          </a:prstGeom>
          <a:solidFill>
            <a:srgbClr val="FBF3F7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AIRPORT ANNOUNCEMENT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‏نُؤَكِّد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أَنّ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الرِّحْلَة سَتُقْلِع فِي مَوْعِدِهَا.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nuʾakkidu anna r-riḥlata sa-tuqliʿu fī mawʿidihā.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We confirm that the flight will depart on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9200" y="2133600"/>
            <a:ext cx="10718800" cy="1219200"/>
          </a:xfrm>
          <a:prstGeom prst="roundRect">
            <a:avLst>
              <a:gd name="adj" fmla="val 8333"/>
            </a:avLst>
          </a:prstGeom>
          <a:solidFill>
            <a:srgbClr val="FBF3F7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AIRLINE STATEMENT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سَلَامَة الْمُسَافِرِين هِي أَوْلَوِيَّتُنَا الْأُولَى.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 salāmata l-musāfirīna hiya awlawiyyatunā l-ūlā.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Passenger safety is our first priority.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3454400"/>
            <a:ext cx="10718800" cy="1219200"/>
          </a:xfrm>
          <a:prstGeom prst="roundRect">
            <a:avLst>
              <a:gd name="adj" fmla="val 8333"/>
            </a:avLst>
          </a:prstGeom>
          <a:solidFill>
            <a:srgbClr val="FBF3F7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NEWS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‏وَ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قَد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أَعْلَنَت الْوِزَارَة </a:t>
            </a: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أَنّ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 الْمَدَارِس سَتُفْتَح الْأُسْبُوع الْقَادِم.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wa-qad aʿlanati l-wizāratu anna l-madārisa sa-tuftaḥu l-usbūʿa l-qādima.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The ministry has announced that schools will open next week.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9200" y="4775200"/>
            <a:ext cx="10718800" cy="1219200"/>
          </a:xfrm>
          <a:prstGeom prst="roundRect">
            <a:avLst>
              <a:gd name="adj" fmla="val 8333"/>
            </a:avLst>
          </a:prstGeom>
          <a:solidFill>
            <a:srgbClr val="FBF3F7"/>
          </a:solidFill>
          <a:ln w="12700">
            <a:solidFill>
              <a:srgbClr val="D9CDD3"/>
            </a:solidFill>
          </a:ln>
        </p:spPr>
        <p:txBody>
          <a:bodyPr rtlCol="0" anchor="ctr" wrap="square" lIns="127000" tIns="76200" rIns="127000" bIns="5080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SPEECH</a:t>
            </a:r>
          </a:p>
          <a:p>
            <a:pPr algn="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1" i="0" dirty="0">
                <a:solidFill>
                  <a:srgbClr val="33618F"/>
                </a:solidFill>
                <a:latin typeface="Geeza Pro"/>
                <a:cs typeface="Geeza Pro"/>
              </a:rPr>
              <a:t>‏إِنَّه لَ</a:t>
            </a: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شَرَف لِي أَن أَقِف أَمَامَكُم الْيَوْم.</a:t>
            </a:r>
          </a:p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0" i="1" dirty="0">
                <a:solidFill>
                  <a:srgbClr val="5F5F5F"/>
                </a:solidFill>
                <a:latin typeface="Chalkboard SE"/>
                <a:cs typeface="Geeza Pro"/>
              </a:rPr>
              <a:t>innahu la-sharafun lī an aqifa amāmakumu l-yawma.</a:t>
            </a:r>
            <a:r>
              <a:rPr lang="en-GB" sz="1200" b="0" i="0" dirty="0">
                <a:solidFill>
                  <a:srgbClr val="262626"/>
                </a:solidFill>
                <a:latin typeface="Chalkboard SE"/>
                <a:cs typeface="Geeza Pro"/>
              </a:rPr>
              <a:t>  —  It is truly an honour for me to stand before you today.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9200" y="62103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7800" y="6146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emphatic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Practice Ladder: From Recognition 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7933" y="78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066" y="787400"/>
            <a:ext cx="2489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RUNG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2870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ANSWER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47933" y="1092200"/>
            <a:ext cx="5164667" cy="939800"/>
            <a:chOff x="6747933" y="1092200"/>
            <a:chExt cx="5164667" cy="939800"/>
          </a:xfrm>
        </p:grpSpPr>
        <p:sp>
          <p:nvSpPr>
            <p:cNvPr id="16" name="Oval 15"/>
            <p:cNvSpPr/>
            <p:nvPr/>
          </p:nvSpPr>
          <p:spPr>
            <a:xfrm>
              <a:off x="11582400" y="13970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47933" y="1092200"/>
              <a:ext cx="4724400" cy="939800"/>
            </a:xfrm>
            <a:prstGeom prst="roundRect">
              <a:avLst>
                <a:gd name="adj" fmla="val 1081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‏لَقَد فَاز الْفَرِيق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Find the emphatic tool.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4174066" y="1092200"/>
            <a:ext cx="2489200" cy="939800"/>
          </a:xfrm>
          <a:prstGeom prst="roundRect">
            <a:avLst>
              <a:gd name="adj" fmla="val 1081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33618F"/>
                </a:solidFill>
                <a:latin typeface="Chalkboard SE"/>
                <a:cs typeface="Geeza Pro"/>
              </a:rPr>
              <a:t>1 · Recognise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2870200" cy="939800"/>
          </a:xfrm>
          <a:prstGeom prst="roundRect">
            <a:avLst>
              <a:gd name="adj" fmla="val 1081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‏لَقَد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laqad fāza l-farīqu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47933" y="2120900"/>
            <a:ext cx="5164667" cy="939800"/>
            <a:chOff x="6747933" y="2120900"/>
            <a:chExt cx="5164667" cy="939800"/>
          </a:xfrm>
        </p:grpSpPr>
        <p:sp>
          <p:nvSpPr>
            <p:cNvPr id="21" name="Oval 20"/>
            <p:cNvSpPr/>
            <p:nvPr/>
          </p:nvSpPr>
          <p:spPr>
            <a:xfrm>
              <a:off x="11582400" y="24257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747933" y="2120900"/>
              <a:ext cx="4724400" cy="939800"/>
            </a:xfrm>
            <a:prstGeom prst="roundRect">
              <a:avLst>
                <a:gd name="adj" fmla="val 1081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‏إِنَّمَا أَنَا ضَيْف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What kind of emphasis is this?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174066" y="2120900"/>
            <a:ext cx="2489200" cy="939800"/>
          </a:xfrm>
          <a:prstGeom prst="roundRect">
            <a:avLst>
              <a:gd name="adj" fmla="val 1081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33618F"/>
                </a:solidFill>
                <a:latin typeface="Chalkboard SE"/>
                <a:cs typeface="Geeza Pro"/>
              </a:rPr>
              <a:t>2 · Classify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2120900"/>
            <a:ext cx="2870200" cy="939800"/>
          </a:xfrm>
          <a:prstGeom prst="roundRect">
            <a:avLst>
              <a:gd name="adj" fmla="val 1081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2E7D32"/>
                </a:solidFill>
                <a:latin typeface="Chalkboard SE"/>
                <a:cs typeface="Geeza Pro"/>
              </a:rPr>
              <a:t>✓ Restriction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'I'm only a guest.'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747933" y="3149600"/>
            <a:ext cx="5164667" cy="939800"/>
            <a:chOff x="6747933" y="3149600"/>
            <a:chExt cx="5164667" cy="939800"/>
          </a:xfrm>
        </p:grpSpPr>
        <p:sp>
          <p:nvSpPr>
            <p:cNvPr id="26" name="Oval 25"/>
            <p:cNvSpPr/>
            <p:nvPr/>
          </p:nvSpPr>
          <p:spPr>
            <a:xfrm>
              <a:off x="11582400" y="34544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747933" y="3149600"/>
              <a:ext cx="4724400" cy="939800"/>
            </a:xfrm>
            <a:prstGeom prst="roundRect">
              <a:avLst>
                <a:gd name="adj" fmla="val 1081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‏نَجَح الطُّلَّاب ــــــ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Complete: 'all of them'.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174066" y="3149600"/>
            <a:ext cx="2489200" cy="939800"/>
          </a:xfrm>
          <a:prstGeom prst="roundRect">
            <a:avLst>
              <a:gd name="adj" fmla="val 1081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33618F"/>
                </a:solidFill>
                <a:latin typeface="Chalkboard SE"/>
                <a:cs typeface="Geeza Pro"/>
              </a:rPr>
              <a:t>3 · Complete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3149600"/>
            <a:ext cx="2870200" cy="939800"/>
          </a:xfrm>
          <a:prstGeom prst="roundRect">
            <a:avLst>
              <a:gd name="adj" fmla="val 1081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‏كُلُّهُم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najaḥa ṭ-ṭullābu kulluhum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747933" y="4178300"/>
            <a:ext cx="5164667" cy="939800"/>
            <a:chOff x="6747933" y="4178300"/>
            <a:chExt cx="5164667" cy="939800"/>
          </a:xfrm>
        </p:grpSpPr>
        <p:sp>
          <p:nvSpPr>
            <p:cNvPr id="31" name="Oval 30"/>
            <p:cNvSpPr/>
            <p:nvPr/>
          </p:nvSpPr>
          <p:spPr>
            <a:xfrm>
              <a:off x="11582400" y="44831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747933" y="4178300"/>
              <a:ext cx="4724400" cy="939800"/>
            </a:xfrm>
            <a:prstGeom prst="roundRect">
              <a:avLst>
                <a:gd name="adj" fmla="val 1081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‏الْفِكْرَة رَائِعَة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‎Rewrite with </a:t>
              </a:r>
              <a:r>
                <a:rPr lang="ar-SA" altLang="en-GB" sz="15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… لَـ.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174066" y="4178300"/>
            <a:ext cx="2489200" cy="939800"/>
          </a:xfrm>
          <a:prstGeom prst="roundRect">
            <a:avLst>
              <a:gd name="adj" fmla="val 1081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33618F"/>
                </a:solidFill>
                <a:latin typeface="Chalkboard SE"/>
                <a:cs typeface="Geeza Pro"/>
              </a:rPr>
              <a:t>4 · Transform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4178300"/>
            <a:ext cx="2870200" cy="939800"/>
          </a:xfrm>
          <a:prstGeom prst="roundRect">
            <a:avLst>
              <a:gd name="adj" fmla="val 1081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‏إِنّ الْفِكْرَة لَرَائِعَة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l-fikrata la-rāʾiʿatun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747933" y="5207000"/>
            <a:ext cx="5164667" cy="939800"/>
            <a:chOff x="6747933" y="5207000"/>
            <a:chExt cx="5164667" cy="939800"/>
          </a:xfrm>
        </p:grpSpPr>
        <p:sp>
          <p:nvSpPr>
            <p:cNvPr id="36" name="Oval 35"/>
            <p:cNvSpPr/>
            <p:nvPr/>
          </p:nvSpPr>
          <p:spPr>
            <a:xfrm>
              <a:off x="11582400" y="5511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747933" y="5207000"/>
              <a:ext cx="4724400" cy="939800"/>
            </a:xfrm>
            <a:prstGeom prst="roundRect">
              <a:avLst>
                <a:gd name="adj" fmla="val 1081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Tell a colleague: 'I have (really) finished the report.'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4174066" y="5207000"/>
            <a:ext cx="2489200" cy="939800"/>
          </a:xfrm>
          <a:prstGeom prst="roundRect">
            <a:avLst>
              <a:gd name="adj" fmla="val 1081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33618F"/>
                </a:solidFill>
                <a:latin typeface="Chalkboard SE"/>
                <a:cs typeface="Geeza Pro"/>
              </a:rPr>
              <a:t>5 · Produce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5207000"/>
            <a:ext cx="2870200" cy="939800"/>
          </a:xfrm>
          <a:prstGeom prst="roundRect">
            <a:avLst>
              <a:gd name="adj" fmla="val 1081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‏لَقَد أَنْهَيْت التَّقْرِير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laqad anhaytu t-taqrīra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Which Sounds Natural?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2333" y="787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SITUATION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94666" y="7874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‎OPTION </a:t>
            </a:r>
            <a:r>
              <a:rPr lang="ar-SA" altLang="en-GB" sz="1400" b="1" i="0" dirty="0">
                <a:solidFill>
                  <a:srgbClr val="5F5F5F"/>
                </a:solidFill>
                <a:latin typeface="Geeza Pro"/>
                <a:cs typeface="Geeza Pro"/>
              </a:rPr>
              <a:t>أ (</a:t>
            </a: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A) · OPTION </a:t>
            </a:r>
            <a:r>
              <a:rPr lang="ar-SA" altLang="en-GB" sz="1400" b="1" i="0" dirty="0">
                <a:solidFill>
                  <a:srgbClr val="5F5F5F"/>
                </a:solidFill>
                <a:latin typeface="Geeza Pro"/>
                <a:cs typeface="Geeza Pro"/>
              </a:rPr>
              <a:t>ب (</a:t>
            </a: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25908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ANSWER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62333" y="1092200"/>
            <a:ext cx="4250267" cy="965200"/>
            <a:chOff x="7662333" y="1092200"/>
            <a:chExt cx="4250267" cy="965200"/>
          </a:xfrm>
        </p:grpSpPr>
        <p:sp>
          <p:nvSpPr>
            <p:cNvPr id="16" name="Oval 15"/>
            <p:cNvSpPr/>
            <p:nvPr/>
          </p:nvSpPr>
          <p:spPr>
            <a:xfrm>
              <a:off x="11582400" y="14097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662333" y="10922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Describing your daily routine to a friend.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3894666" y="1092200"/>
            <a:ext cx="3683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‏أ: أَسْتَيْقِظ فِي السَّابِعَة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‏ب: لَقَد أَسْتَيْقِظ فِي السَّابِعَة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2590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1" i="0" dirty="0">
                <a:solidFill>
                  <a:srgbClr val="2E7D32"/>
                </a:solidFill>
                <a:latin typeface="Geeza Pro"/>
                <a:cs typeface="Geeza Pro"/>
              </a:rPr>
              <a:t>‏✓ أ (</a:t>
            </a:r>
            <a:r>
              <a:rPr lang="en-GB" sz="1600" b="1" i="0" dirty="0">
                <a:solidFill>
                  <a:srgbClr val="2E7D32"/>
                </a:solidFill>
                <a:latin typeface="Chalkboard SE"/>
                <a:cs typeface="Geeza Pro"/>
              </a:rPr>
              <a:t>A)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‎Routine needs no emphasis, and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لَقَد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needs a past verb.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7662333" y="2133600"/>
            <a:ext cx="4250267" cy="965200"/>
            <a:chOff x="7662333" y="2133600"/>
            <a:chExt cx="4250267" cy="965200"/>
          </a:xfrm>
        </p:grpSpPr>
        <p:sp>
          <p:nvSpPr>
            <p:cNvPr id="21" name="Oval 20"/>
            <p:cNvSpPr/>
            <p:nvPr/>
          </p:nvSpPr>
          <p:spPr>
            <a:xfrm>
              <a:off x="11582400" y="24511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662333" y="21336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Thanking everyone at the end of a meeting.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3894666" y="2133600"/>
            <a:ext cx="3683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‏أ: شُكْرًا لَكُم جَمِيعًا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‏ب: شُكْرًا لِجَمِيع لَكُم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2133600"/>
            <a:ext cx="2590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1" i="0" dirty="0">
                <a:solidFill>
                  <a:srgbClr val="2E7D32"/>
                </a:solidFill>
                <a:latin typeface="Geeza Pro"/>
                <a:cs typeface="Geeza Pro"/>
              </a:rPr>
              <a:t>‏✓ أ (</a:t>
            </a:r>
            <a:r>
              <a:rPr lang="en-GB" sz="1600" b="1" i="0" dirty="0">
                <a:solidFill>
                  <a:srgbClr val="2E7D32"/>
                </a:solidFill>
                <a:latin typeface="Chalkboard SE"/>
                <a:cs typeface="Geeza Pro"/>
              </a:rPr>
              <a:t>A)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‎The fixed form is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جَمِيعًا.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662333" y="3175000"/>
            <a:ext cx="4250267" cy="965200"/>
            <a:chOff x="7662333" y="3175000"/>
            <a:chExt cx="4250267" cy="965200"/>
          </a:xfrm>
        </p:grpSpPr>
        <p:sp>
          <p:nvSpPr>
            <p:cNvPr id="26" name="Oval 25"/>
            <p:cNvSpPr/>
            <p:nvPr/>
          </p:nvSpPr>
          <p:spPr>
            <a:xfrm>
              <a:off x="11582400" y="34925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662333" y="31750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Someone says: 'You didn't send it!'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3894666" y="3175000"/>
            <a:ext cx="3683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‏أ: أَرْسَلْتُه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‏ب: لَقَد أَرْسَلْتُه!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3175000"/>
            <a:ext cx="2590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1" i="0" dirty="0">
                <a:solidFill>
                  <a:srgbClr val="2E7D32"/>
                </a:solidFill>
                <a:latin typeface="Geeza Pro"/>
                <a:cs typeface="Geeza Pro"/>
              </a:rPr>
              <a:t>‏✓ ب (</a:t>
            </a:r>
            <a:r>
              <a:rPr lang="en-GB" sz="1600" b="1" i="0" dirty="0">
                <a:solidFill>
                  <a:srgbClr val="2E7D32"/>
                </a:solidFill>
                <a:latin typeface="Chalkboard SE"/>
                <a:cs typeface="Geeza Pro"/>
              </a:rPr>
              <a:t>B)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Emphasis answers a denial.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662333" y="4216400"/>
            <a:ext cx="4250267" cy="965200"/>
            <a:chOff x="7662333" y="4216400"/>
            <a:chExt cx="4250267" cy="965200"/>
          </a:xfrm>
        </p:grpSpPr>
        <p:sp>
          <p:nvSpPr>
            <p:cNvPr id="31" name="Oval 30"/>
            <p:cNvSpPr/>
            <p:nvPr/>
          </p:nvSpPr>
          <p:spPr>
            <a:xfrm>
              <a:off x="11582400" y="45339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662333" y="42164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Saying: 'I only want to help.'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3894666" y="4216400"/>
            <a:ext cx="3683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‏أ: إِنَّمَا أُرِيد أَن أُسَاعِد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‏ب: إِنّ أُرِيد أَن أُسَاعِد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4216400"/>
            <a:ext cx="2590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1" i="0" dirty="0">
                <a:solidFill>
                  <a:srgbClr val="2E7D32"/>
                </a:solidFill>
                <a:latin typeface="Geeza Pro"/>
                <a:cs typeface="Geeza Pro"/>
              </a:rPr>
              <a:t>‏✓ أ (</a:t>
            </a:r>
            <a:r>
              <a:rPr lang="en-GB" sz="1600" b="1" i="0" dirty="0">
                <a:solidFill>
                  <a:srgbClr val="2E7D32"/>
                </a:solidFill>
                <a:latin typeface="Chalkboard SE"/>
                <a:cs typeface="Geeza Pro"/>
              </a:rPr>
              <a:t>A)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‎A verb cannot follow </a:t>
            </a:r>
            <a:r>
              <a:rPr lang="ar-SA" altLang="en-GB" sz="1450" b="0" i="0" dirty="0">
                <a:solidFill>
                  <a:srgbClr val="262626"/>
                </a:solidFill>
                <a:latin typeface="Geeza Pro"/>
                <a:cs typeface="Geeza Pro"/>
              </a:rPr>
              <a:t>إِنّ </a:t>
            </a: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directly.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7662333" y="5257800"/>
            <a:ext cx="4250267" cy="965200"/>
            <a:chOff x="7662333" y="5257800"/>
            <a:chExt cx="4250267" cy="965200"/>
          </a:xfrm>
        </p:grpSpPr>
        <p:sp>
          <p:nvSpPr>
            <p:cNvPr id="36" name="Oval 35"/>
            <p:cNvSpPr/>
            <p:nvPr/>
          </p:nvSpPr>
          <p:spPr>
            <a:xfrm>
              <a:off x="11582400" y="55753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662333" y="5257800"/>
              <a:ext cx="3810000" cy="9652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Saying: 'We're in the same class.'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3894666" y="5257800"/>
            <a:ext cx="3683000" cy="965200"/>
          </a:xfrm>
          <a:prstGeom prst="roundRect">
            <a:avLst>
              <a:gd name="adj" fmla="val 10526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‏أ: نَحْن فِي نَفْس الصَّفّ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0" i="0" dirty="0">
                <a:solidFill>
                  <a:srgbClr val="33618F"/>
                </a:solidFill>
                <a:latin typeface="Geeza Pro"/>
                <a:cs typeface="Geeza Pro"/>
              </a:rPr>
              <a:t>‏ب: نَحْن فِي نَفْس صَفّ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5257800"/>
            <a:ext cx="2590800" cy="965200"/>
          </a:xfrm>
          <a:prstGeom prst="roundRect">
            <a:avLst>
              <a:gd name="adj" fmla="val 10526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600" b="1" i="0" dirty="0">
                <a:solidFill>
                  <a:srgbClr val="2E7D32"/>
                </a:solidFill>
                <a:latin typeface="Geeza Pro"/>
                <a:cs typeface="Geeza Pro"/>
              </a:rPr>
              <a:t>‏✓ أ (</a:t>
            </a:r>
            <a:r>
              <a:rPr lang="en-GB" sz="1600" b="1" i="0" dirty="0">
                <a:solidFill>
                  <a:srgbClr val="2E7D32"/>
                </a:solidFill>
                <a:latin typeface="Chalkboard SE"/>
                <a:cs typeface="Geeza Pro"/>
              </a:rPr>
              <a:t>A)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262626"/>
                </a:solidFill>
                <a:latin typeface="Chalkboard SE"/>
                <a:cs typeface="Geeza Pro"/>
              </a:rPr>
              <a:t>'The same' needs a definite noun.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Cumulative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7933" y="78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066" y="787400"/>
            <a:ext cx="2489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HINT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28702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ANSWER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47933" y="1092200"/>
            <a:ext cx="5164667" cy="812800"/>
            <a:chOff x="6747933" y="1092200"/>
            <a:chExt cx="5164667" cy="812800"/>
          </a:xfrm>
        </p:grpSpPr>
        <p:sp>
          <p:nvSpPr>
            <p:cNvPr id="16" name="Oval 15"/>
            <p:cNvSpPr/>
            <p:nvPr/>
          </p:nvSpPr>
          <p:spPr>
            <a:xfrm>
              <a:off x="11582400" y="13335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47933" y="10922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الْوَقْت كَالسَّيْف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Time is (truly) like a sword. (proverb)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4174066" y="10922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start of a nominal sentence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l-waqta ka-s-sayfi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47933" y="1968500"/>
            <a:ext cx="5164667" cy="812800"/>
            <a:chOff x="6747933" y="1968500"/>
            <a:chExt cx="5164667" cy="812800"/>
          </a:xfrm>
        </p:grpSpPr>
        <p:sp>
          <p:nvSpPr>
            <p:cNvPr id="21" name="Oval 20"/>
            <p:cNvSpPr/>
            <p:nvPr/>
          </p:nvSpPr>
          <p:spPr>
            <a:xfrm>
              <a:off x="11582400" y="2209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747933" y="19685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‏أَعْرِف ــــــ مَشْغُول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know (that) you are busy.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174066" y="19685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after 'I know' + 'you'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19685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‏أَنَّك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aʿrifu annaka mashghūlun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747933" y="2844800"/>
            <a:ext cx="5164667" cy="812800"/>
            <a:chOff x="6747933" y="2844800"/>
            <a:chExt cx="5164667" cy="812800"/>
          </a:xfrm>
        </p:grpSpPr>
        <p:sp>
          <p:nvSpPr>
            <p:cNvPr id="26" name="Oval 25"/>
            <p:cNvSpPr/>
            <p:nvPr/>
          </p:nvSpPr>
          <p:spPr>
            <a:xfrm>
              <a:off x="11582400" y="30861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747933" y="28448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وَصَل الطَّرْد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parcel has arrived.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174066" y="28448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past verb, completion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28448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‏قَد</a:t>
            </a:r>
            <a:r>
              <a:rPr lang="en-GB" sz="1800" b="0" i="0" dirty="0">
                <a:solidFill>
                  <a:srgbClr val="262626"/>
                </a:solidFill>
                <a:latin typeface="Chalkboard SE"/>
                <a:cs typeface="Geeza Pro"/>
              </a:rPr>
              <a:t> / </a:t>
            </a: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لَقَد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qad waṣala ṭ-ṭardu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747933" y="3721100"/>
            <a:ext cx="5164667" cy="812800"/>
            <a:chOff x="6747933" y="3721100"/>
            <a:chExt cx="5164667" cy="812800"/>
          </a:xfrm>
        </p:grpSpPr>
        <p:sp>
          <p:nvSpPr>
            <p:cNvPr id="31" name="Oval 30"/>
            <p:cNvSpPr/>
            <p:nvPr/>
          </p:nvSpPr>
          <p:spPr>
            <a:xfrm>
              <a:off x="11582400" y="39624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747933" y="37211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يَتَغَيَّر الْمَوْعِد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appointment may change.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174066" y="37211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present verb, 'may'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37211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qad yataghayyaru l-mawʿidu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747933" y="4597400"/>
            <a:ext cx="5164667" cy="812800"/>
            <a:chOff x="6747933" y="4597400"/>
            <a:chExt cx="5164667" cy="812800"/>
          </a:xfrm>
        </p:grpSpPr>
        <p:sp>
          <p:nvSpPr>
            <p:cNvPr id="36" name="Oval 35"/>
            <p:cNvSpPr/>
            <p:nvPr/>
          </p:nvSpPr>
          <p:spPr>
            <a:xfrm>
              <a:off x="11582400" y="48387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747933" y="45974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‏قَابَلْت الْكَاتِب ــــــ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met the writer himself.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4174066" y="45974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'himself' (object)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45974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‏نَفْسَه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qābaltu l-kātiba nafsahu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747933" y="5473700"/>
            <a:ext cx="5164667" cy="812800"/>
            <a:chOff x="6747933" y="5473700"/>
            <a:chExt cx="5164667" cy="812800"/>
          </a:xfrm>
        </p:grpSpPr>
        <p:sp>
          <p:nvSpPr>
            <p:cNvPr id="41" name="Oval 40"/>
            <p:cNvSpPr/>
            <p:nvPr/>
          </p:nvSpPr>
          <p:spPr>
            <a:xfrm>
              <a:off x="11582400" y="57150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6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6747933" y="5473700"/>
              <a:ext cx="47244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أَنَا أَسْأَل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I'm only asking.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4174066" y="5473700"/>
            <a:ext cx="24892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'only'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19200" y="5473700"/>
            <a:ext cx="28702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‏إِنَّمَا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innamā ana asʾalu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Your Turn: Personal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66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9200" y="787400"/>
            <a:ext cx="10718800" cy="406400"/>
            <a:chOff x="1219200" y="787400"/>
            <a:chExt cx="10718800" cy="406400"/>
          </a:xfrm>
        </p:grpSpPr>
        <p:sp>
          <p:nvSpPr>
            <p:cNvPr id="13" name="Rectangle 12"/>
            <p:cNvSpPr/>
            <p:nvPr/>
          </p:nvSpPr>
          <p:spPr>
            <a:xfrm>
              <a:off x="1219200" y="787400"/>
              <a:ext cx="10718800" cy="406400"/>
            </a:xfrm>
            <a:prstGeom prst="rect">
              <a:avLst/>
            </a:prstGeom>
            <a:solidFill>
              <a:srgbClr val="F7E6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19200" y="787400"/>
              <a:ext cx="76200" cy="4064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787400"/>
              <a:ext cx="104902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50800" tIns="12700" rIns="50800" bIns="127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6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Write one sentence for each prompt about YOUR life. Then compare with the model.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483600" y="1346200"/>
            <a:ext cx="3454400" cy="3810000"/>
            <a:chOff x="8483600" y="1346200"/>
            <a:chExt cx="3454400" cy="3810000"/>
          </a:xfrm>
        </p:grpSpPr>
        <p:sp>
          <p:nvSpPr>
            <p:cNvPr id="17" name="Rounded Rectangle 16"/>
            <p:cNvSpPr/>
            <p:nvPr/>
          </p:nvSpPr>
          <p:spPr>
            <a:xfrm>
              <a:off x="8483600" y="13462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4836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36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4836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 · Something You Have Truly Achieved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509000" y="17526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‎USE </a:t>
              </a:r>
              <a:r>
                <a:rPr lang="ar-SA" altLang="en-GB" sz="14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لَقَد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Model answer: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‏لَقَد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تَعَلَّمْت الْحُرُوف الْعَرَبِيَّة </a:t>
              </a: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كُلَّهَا</a:t>
              </a:r>
              <a:r>
                <a:rPr lang="en-GB" sz="18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taʿallamtu l-ḥurūfa l-ʿarabiyyata kullahā.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I've truly learned all the Arabic letters.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51400" y="1346200"/>
            <a:ext cx="3454400" cy="3810000"/>
            <a:chOff x="4851400" y="1346200"/>
            <a:chExt cx="3454400" cy="3810000"/>
          </a:xfrm>
        </p:grpSpPr>
        <p:sp>
          <p:nvSpPr>
            <p:cNvPr id="23" name="Rounded Rectangle 22"/>
            <p:cNvSpPr/>
            <p:nvPr/>
          </p:nvSpPr>
          <p:spPr>
            <a:xfrm>
              <a:off x="4851400" y="13462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8514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8514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514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 · Something That May Happen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876800" y="17526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‎USE </a:t>
              </a:r>
              <a:r>
                <a:rPr lang="ar-SA" altLang="en-GB" sz="14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قَد + </a:t>
              </a: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PRESENT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Model answer: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أَزُور الْمَغْرِب الصَّيْف الْقَادِم.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azūru l-maghriba ṣ-ṣayfa l-qādima.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I may visit Morocco next summer.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19200" y="1346200"/>
            <a:ext cx="3454400" cy="3810000"/>
            <a:chOff x="1219200" y="1346200"/>
            <a:chExt cx="3454400" cy="3810000"/>
          </a:xfrm>
        </p:grpSpPr>
        <p:sp>
          <p:nvSpPr>
            <p:cNvPr id="29" name="Rounded Rectangle 28"/>
            <p:cNvSpPr/>
            <p:nvPr/>
          </p:nvSpPr>
          <p:spPr>
            <a:xfrm>
              <a:off x="1219200" y="1346200"/>
              <a:ext cx="3454400" cy="3810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219200" y="1346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9200" y="1600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19200" y="1346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3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 · Something You Firmly Believe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44600" y="1752600"/>
              <a:ext cx="34036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‎USE </a:t>
              </a:r>
              <a:r>
                <a:rPr lang="ar-SA" altLang="en-GB" sz="14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إِنّ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Model answer:</a:t>
              </a:r>
            </a:p>
            <a:p>
              <a:pPr algn="ct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8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تَعَلُّم اللُّغَات مُفِيد جِدًّا.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taʿalluma l-lughāti mufīdun jiddan.</a:t>
              </a:r>
            </a:p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50" b="1" i="0" dirty="0">
                  <a:solidFill>
                    <a:srgbClr val="262626"/>
                  </a:solidFill>
                  <a:latin typeface="Chalkboard SE"/>
                  <a:cs typeface="Geeza Pro"/>
                </a:rPr>
                <a:t>Learning languages is truly very useful.</a:t>
              </a: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1219200" y="53975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8EFF7"/>
          </a:solidFill>
          <a:ln w="12700">
            <a:solidFill>
              <a:srgbClr val="3361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47800" y="53340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blue = emphatic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6 of 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Stop 6 of 6 · slides 67–79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2000" y="1016000"/>
            <a:ext cx="7874000" cy="38100"/>
          </a:xfrm>
          <a:prstGeom prst="rect">
            <a:avLst/>
          </a:prstGeom>
          <a:solidFill>
            <a:srgbClr val="D9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363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88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What Emphasis Means</a:t>
            </a:r>
          </a:p>
        </p:txBody>
      </p:sp>
      <p:sp>
        <p:nvSpPr>
          <p:cNvPr id="14" name="Oval 13"/>
          <p:cNvSpPr/>
          <p:nvPr/>
        </p:nvSpPr>
        <p:spPr>
          <a:xfrm>
            <a:off x="94615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38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Inside a Sentence</a:t>
            </a:r>
          </a:p>
        </p:txBody>
      </p:sp>
      <p:sp>
        <p:nvSpPr>
          <p:cNvPr id="16" name="Oval 15"/>
          <p:cNvSpPr/>
          <p:nvPr/>
        </p:nvSpPr>
        <p:spPr>
          <a:xfrm>
            <a:off x="78867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Before &amp; Within a Verb</a:t>
            </a:r>
          </a:p>
        </p:txBody>
      </p:sp>
      <p:sp>
        <p:nvSpPr>
          <p:cNvPr id="18" name="Oval 17"/>
          <p:cNvSpPr/>
          <p:nvPr/>
        </p:nvSpPr>
        <p:spPr>
          <a:xfrm>
            <a:off x="63119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42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Restriction &amp; Completeness</a:t>
            </a:r>
          </a:p>
        </p:txBody>
      </p:sp>
      <p:sp>
        <p:nvSpPr>
          <p:cNvPr id="20" name="Oval 19"/>
          <p:cNvSpPr/>
          <p:nvPr/>
        </p:nvSpPr>
        <p:spPr>
          <a:xfrm>
            <a:off x="4737100" y="895350"/>
            <a:ext cx="279400" cy="279400"/>
          </a:xfrm>
          <a:prstGeom prst="ellipse">
            <a:avLst/>
          </a:prstGeom>
          <a:solidFill>
            <a:srgbClr val="F7E6EE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00" b="1" i="0" dirty="0">
                <a:solidFill>
                  <a:srgbClr val="8E2453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94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5F5F"/>
                </a:solidFill>
                <a:latin typeface="Chalkboard SE"/>
                <a:cs typeface="Geeza Pro"/>
              </a:rPr>
              <a:t>Putting It Together</a:t>
            </a:r>
          </a:p>
        </p:txBody>
      </p:sp>
      <p:sp>
        <p:nvSpPr>
          <p:cNvPr id="22" name="Oval 21"/>
          <p:cNvSpPr/>
          <p:nvPr/>
        </p:nvSpPr>
        <p:spPr>
          <a:xfrm>
            <a:off x="3111500" y="844550"/>
            <a:ext cx="381000" cy="381000"/>
          </a:xfrm>
          <a:prstGeom prst="ellipse">
            <a:avLst/>
          </a:prstGeom>
          <a:solidFill>
            <a:srgbClr val="8E2453"/>
          </a:solidFill>
          <a:ln w="19050">
            <a:solidFill>
              <a:srgbClr val="8E2453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12446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950" b="1" i="0" dirty="0">
                <a:solidFill>
                  <a:srgbClr val="8E2453"/>
                </a:solidFill>
                <a:latin typeface="Chalkboard SE"/>
                <a:cs typeface="Geeza Pro"/>
              </a:rPr>
              <a:t>Clearing the Confusion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" y="889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YOU ARE HERE · Stop 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0800" y="1574800"/>
            <a:ext cx="6807200" cy="1320800"/>
          </a:xfrm>
          <a:prstGeom prst="roundRect">
            <a:avLst>
              <a:gd name="adj" fmla="val 11538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127000" tIns="50800" rIns="127000" bIns="254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800" b="1" i="0" dirty="0">
                <a:solidFill>
                  <a:srgbClr val="FFFFFF"/>
                </a:solidFill>
                <a:latin typeface="Chalkboard SE"/>
                <a:cs typeface="Geeza Pro"/>
              </a:rPr>
              <a:t>Clearing the Confusion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  <a:latin typeface="Chalkboard SE"/>
                <a:cs typeface="Geeza Pro"/>
              </a:rPr>
              <a:t>Look-alike tools, side by side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0" i="0" dirty="0">
                <a:solidFill>
                  <a:srgbClr val="FFFFFF"/>
                </a:solidFill>
                <a:latin typeface="Geeza Pro"/>
                <a:cs typeface="Geeza Pro"/>
              </a:rPr>
              <a:t>‏الْفُرُوق الدَّقِيقَة  </a:t>
            </a:r>
            <a:r>
              <a:rPr lang="en-GB" sz="1800" b="1" i="0" dirty="0">
                <a:solidFill>
                  <a:srgbClr val="FFFFFF"/>
                </a:solidFill>
                <a:latin typeface="Chalkboard SE"/>
                <a:cs typeface="Geeza Pro"/>
              </a:rPr>
              <a:t>· al-furūq ad-daqīqa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9200" y="1574800"/>
            <a:ext cx="3810000" cy="1320800"/>
          </a:xfrm>
          <a:prstGeom prst="roundRect">
            <a:avLst>
              <a:gd name="adj" fmla="val 11538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152400" tIns="50800" rIns="1524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8E2453"/>
                </a:solidFill>
                <a:latin typeface="Chalkboard SE"/>
                <a:cs typeface="Geeza Pro"/>
              </a:rPr>
              <a:t>THE FOCUS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Separate the pairs learners confuse most, check any sentence in three quick steps, and prove it in a final drill.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971800"/>
            <a:ext cx="10718800" cy="254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TOOLS IN THIS 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80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that vs. indeed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‏إِنّ / أَنّ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/ anna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1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strong vs. plain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‏لَقَد / قَد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laqad / qad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62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only vs. indeed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‏إِنَّمَا / إِنّ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innamā / inna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3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-self vs. very same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‏نَفْس / عَيْن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nafs / ʿayn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44600" y="32766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453"/>
            </a:solidFill>
          </a:ln>
        </p:spPr>
        <p:txBody>
          <a:bodyPr rtlCol="0" anchor="ctr" wrap="square" lIns="50800" tIns="76200" rIns="508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8E2453"/>
                </a:solidFill>
                <a:latin typeface="Chalkboard SE"/>
                <a:cs typeface="Geeza Pro"/>
              </a:rPr>
              <a:t>all vs. all</a:t>
            </a:r>
          </a:p>
          <a:p>
            <a:pPr algn="ctr" rtl="1">
              <a:lnSpc>
                <a:spcPct val="108000"/>
              </a:lnSpc>
              <a:spcAft>
                <a:spcPts val="0"/>
              </a:spcAft>
              <a:buNone/>
            </a:pPr>
            <a:r>
              <a:rPr lang="ar-SA" altLang="en-GB" sz="2000" b="0" i="0" dirty="0">
                <a:solidFill>
                  <a:srgbClr val="262626"/>
                </a:solidFill>
                <a:latin typeface="Geeza Pro"/>
                <a:cs typeface="Geeza Pro"/>
              </a:rPr>
              <a:t>‏كُلّ / جَمِيع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kull / jamīʿ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66666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1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Explain the difference inside each look-alike pair.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2933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2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Use three diagnostic checks to test any sentence.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9200" y="4699000"/>
            <a:ext cx="3471333" cy="1625600"/>
          </a:xfrm>
          <a:prstGeom prst="roundRect">
            <a:avLst>
              <a:gd name="adj" fmla="val 7812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t" wrap="square" lIns="127000" tIns="101600" rIns="127000" bIns="508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33618F"/>
                </a:solidFill>
                <a:latin typeface="Chalkboard SE"/>
                <a:cs typeface="Geeza Pro"/>
              </a:rPr>
              <a:t>GOAL 3</a:t>
            </a:r>
          </a:p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262626"/>
                </a:solidFill>
                <a:latin typeface="Chalkboard SE"/>
                <a:cs typeface="Geeza Pro"/>
              </a:rPr>
              <a:t>Correct errors and complete the final mastery drill.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‎Confusion 1: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vs.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أَنّ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68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54800" y="838200"/>
            <a:ext cx="5283200" cy="3810000"/>
            <a:chOff x="6654800" y="838200"/>
            <a:chExt cx="52832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6548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548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54800" y="1092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548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‎Opens the Statement: inna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إِنّ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802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‎start of sentence · after </a:t>
              </a:r>
              <a:r>
                <a:rPr lang="ar-SA" altLang="en-GB" sz="160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قَال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الدَّرْس سَهْل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d-darsa sahlun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lesson really is easy.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‏قَال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الدَّرْس سَهْل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qāla inna d-darsa sahlun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He said the lesson is easy.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838200"/>
            <a:ext cx="5283200" cy="3810000"/>
            <a:chOff x="1219200" y="838200"/>
            <a:chExt cx="5283200" cy="3810000"/>
          </a:xfrm>
        </p:grpSpPr>
        <p:sp>
          <p:nvSpPr>
            <p:cNvPr id="19" name="Rounded Rectangle 18"/>
            <p:cNvSpPr/>
            <p:nvPr/>
          </p:nvSpPr>
          <p:spPr>
            <a:xfrm>
              <a:off x="12192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1092200"/>
              <a:ext cx="52832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192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‎'That', Inside: anna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أَنّ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446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after verbs of knowing · after prepositions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‏عَرَفْت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أَنّ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الدَّرْس سَهْل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ʿaraftu anna d-darsa sahlun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 found out the lesson is easy.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‏لِأَنّ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الدَّرْس سَهْل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li-anna d-darsa sahlun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because the lesson is easy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4826000"/>
            <a:ext cx="10718800" cy="1270000"/>
            <a:chOff x="1219200" y="4826000"/>
            <a:chExt cx="10718800" cy="1270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4826000"/>
              <a:ext cx="10718800" cy="1270000"/>
            </a:xfrm>
            <a:prstGeom prst="roundRect">
              <a:avLst>
                <a:gd name="adj" fmla="val 8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70000" y="4851400"/>
              <a:ext cx="10617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FOUR LOOK-ALIKES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‎Four look-alikes: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'indeed' ·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أَنّ 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anna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'that' ·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 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'if' ·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أَن 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an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'to' (+ verb). Shadda = the emphatic pair.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‎Confusion 2: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قَد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with Past vs. Present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69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54800" y="838200"/>
            <a:ext cx="5283200" cy="3810000"/>
            <a:chOff x="6654800" y="838200"/>
            <a:chExt cx="52832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6548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548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54800" y="1092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548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With a PAST Verb: Completion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802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'already', 'has done'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نَسِيت كَلِمَة السِّرّ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nasītu kalimata s-sirri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 have forgotten the password.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بَدَأ الْفِيلْم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badaʾa l-fīlmu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film has started.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838200"/>
            <a:ext cx="5283200" cy="3810000"/>
            <a:chOff x="1219200" y="838200"/>
            <a:chExt cx="5283200" cy="3810000"/>
          </a:xfrm>
        </p:grpSpPr>
        <p:sp>
          <p:nvSpPr>
            <p:cNvPr id="19" name="Rounded Rectangle 18"/>
            <p:cNvSpPr/>
            <p:nvPr/>
          </p:nvSpPr>
          <p:spPr>
            <a:xfrm>
              <a:off x="12192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1092200"/>
              <a:ext cx="52832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192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With a PRESENT Verb: Possibility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446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'may', 'might', 'sometimes'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أَنْسَى كَلِمَة السِّرّ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ansā kalimata s-sirri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 may forget the password.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يَبْدَأ الْفِيلْم مُتَأَخِّرًا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yabdaʾu l-fīlmu mutaʾakhkhiran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film may start late.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4826000"/>
            <a:ext cx="10718800" cy="1270000"/>
            <a:chOff x="1219200" y="4826000"/>
            <a:chExt cx="10718800" cy="1270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4826000"/>
              <a:ext cx="10718800" cy="1270000"/>
            </a:xfrm>
            <a:prstGeom prst="roundRect">
              <a:avLst>
                <a:gd name="adj" fmla="val 8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70000" y="4851400"/>
              <a:ext cx="10617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QUICK TEST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‎Cover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and read the verb. Past verb = 'has done'. Present verb = 'may do'.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‎Confusion 3: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لَقَد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vs.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قَد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1200" y="787400"/>
            <a:ext cx="3606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5200" y="787400"/>
            <a:ext cx="3556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200" b="1" i="0" dirty="0">
                <a:solidFill>
                  <a:srgbClr val="FFFFFF"/>
                </a:solidFill>
                <a:latin typeface="Geeza Pro"/>
                <a:cs typeface="Geeza Pro"/>
              </a:rPr>
              <a:t>‏قَد (</a:t>
            </a: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qad)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3556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200" b="1" i="0" dirty="0">
                <a:solidFill>
                  <a:srgbClr val="FFFFFF"/>
                </a:solidFill>
                <a:latin typeface="Geeza Pro"/>
                <a:cs typeface="Geeza Pro"/>
              </a:rPr>
              <a:t>‏لَقَد (</a:t>
            </a: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laqad)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1200" y="1143000"/>
            <a:ext cx="3606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before a past verb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5200" y="1143000"/>
            <a:ext cx="3556000" cy="7112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قَد وَصَل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1143000"/>
            <a:ext cx="3556000" cy="7112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لَقَد وَصَل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1200" y="1854200"/>
            <a:ext cx="3606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before a present verb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5200" y="1854200"/>
            <a:ext cx="3556000" cy="7112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قَد يَصِل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'may arrive'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" y="1854200"/>
            <a:ext cx="3556000" cy="7112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1" i="0" dirty="0">
                <a:solidFill>
                  <a:srgbClr val="C62828"/>
                </a:solidFill>
                <a:latin typeface="Chalkboard SE"/>
                <a:cs typeface="Geeza Pro"/>
              </a:rPr>
              <a:t>✗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 not 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1200" y="2565400"/>
            <a:ext cx="3606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strength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75200" y="2565400"/>
            <a:ext cx="3556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plain, factual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2565400"/>
            <a:ext cx="3556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strong, emotional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1200" y="3276600"/>
            <a:ext cx="3606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typical 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75200" y="3276600"/>
            <a:ext cx="3556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‎FORMAL reports: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وَقَد 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9200" y="3276600"/>
            <a:ext cx="3556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news, surprise, feelings, replies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1200" y="3987800"/>
            <a:ext cx="3606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with negation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5200" y="3987800"/>
            <a:ext cx="3556000" cy="711200"/>
          </a:xfrm>
          <a:prstGeom prst="rect">
            <a:avLst/>
          </a:prstGeom>
          <a:solidFill>
            <a:srgbClr val="E7F4E8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800" b="1" i="0" dirty="0">
                <a:solidFill>
                  <a:srgbClr val="2E7D32"/>
                </a:solidFill>
                <a:latin typeface="Chalkboard SE"/>
                <a:cs typeface="Geeza Pro"/>
              </a:rPr>
              <a:t>‏✓</a:t>
            </a:r>
            <a:r>
              <a:rPr lang="ar-SA" altLang="en-GB" sz="1800" b="0" i="0" dirty="0">
                <a:solidFill>
                  <a:srgbClr val="262626"/>
                </a:solidFill>
                <a:latin typeface="Geeza Pro"/>
                <a:cs typeface="Geeza Pro"/>
              </a:rPr>
              <a:t> قَد لَا يَصِل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3987800"/>
            <a:ext cx="3556000" cy="711200"/>
          </a:xfrm>
          <a:prstGeom prst="rect">
            <a:avLst/>
          </a:prstGeom>
          <a:solidFill>
            <a:srgbClr val="FBEAEA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1" i="0" dirty="0">
                <a:solidFill>
                  <a:srgbClr val="C62828"/>
                </a:solidFill>
                <a:latin typeface="Chalkboard SE"/>
                <a:cs typeface="Geeza Pro"/>
              </a:rPr>
              <a:t>✗</a:t>
            </a: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 not used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219200" y="4775200"/>
            <a:ext cx="10718800" cy="1270000"/>
            <a:chOff x="1219200" y="4775200"/>
            <a:chExt cx="10718800" cy="1270000"/>
          </a:xfrm>
        </p:grpSpPr>
        <p:sp>
          <p:nvSpPr>
            <p:cNvPr id="31" name="Rounded Rectangle 30"/>
            <p:cNvSpPr/>
            <p:nvPr/>
          </p:nvSpPr>
          <p:spPr>
            <a:xfrm>
              <a:off x="1219200" y="4775200"/>
              <a:ext cx="10718800" cy="1270000"/>
            </a:xfrm>
            <a:prstGeom prst="roundRect">
              <a:avLst>
                <a:gd name="adj" fmla="val 8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70000" y="4800600"/>
              <a:ext cx="10617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KEY POINT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‎Both + past verb = completion. Choose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لَقَد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when the moment deserves force: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لَقَد نَجَحْت!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najaḥtu!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, 'I actually passed!').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1219200" y="62103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47800" y="6146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✓ green = used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62103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 w="12700">
            <a:solidFill>
              <a:srgbClr val="C628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90088" y="6146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✗ red = not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‎Confusion 4: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إِنَّمَا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vs. Ordinary Emphasis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71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54800" y="838200"/>
            <a:ext cx="5283200" cy="3810000"/>
            <a:chOff x="6654800" y="838200"/>
            <a:chExt cx="52832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6548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548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54800" y="1092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548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‎Strengthens: inna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إِنّ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802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the statement is TRUE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أَحْمَد طَالِب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Aḥmada ṭālibun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Ahmad is indeed a student.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الْمُشْكِلَة بَسِيطَة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l-mushkilata basīṭatun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problem really is simple.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838200"/>
            <a:ext cx="5283200" cy="3810000"/>
            <a:chOff x="1219200" y="838200"/>
            <a:chExt cx="5283200" cy="3810000"/>
          </a:xfrm>
        </p:grpSpPr>
        <p:sp>
          <p:nvSpPr>
            <p:cNvPr id="19" name="Rounded Rectangle 18"/>
            <p:cNvSpPr/>
            <p:nvPr/>
          </p:nvSpPr>
          <p:spPr>
            <a:xfrm>
              <a:off x="12192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1092200"/>
              <a:ext cx="52832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192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‎Limits: innamā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إِنَّمَا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446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the statement is ONLY this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‏إِنَّمَا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أَحْمَد طَالِب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 Aḥmadu ṭālibun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Ahmad is only a student.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‏إِنَّمَا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الْمُشْكِلَة فِي الْوَقْت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innamā l-mushkilatu fī l-waqti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problem is only the time.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4826000"/>
            <a:ext cx="10718800" cy="1270000"/>
            <a:chOff x="1219200" y="4826000"/>
            <a:chExt cx="10718800" cy="1270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4826000"/>
              <a:ext cx="10718800" cy="1270000"/>
            </a:xfrm>
            <a:prstGeom prst="roundRect">
              <a:avLst>
                <a:gd name="adj" fmla="val 8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70000" y="4851400"/>
              <a:ext cx="10617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WRITTEN APART = DIFFERENT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‎Don't confuse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إِنَّمَا (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one word) with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مَا (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two words, 'indeed what'):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مَا قُلْتَه صَحِيح (</a:t>
              </a:r>
              <a:r>
                <a:rPr lang="en-GB" sz="14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mā qultahu ṣaḥīḥun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) — 'What you said is correct.'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‎Confusion 5: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نَفْس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vs.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عَيْن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72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54800" y="838200"/>
            <a:ext cx="5283200" cy="3810000"/>
            <a:chOff x="6654800" y="838200"/>
            <a:chExt cx="52832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6548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548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54800" y="1092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548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‎Everyday and Formal: nafs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نَفْس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802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‎'-self' after a noun · 'the same' before a noun · 'myself': </a:t>
              </a:r>
              <a:r>
                <a:rPr lang="ar-SA" altLang="en-GB" sz="1550" b="0" i="0" dirty="0">
                  <a:solidFill>
                    <a:srgbClr val="5F5F5F"/>
                  </a:solidFill>
                  <a:latin typeface="Geeza Pro"/>
                  <a:cs typeface="Geeza Pro"/>
                </a:rPr>
                <a:t>بِنَفْسِي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‏جَاءَت الْمُدِيرَة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نَفْسُهَا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jāʾati l-mudīratu nafsuhā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manager herself came.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‏نَفْس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الْمُشْكِلَة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nafsu l-mushkilati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same problem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838200"/>
            <a:ext cx="5283200" cy="3810000"/>
            <a:chOff x="1219200" y="838200"/>
            <a:chExt cx="5283200" cy="3810000"/>
          </a:xfrm>
        </p:grpSpPr>
        <p:sp>
          <p:nvSpPr>
            <p:cNvPr id="19" name="Rounded Rectangle 18"/>
            <p:cNvSpPr/>
            <p:nvPr/>
          </p:nvSpPr>
          <p:spPr>
            <a:xfrm>
              <a:off x="12192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1092200"/>
              <a:ext cx="52832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192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‎Formal Only: ʿayn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عَيْن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446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'the very same' after a noun · also 'eye', 'spring'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‏هِي الْمُشْكِلَة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عَيْنُهَا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hiya l-mushkilatu ʿaynuhā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It is the very same problem.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‏رَأَيْتُه بِعَيْنَيّ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raʾaytuhu bi-ʿaynayya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I saw it with my own eyes. (literal 'eyes')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4826000"/>
            <a:ext cx="10718800" cy="1270000"/>
            <a:chOff x="1219200" y="4826000"/>
            <a:chExt cx="10718800" cy="1270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4826000"/>
              <a:ext cx="10718800" cy="1270000"/>
            </a:xfrm>
            <a:prstGeom prst="roundRect">
              <a:avLst>
                <a:gd name="adj" fmla="val 8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70000" y="4851400"/>
              <a:ext cx="10617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KEY POINT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‎Both follow the noun's case and take a matching suffix. Only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نَفْس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works as 'myself / yourself':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بِنَفْسِي.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When in doubt, use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نَفْس.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‎Confusion 6: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كُلّ </a:t>
            </a: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vs. </a:t>
            </a:r>
            <a:r>
              <a:rPr lang="ar-SA" altLang="en-GB" sz="2100" b="1" i="0" dirty="0">
                <a:solidFill>
                  <a:srgbClr val="8E2453"/>
                </a:solidFill>
                <a:latin typeface="Geeza Pro"/>
                <a:cs typeface="Geeza Pro"/>
              </a:rPr>
              <a:t>جَمِيع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73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54800" y="838200"/>
            <a:ext cx="5283200" cy="3810000"/>
            <a:chOff x="6654800" y="838200"/>
            <a:chExt cx="52832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6548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548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54800" y="1092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548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‎The All-Rounder: kull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كُلّ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802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every · all · the whole · emphasis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‏كُلّ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صَبَاح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kulla ṣabāḥin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every morning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‏الْبَيْت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كُلُّه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نَظِيف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al-baytu kulluhu naẓīfun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whole house is clean.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838200"/>
            <a:ext cx="5283200" cy="3810000"/>
            <a:chOff x="1219200" y="838200"/>
            <a:chExt cx="5283200" cy="3810000"/>
          </a:xfrm>
        </p:grpSpPr>
        <p:sp>
          <p:nvSpPr>
            <p:cNvPr id="19" name="Rounded Rectangle 18"/>
            <p:cNvSpPr/>
            <p:nvPr/>
          </p:nvSpPr>
          <p:spPr>
            <a:xfrm>
              <a:off x="12192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1092200"/>
              <a:ext cx="52832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192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‎'All' of a Group: jamīʿ · </a:t>
              </a:r>
              <a:r>
                <a:rPr lang="ar-SA" altLang="en-GB" sz="1800" b="1" i="0" dirty="0">
                  <a:solidFill>
                    <a:srgbClr val="FFFFFF"/>
                  </a:solidFill>
                  <a:latin typeface="Geeza Pro"/>
                  <a:cs typeface="Geeza Pro"/>
                </a:rPr>
                <a:t>جَمِيع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446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all + definite plural · emphasis · all together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‏جَمِيع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الْغُرَف نَظِيفَة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jamīʿu l-ghurafi naẓīfatun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All the rooms are clean.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‏ادْخُلُوا </a:t>
              </a: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جَمِيعًا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udkhulū jamīʿan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Come in, all of you.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4826000"/>
            <a:ext cx="10718800" cy="1270000"/>
            <a:chOff x="1219200" y="4826000"/>
            <a:chExt cx="10718800" cy="1270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4826000"/>
              <a:ext cx="10718800" cy="1270000"/>
            </a:xfrm>
            <a:prstGeom prst="roundRect">
              <a:avLst>
                <a:gd name="adj" fmla="val 8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70000" y="4851400"/>
              <a:ext cx="10617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QUICK TEST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‎For 'every':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كُلّ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only. For 'the whole':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كُلّ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only. For 'all together':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جَمِيعًا.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For 'all the …': either.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Confusion 7: Emphasis vs. Exclamation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74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54800" y="838200"/>
            <a:ext cx="5283200" cy="3810000"/>
            <a:chOff x="6654800" y="838200"/>
            <a:chExt cx="5283200" cy="3810000"/>
          </a:xfrm>
        </p:grpSpPr>
        <p:sp>
          <p:nvSpPr>
            <p:cNvPr id="13" name="Rounded Rectangle 12"/>
            <p:cNvSpPr/>
            <p:nvPr/>
          </p:nvSpPr>
          <p:spPr>
            <a:xfrm>
              <a:off x="66548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548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654800" y="1092200"/>
              <a:ext cx="52832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548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Emphasis — Asserts a Fact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802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ends with a full stop · answers doubt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الْبَحْر جَمِيل.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l-baḥra jamīlun.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sea really is beautiful.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‏لَقَد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كَان الْعَرْض رَائِعًا.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laqad kāna l-ʿarḍu rāʾiʿan.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show was truly great.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219200" y="838200"/>
            <a:ext cx="5283200" cy="3810000"/>
            <a:chOff x="1219200" y="838200"/>
            <a:chExt cx="5283200" cy="3810000"/>
          </a:xfrm>
        </p:grpSpPr>
        <p:sp>
          <p:nvSpPr>
            <p:cNvPr id="19" name="Rounded Rectangle 18"/>
            <p:cNvSpPr/>
            <p:nvPr/>
          </p:nvSpPr>
          <p:spPr>
            <a:xfrm>
              <a:off x="1219200" y="838200"/>
              <a:ext cx="5283200" cy="3810000"/>
            </a:xfrm>
            <a:prstGeom prst="roundRect">
              <a:avLst>
                <a:gd name="adj" fmla="val 3333"/>
              </a:avLst>
            </a:prstGeom>
            <a:solidFill>
              <a:srgbClr val="E8EFF7"/>
            </a:solidFill>
            <a:ln w="1524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19200" y="838200"/>
              <a:ext cx="5283200" cy="381000"/>
            </a:xfrm>
            <a:prstGeom prst="roundRect">
              <a:avLst>
                <a:gd name="adj" fmla="val 33333"/>
              </a:avLst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1092200"/>
              <a:ext cx="5283200" cy="127000"/>
            </a:xfrm>
            <a:prstGeom prst="rect">
              <a:avLst/>
            </a:prstGeom>
            <a:solidFill>
              <a:srgbClr val="33618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19200" y="838200"/>
              <a:ext cx="528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5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Exclamation — Expresses Wonder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44600" y="1244600"/>
              <a:ext cx="5232400" cy="337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300" b="0" i="0" dirty="0">
                  <a:solidFill>
                    <a:srgbClr val="5F5F5F"/>
                  </a:solidFill>
                  <a:latin typeface="Chalkboard SE"/>
                  <a:cs typeface="Geeza Pro"/>
                </a:rPr>
                <a:t>ends with ! · Chapter 2.12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‏مَا أَجْمَل الْبَحْر!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mā ajmala l-baḥra!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How beautiful the sea is!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‏يَا لَه مِن عَرْض رَائِع!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yā lahu min ʿarḍin rāʾiʿin!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What a wonderful show!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4826000"/>
            <a:ext cx="10718800" cy="1270000"/>
            <a:chOff x="1219200" y="4826000"/>
            <a:chExt cx="10718800" cy="1270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4826000"/>
              <a:ext cx="10718800" cy="1270000"/>
            </a:xfrm>
            <a:prstGeom prst="roundRect">
              <a:avLst>
                <a:gd name="adj" fmla="val 8000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70000" y="4851400"/>
              <a:ext cx="10617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KEY POINT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Emphasis says 'this IS true'. Exclamation says 'I'm amazed by this'. A sentence can be both true and amazing, but the tools are different.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Confusion 8: Emphasis vs. Affirmation and Negation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75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483600" y="838200"/>
            <a:ext cx="3454400" cy="4318000"/>
            <a:chOff x="8483600" y="838200"/>
            <a:chExt cx="3454400" cy="4318000"/>
          </a:xfrm>
        </p:grpSpPr>
        <p:sp>
          <p:nvSpPr>
            <p:cNvPr id="13" name="Rounded Rectangle 12"/>
            <p:cNvSpPr/>
            <p:nvPr/>
          </p:nvSpPr>
          <p:spPr>
            <a:xfrm>
              <a:off x="8483600" y="838200"/>
              <a:ext cx="3454400" cy="4318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4836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836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836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Affirmation = Reply Words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509000" y="1244600"/>
              <a:ext cx="3403600" cy="3886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They answer; they are not emphatic tools.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‏نَعَم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naʿam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yes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‏أَجَل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ajal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yes (FORMAL)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‏— أَلَم تَفْهَم؟ — بَلَى.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a-lam tafham? — balā.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Didn't you understand? — Yes, I did.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51400" y="838200"/>
            <a:ext cx="3454400" cy="4318000"/>
            <a:chOff x="4851400" y="838200"/>
            <a:chExt cx="3454400" cy="4318000"/>
          </a:xfrm>
        </p:grpSpPr>
        <p:sp>
          <p:nvSpPr>
            <p:cNvPr id="19" name="Rounded Rectangle 18"/>
            <p:cNvSpPr/>
            <p:nvPr/>
          </p:nvSpPr>
          <p:spPr>
            <a:xfrm>
              <a:off x="4851400" y="838200"/>
              <a:ext cx="3454400" cy="4318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8514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514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514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Negation Can Be Emphasized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76800" y="1244600"/>
              <a:ext cx="3403600" cy="3886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Emphasis tools also work with negative statements.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‏إِنّ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الْمَتْحَف لَيْس مَفْتُوحًا الْيَوْم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inna l-matḥafa laysa maftūḥan l-yawma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The museum really isn't open today.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1" i="0" dirty="0">
                  <a:solidFill>
                    <a:srgbClr val="33618F"/>
                  </a:solidFill>
                  <a:latin typeface="Geeza Pro"/>
                  <a:cs typeface="Geeza Pro"/>
                </a:rPr>
                <a:t>‏قَد</a:t>
              </a: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 لَا يَأْتِي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qad lā yaʾtī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He may not come.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838200"/>
            <a:ext cx="3454400" cy="4318000"/>
            <a:chOff x="1219200" y="838200"/>
            <a:chExt cx="3454400" cy="4318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838200"/>
              <a:ext cx="3454400" cy="4318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2192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192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192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Strong Denial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44600" y="1244600"/>
              <a:ext cx="3403600" cy="3886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600"/>
                </a:spcAft>
                <a:buNone/>
              </a:pP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‎The word </a:t>
              </a:r>
              <a:r>
                <a:rPr lang="ar-SA" altLang="en-GB" sz="155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كَلَّا </a:t>
              </a:r>
              <a:r>
                <a:rPr lang="en-GB" sz="125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is a FORMAL, emphatic 'no' — a reply word, not one of the ten tools.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‏كَلَّا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kallā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No, not at all!</a:t>
              </a:r>
            </a:p>
            <a:p>
              <a:pPr algn="r" rtl="1">
                <a:lnSpc>
                  <a:spcPct val="108000"/>
                </a:lnSpc>
                <a:spcAft>
                  <a:spcPts val="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‏لَا، أَبَدًا</a:t>
              </a:r>
            </a:p>
            <a:p>
              <a:pPr algn="r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200" b="0" i="1" dirty="0">
                  <a:solidFill>
                    <a:srgbClr val="5F5F5F"/>
                  </a:solidFill>
                  <a:latin typeface="Chalkboard SE"/>
                  <a:cs typeface="Geeza Pro"/>
                </a:rPr>
                <a:t>lā, abadan</a:t>
              </a: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  —  No, never! (EVERYDAY)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19200" y="5308600"/>
            <a:ext cx="10718800" cy="787400"/>
            <a:chOff x="1219200" y="5308600"/>
            <a:chExt cx="10718800" cy="787400"/>
          </a:xfrm>
        </p:grpSpPr>
        <p:sp>
          <p:nvSpPr>
            <p:cNvPr id="31" name="Rounded Rectangle 30"/>
            <p:cNvSpPr/>
            <p:nvPr/>
          </p:nvSpPr>
          <p:spPr>
            <a:xfrm>
              <a:off x="1219200" y="5308600"/>
              <a:ext cx="10718800" cy="787400"/>
            </a:xfrm>
            <a:prstGeom prst="roundRect">
              <a:avLst>
                <a:gd name="adj" fmla="val 12903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70000" y="5334000"/>
              <a:ext cx="106172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WATCH OUT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‎After a NEGATIVE question, 'yes' is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بَلَى.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Answering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نَعَم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there would mean 'right, I didn't'.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Three Quick Diagnostic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76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483600" y="838200"/>
            <a:ext cx="3454400" cy="4191000"/>
            <a:chOff x="8483600" y="838200"/>
            <a:chExt cx="3454400" cy="4191000"/>
          </a:xfrm>
        </p:grpSpPr>
        <p:sp>
          <p:nvSpPr>
            <p:cNvPr id="13" name="Rounded Rectangle 12"/>
            <p:cNvSpPr/>
            <p:nvPr/>
          </p:nvSpPr>
          <p:spPr>
            <a:xfrm>
              <a:off x="8483600" y="838200"/>
              <a:ext cx="3454400" cy="4191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4836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836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836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CHECK 1 · What Comes Next?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509000" y="1244600"/>
              <a:ext cx="3403600" cy="375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‎Noun or pronoun next: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· أَنّ · إِنَّمَا</a:t>
              </a:r>
            </a:p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‎Past verb next: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· لَقَد</a:t>
              </a:r>
            </a:p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‎Present verb next: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'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may' ·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إِنَّمَا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‎Verb after 'want / must':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أَن‎, </a:t>
              </a: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not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أَنّ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51400" y="838200"/>
            <a:ext cx="3454400" cy="4191000"/>
            <a:chOff x="4851400" y="838200"/>
            <a:chExt cx="3454400" cy="4191000"/>
          </a:xfrm>
        </p:grpSpPr>
        <p:sp>
          <p:nvSpPr>
            <p:cNvPr id="19" name="Rounded Rectangle 18"/>
            <p:cNvSpPr/>
            <p:nvPr/>
          </p:nvSpPr>
          <p:spPr>
            <a:xfrm>
              <a:off x="4851400" y="838200"/>
              <a:ext cx="3454400" cy="4191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8514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514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514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CHECK 2 · Where Is It?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76800" y="1244600"/>
              <a:ext cx="3403600" cy="375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‎Sentence start, or after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قَال‎: إِنّ</a:t>
              </a:r>
            </a:p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‎After a verb of knowing or a preposition: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أَنّ</a:t>
              </a:r>
            </a:p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‎After a noun, with a suffix: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نَفْس · عَيْن · كُلّ · جَمِيع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‎Joined to a word: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لَـ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219200" y="838200"/>
            <a:ext cx="3454400" cy="4191000"/>
            <a:chOff x="1219200" y="838200"/>
            <a:chExt cx="3454400" cy="4191000"/>
          </a:xfrm>
        </p:grpSpPr>
        <p:sp>
          <p:nvSpPr>
            <p:cNvPr id="25" name="Rounded Rectangle 24"/>
            <p:cNvSpPr/>
            <p:nvPr/>
          </p:nvSpPr>
          <p:spPr>
            <a:xfrm>
              <a:off x="1219200" y="838200"/>
              <a:ext cx="3454400" cy="4191000"/>
            </a:xfrm>
            <a:prstGeom prst="roundRect">
              <a:avLst>
                <a:gd name="adj" fmla="val 3676"/>
              </a:avLst>
            </a:prstGeom>
            <a:solidFill>
              <a:srgbClr val="FBF3F7"/>
            </a:solidFill>
            <a:ln w="15240">
              <a:solidFill>
                <a:srgbClr val="8E245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219200" y="838200"/>
              <a:ext cx="3454400" cy="381000"/>
            </a:xfrm>
            <a:prstGeom prst="roundRect">
              <a:avLst>
                <a:gd name="adj" fmla="val 33333"/>
              </a:avLst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19200" y="1092200"/>
              <a:ext cx="3454400" cy="127000"/>
            </a:xfrm>
            <a:prstGeom prst="rect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19200" y="838200"/>
              <a:ext cx="345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76200" tIns="12700" rIns="76200" bIns="1270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5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CHECK 3 · What Is the Job?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44600" y="1244600"/>
              <a:ext cx="3403600" cy="3759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t" wrap="square" lIns="101600" tIns="762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‎Strengthen: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إِنّ · إِنّ … لَـ</a:t>
              </a:r>
            </a:p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‎Completed or possible: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قَد · لَقَد</a:t>
              </a:r>
            </a:p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‎Limit: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إِنَّمَا</a:t>
              </a:r>
            </a:p>
            <a:p>
              <a:pPr algn="l" rtl="0">
                <a:lnSpc>
                  <a:spcPct val="108000"/>
                </a:lnSpc>
                <a:spcAft>
                  <a:spcPts val="8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‎Identity: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نَفْس · عَيْن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‎Totality: </a:t>
              </a:r>
              <a:r>
                <a:rPr lang="ar-SA" altLang="en-GB" sz="17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كُلّ · جَمِيع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19200" y="5207000"/>
            <a:ext cx="10718800" cy="889000"/>
            <a:chOff x="1219200" y="5207000"/>
            <a:chExt cx="10718800" cy="889000"/>
          </a:xfrm>
        </p:grpSpPr>
        <p:sp>
          <p:nvSpPr>
            <p:cNvPr id="31" name="Rounded Rectangle 30"/>
            <p:cNvSpPr/>
            <p:nvPr/>
          </p:nvSpPr>
          <p:spPr>
            <a:xfrm>
              <a:off x="1219200" y="5207000"/>
              <a:ext cx="10718800" cy="889000"/>
            </a:xfrm>
            <a:prstGeom prst="roundRect">
              <a:avLst>
                <a:gd name="adj" fmla="val 11428"/>
              </a:avLst>
            </a:prstGeom>
            <a:solidFill>
              <a:srgbClr val="E8EFF7"/>
            </a:solidFill>
            <a:ln w="12700">
              <a:solidFill>
                <a:srgbClr val="33618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70000" y="5232400"/>
              <a:ext cx="106172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 wrap="square" lIns="101600" tIns="50800" rIns="101600" bIns="50800">
              <a:noAutofit/>
            </a:bodyPr>
            <a:lstStyle/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100" b="1" i="0" dirty="0">
                  <a:solidFill>
                    <a:srgbClr val="33618F"/>
                  </a:solidFill>
                  <a:latin typeface="Chalkboard SE"/>
                  <a:cs typeface="Geeza Pro"/>
                </a:rPr>
                <a:t>HOW TO USE</a:t>
              </a:r>
            </a:p>
            <a:p>
              <a:pPr algn="l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4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Run the checks in order, starting from the right-hand card: next word, then position, then job.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Correction Exercise: Find and Fix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89333" y="7874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SENTENCE WITH AN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7666" y="7874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HINT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787400"/>
            <a:ext cx="37338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5F5F5F"/>
                </a:solidFill>
                <a:latin typeface="Chalkboard SE"/>
                <a:cs typeface="Geeza Pro"/>
              </a:rPr>
              <a:t>CORRECTED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789333" y="1092200"/>
            <a:ext cx="4123267" cy="812800"/>
            <a:chOff x="7789333" y="1092200"/>
            <a:chExt cx="4123267" cy="812800"/>
          </a:xfrm>
        </p:grpSpPr>
        <p:sp>
          <p:nvSpPr>
            <p:cNvPr id="16" name="Oval 15"/>
            <p:cNvSpPr/>
            <p:nvPr/>
          </p:nvSpPr>
          <p:spPr>
            <a:xfrm>
              <a:off x="11582400" y="13335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789333" y="1092200"/>
              <a:ext cx="36830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الطَّقْس بَارِدًا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weather is indeed cold.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5037666" y="1092200"/>
            <a:ext cx="26670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predicate 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9200" y="1092200"/>
            <a:ext cx="37338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‏إِنّ الطَّقْس بَارِد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ṭ-ṭaqsa bāridun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7789333" y="1968500"/>
            <a:ext cx="4123267" cy="812800"/>
            <a:chOff x="7789333" y="1968500"/>
            <a:chExt cx="4123267" cy="812800"/>
          </a:xfrm>
        </p:grpSpPr>
        <p:sp>
          <p:nvSpPr>
            <p:cNvPr id="21" name="Oval 20"/>
            <p:cNvSpPr/>
            <p:nvPr/>
          </p:nvSpPr>
          <p:spPr>
            <a:xfrm>
              <a:off x="11582400" y="2209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789333" y="1968500"/>
              <a:ext cx="36830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‏لَقَد أَدْرُس الْعَرَبِيَّة كُلّ يَوْم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study Arabic every day.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5037666" y="1968500"/>
            <a:ext cx="26670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verb form + routine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1968500"/>
            <a:ext cx="37338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‏أَدْرُس الْعَرَبِيَّة كُلّ يَوْم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adrusu l-ʿarabiyyata kulla yawmin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789333" y="2844800"/>
            <a:ext cx="4123267" cy="812800"/>
            <a:chOff x="7789333" y="2844800"/>
            <a:chExt cx="4123267" cy="812800"/>
          </a:xfrm>
        </p:grpSpPr>
        <p:sp>
          <p:nvSpPr>
            <p:cNvPr id="26" name="Oval 25"/>
            <p:cNvSpPr/>
            <p:nvPr/>
          </p:nvSpPr>
          <p:spPr>
            <a:xfrm>
              <a:off x="11582400" y="30861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789333" y="2844800"/>
              <a:ext cx="36830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‏أَظُنّ إِنّ الْفِيلْم طَوِيل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think the film is long.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5037666" y="2844800"/>
            <a:ext cx="26670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after a verb of thinking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2844800"/>
            <a:ext cx="37338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‏أَظُنّ أَنّ الْفِيلْم طَوِيل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aẓunnu anna l-fīlma ṭawīlun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789333" y="3721100"/>
            <a:ext cx="4123267" cy="812800"/>
            <a:chOff x="7789333" y="3721100"/>
            <a:chExt cx="4123267" cy="812800"/>
          </a:xfrm>
        </p:grpSpPr>
        <p:sp>
          <p:nvSpPr>
            <p:cNvPr id="31" name="Oval 30"/>
            <p:cNvSpPr/>
            <p:nvPr/>
          </p:nvSpPr>
          <p:spPr>
            <a:xfrm>
              <a:off x="11582400" y="39624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89333" y="3721100"/>
              <a:ext cx="36830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‏قَابَلْت الْمُدِيرَة نَفْسَه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met the manager herself.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5037666" y="3721100"/>
            <a:ext cx="26670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suffix agreement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" y="3721100"/>
            <a:ext cx="37338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‏قَابَلْت الْمُدِيرَة نَفْسَهَا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qābaltu l-mudīrata nafsahā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7789333" y="4597400"/>
            <a:ext cx="4123267" cy="812800"/>
            <a:chOff x="7789333" y="4597400"/>
            <a:chExt cx="4123267" cy="812800"/>
          </a:xfrm>
        </p:grpSpPr>
        <p:sp>
          <p:nvSpPr>
            <p:cNvPr id="36" name="Oval 35"/>
            <p:cNvSpPr/>
            <p:nvPr/>
          </p:nvSpPr>
          <p:spPr>
            <a:xfrm>
              <a:off x="11582400" y="48387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789333" y="4597400"/>
              <a:ext cx="36830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‏جَمِيع يَوْم أَشْرَب الْقَهْوَة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Every day I drink coffee.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5037666" y="4597400"/>
            <a:ext cx="26670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'every'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9200" y="4597400"/>
            <a:ext cx="37338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‏كُلّ يَوْم أَشْرَب الْقَهْوَة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kulla yawmin ashrabu l-qahwata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7789333" y="5473700"/>
            <a:ext cx="4123267" cy="812800"/>
            <a:chOff x="7789333" y="5473700"/>
            <a:chExt cx="4123267" cy="812800"/>
          </a:xfrm>
        </p:grpSpPr>
        <p:sp>
          <p:nvSpPr>
            <p:cNvPr id="41" name="Oval 40"/>
            <p:cNvSpPr/>
            <p:nvPr/>
          </p:nvSpPr>
          <p:spPr>
            <a:xfrm>
              <a:off x="11582400" y="57150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6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789333" y="5473700"/>
              <a:ext cx="3683000" cy="812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8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‏قَد سَيَصِل الْقِطَار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train may arrive.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5037666" y="5473700"/>
            <a:ext cx="2667000" cy="812800"/>
          </a:xfrm>
          <a:prstGeom prst="roundRect">
            <a:avLst>
              <a:gd name="adj" fmla="val 12500"/>
            </a:avLst>
          </a:prstGeom>
          <a:solidFill>
            <a:srgbClr val="E8EFF7"/>
          </a:solidFill>
          <a:ln w="9525">
            <a:solidFill>
              <a:srgbClr val="33618F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0" dirty="0">
                <a:solidFill>
                  <a:srgbClr val="33618F"/>
                </a:solidFill>
                <a:latin typeface="Chalkboard SE"/>
                <a:cs typeface="Geeza Pro"/>
              </a:rPr>
              <a:t>‎future after </a:t>
            </a:r>
            <a:r>
              <a:rPr lang="ar-SA" altLang="en-GB" sz="1450" b="0" i="0" dirty="0">
                <a:solidFill>
                  <a:srgbClr val="33618F"/>
                </a:solidFill>
                <a:latin typeface="Geeza Pro"/>
                <a:cs typeface="Geeza Pro"/>
              </a:rPr>
              <a:t>قَد?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19200" y="5473700"/>
            <a:ext cx="3733800" cy="812800"/>
          </a:xfrm>
          <a:prstGeom prst="roundRect">
            <a:avLst>
              <a:gd name="adj" fmla="val 125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800" b="1" i="0" dirty="0">
                <a:solidFill>
                  <a:srgbClr val="2E7D32"/>
                </a:solidFill>
                <a:latin typeface="Geeza Pro"/>
                <a:cs typeface="Geeza Pro"/>
              </a:rPr>
              <a:t>‏قَد يَصِل الْقِطَار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qad yaṣilu l-qiṭāru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Final Mastery Drill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787400"/>
            <a:ext cx="10718800" cy="30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0" i="0" dirty="0">
                <a:solidFill>
                  <a:srgbClr val="5F5F5F"/>
                </a:solidFill>
                <a:latin typeface="Chalkboard SE"/>
                <a:cs typeface="Geeza Pro"/>
              </a:rPr>
              <a:t>Complete each sentence. Answers on the next slide.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654800" y="1168400"/>
            <a:ext cx="5181600" cy="1143000"/>
            <a:chOff x="6654800" y="1168400"/>
            <a:chExt cx="5181600" cy="1143000"/>
          </a:xfrm>
        </p:grpSpPr>
        <p:sp>
          <p:nvSpPr>
            <p:cNvPr id="14" name="Oval 13"/>
            <p:cNvSpPr/>
            <p:nvPr/>
          </p:nvSpPr>
          <p:spPr>
            <a:xfrm>
              <a:off x="11506200" y="157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1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654800" y="1168400"/>
              <a:ext cx="4775200" cy="11430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الصِّدْق مَنْجَاة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Honesty is truly salvation. (proverb)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219200" y="1168400"/>
            <a:ext cx="5181600" cy="1143000"/>
            <a:chOff x="1219200" y="1168400"/>
            <a:chExt cx="5181600" cy="1143000"/>
          </a:xfrm>
        </p:grpSpPr>
        <p:sp>
          <p:nvSpPr>
            <p:cNvPr id="17" name="Oval 16"/>
            <p:cNvSpPr/>
            <p:nvPr/>
          </p:nvSpPr>
          <p:spPr>
            <a:xfrm>
              <a:off x="6070600" y="157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2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219200" y="1168400"/>
              <a:ext cx="4775200" cy="11430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‏سَمِعْت ــــــ الْمَتْجَر سَيُغْلَق مُبَكِّرًا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heard that the shop will close early.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654800" y="2438400"/>
            <a:ext cx="5181600" cy="1143000"/>
            <a:chOff x="6654800" y="2438400"/>
            <a:chExt cx="5181600" cy="1143000"/>
          </a:xfrm>
        </p:grpSpPr>
        <p:sp>
          <p:nvSpPr>
            <p:cNvPr id="20" name="Oval 19"/>
            <p:cNvSpPr/>
            <p:nvPr/>
          </p:nvSpPr>
          <p:spPr>
            <a:xfrm>
              <a:off x="11506200" y="284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3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654800" y="2438400"/>
              <a:ext cx="4775200" cy="11430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وَصَلْنَا أَخِيرًا!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We've finally arrived!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19200" y="2438400"/>
            <a:ext cx="5181600" cy="1143000"/>
            <a:chOff x="1219200" y="2438400"/>
            <a:chExt cx="5181600" cy="1143000"/>
          </a:xfrm>
        </p:grpSpPr>
        <p:sp>
          <p:nvSpPr>
            <p:cNvPr id="23" name="Oval 22"/>
            <p:cNvSpPr/>
            <p:nvPr/>
          </p:nvSpPr>
          <p:spPr>
            <a:xfrm>
              <a:off x="6070600" y="284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4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19200" y="2438400"/>
              <a:ext cx="4775200" cy="11430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يَتَأَخَّر الرَّدّ قَلِيلًا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reply may be a little late.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654800" y="3708400"/>
            <a:ext cx="5181600" cy="1143000"/>
            <a:chOff x="6654800" y="3708400"/>
            <a:chExt cx="5181600" cy="1143000"/>
          </a:xfrm>
        </p:grpSpPr>
        <p:sp>
          <p:nvSpPr>
            <p:cNvPr id="26" name="Oval 25"/>
            <p:cNvSpPr/>
            <p:nvPr/>
          </p:nvSpPr>
          <p:spPr>
            <a:xfrm>
              <a:off x="11506200" y="411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5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54800" y="3708400"/>
              <a:ext cx="4775200" cy="11430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‏إِنّ هَذَا ــــــخَبَر سَعِيد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This is truly happy news.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19200" y="3708400"/>
            <a:ext cx="5181600" cy="1143000"/>
            <a:chOff x="1219200" y="3708400"/>
            <a:chExt cx="5181600" cy="1143000"/>
          </a:xfrm>
        </p:grpSpPr>
        <p:sp>
          <p:nvSpPr>
            <p:cNvPr id="29" name="Oval 28"/>
            <p:cNvSpPr/>
            <p:nvPr/>
          </p:nvSpPr>
          <p:spPr>
            <a:xfrm>
              <a:off x="6070600" y="411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6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219200" y="3708400"/>
              <a:ext cx="4775200" cy="11430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‏ــــــ أَنَا أُعَبِّر عَن رَأْيِي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I'm only expressing my opinion.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654800" y="4978400"/>
            <a:ext cx="5181600" cy="1143000"/>
            <a:chOff x="6654800" y="4978400"/>
            <a:chExt cx="5181600" cy="1143000"/>
          </a:xfrm>
        </p:grpSpPr>
        <p:sp>
          <p:nvSpPr>
            <p:cNvPr id="32" name="Oval 31"/>
            <p:cNvSpPr/>
            <p:nvPr/>
          </p:nvSpPr>
          <p:spPr>
            <a:xfrm>
              <a:off x="11506200" y="538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7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654800" y="4978400"/>
              <a:ext cx="4775200" cy="11430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‏اسْتَقْبَلَنَا الرَّئِيس ــــــ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The president himself received us.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219200" y="4978400"/>
            <a:ext cx="5181600" cy="1143000"/>
            <a:chOff x="1219200" y="4978400"/>
            <a:chExt cx="5181600" cy="1143000"/>
          </a:xfrm>
        </p:grpSpPr>
        <p:sp>
          <p:nvSpPr>
            <p:cNvPr id="35" name="Oval 34"/>
            <p:cNvSpPr/>
            <p:nvPr/>
          </p:nvSpPr>
          <p:spPr>
            <a:xfrm>
              <a:off x="6070600" y="5384800"/>
              <a:ext cx="330200" cy="330200"/>
            </a:xfrm>
            <a:prstGeom prst="ellipse">
              <a:avLst/>
            </a:prstGeom>
            <a:solidFill>
              <a:srgbClr val="8E2453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1" i="0" dirty="0">
                  <a:solidFill>
                    <a:srgbClr val="FFFFFF"/>
                  </a:solidFill>
                  <a:latin typeface="Chalkboard SE"/>
                  <a:cs typeface="Geeza Pro"/>
                </a:rPr>
                <a:t>8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219200" y="4978400"/>
              <a:ext cx="4775200" cy="11430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2700">
              <a:solidFill>
                <a:srgbClr val="D9CDD3"/>
              </a:solidFill>
            </a:ln>
          </p:spPr>
          <p:txBody>
            <a:bodyPr rtlCol="0" anchor="ctr" wrap="square" lIns="88900" tIns="88900" rIns="88900" bIns="50800">
              <a:noAutofit/>
            </a:bodyPr>
            <a:lstStyle/>
            <a:p>
              <a:pPr algn="r" rtl="1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ar-SA" altLang="en-GB" sz="1900" b="0" i="0" dirty="0">
                  <a:solidFill>
                    <a:srgbClr val="262626"/>
                  </a:solidFill>
                  <a:latin typeface="Geeza Pro"/>
                  <a:cs typeface="Geeza Pro"/>
                </a:rPr>
                <a:t>‏أُحِبّ هَذِه الْأُغْنِيَات ــــــ</a:t>
              </a:r>
            </a:p>
            <a:p>
              <a:pPr algn="r" rtl="0">
                <a:lnSpc>
                  <a:spcPct val="108000"/>
                </a:lnSpc>
                <a:spcAft>
                  <a:spcPts val="200"/>
                </a:spcAft>
                <a:buNone/>
              </a:pPr>
              <a:r>
                <a:rPr lang="en-GB" sz="1200" b="0" i="0" dirty="0">
                  <a:solidFill>
                    <a:srgbClr val="262626"/>
                  </a:solidFill>
                  <a:latin typeface="Chalkboard SE"/>
                  <a:cs typeface="Geeza Pro"/>
                </a:rPr>
                <a:t>I love all these songs.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5240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Final Mastery Drill —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667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1" i="0" dirty="0">
                <a:solidFill>
                  <a:srgbClr val="FFFFFF"/>
                </a:solidFill>
                <a:latin typeface="Chalkboard SE"/>
                <a:cs typeface="Geeza Pro"/>
              </a:rPr>
              <a:t>Stop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0" y="787400"/>
            <a:ext cx="508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5600" y="787400"/>
            <a:ext cx="47244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0" y="1143000"/>
            <a:ext cx="5080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1" i="0" dirty="0">
                <a:solidFill>
                  <a:srgbClr val="8E2453"/>
                </a:solidFill>
                <a:latin typeface="Chalkboard SE"/>
                <a:cs typeface="Geeza Pro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05600" y="1143000"/>
            <a:ext cx="47244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1" i="0" dirty="0">
                <a:solidFill>
                  <a:srgbClr val="2E7D32"/>
                </a:solidFill>
                <a:latin typeface="Geeza Pro"/>
                <a:cs typeface="Geeza Pro"/>
              </a:rPr>
              <a:t>‏إِنّ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 الصِّدْق مَنْجَاة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ṣ-ṣidqa manjātun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2260600"/>
            <a:ext cx="508000" cy="1117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1" i="0" dirty="0">
                <a:solidFill>
                  <a:srgbClr val="8E2453"/>
                </a:solidFill>
                <a:latin typeface="Chalkboard SE"/>
                <a:cs typeface="Geeza Pro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5600" y="2260600"/>
            <a:ext cx="4724400" cy="1117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‏سَمِعْت </a:t>
            </a:r>
            <a:r>
              <a:rPr lang="ar-SA" altLang="en-GB" sz="1700" b="1" i="0" dirty="0">
                <a:solidFill>
                  <a:srgbClr val="2E7D32"/>
                </a:solidFill>
                <a:latin typeface="Geeza Pro"/>
                <a:cs typeface="Geeza Pro"/>
              </a:rPr>
              <a:t>أَنّ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 الْمَتْجَر سَيُغْلَق مُبَكِّرًا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samiʿtu anna l-matjara sa-yughlaqu mubakkiran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3378200"/>
            <a:ext cx="5080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1" i="0" dirty="0">
                <a:solidFill>
                  <a:srgbClr val="8E2453"/>
                </a:solidFill>
                <a:latin typeface="Chalkboard SE"/>
                <a:cs typeface="Geeza Pro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05600" y="3378200"/>
            <a:ext cx="47244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1" i="0" dirty="0">
                <a:solidFill>
                  <a:srgbClr val="2E7D32"/>
                </a:solidFill>
                <a:latin typeface="Geeza Pro"/>
                <a:cs typeface="Geeza Pro"/>
              </a:rPr>
              <a:t>‏لَقَد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 وَصَلْنَا أَخِيرًا!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laqad waṣalnā akhīran!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0" y="4495800"/>
            <a:ext cx="508000" cy="1117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1" i="0" dirty="0">
                <a:solidFill>
                  <a:srgbClr val="8E2453"/>
                </a:solidFill>
                <a:latin typeface="Chalkboard SE"/>
                <a:cs typeface="Geeza Pro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5600" y="4495800"/>
            <a:ext cx="4724400" cy="1117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1" i="0" dirty="0">
                <a:solidFill>
                  <a:srgbClr val="2E7D32"/>
                </a:solidFill>
                <a:latin typeface="Geeza Pro"/>
                <a:cs typeface="Geeza Pro"/>
              </a:rPr>
              <a:t>‏قَد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 يَتَأَخَّر الرَّدّ قَلِيلًا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qad yataʾakhkharu r-raddu qalīlan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787400"/>
            <a:ext cx="508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#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200" y="787400"/>
            <a:ext cx="47244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Answer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143000"/>
            <a:ext cx="5080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1" i="0" dirty="0">
                <a:solidFill>
                  <a:srgbClr val="8E2453"/>
                </a:solidFill>
                <a:latin typeface="Chalkboard SE"/>
                <a:cs typeface="Geeza Pro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19200" y="1143000"/>
            <a:ext cx="47244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‏إِنّ هَذَا </a:t>
            </a:r>
            <a:r>
              <a:rPr lang="ar-SA" altLang="en-GB" sz="1700" b="1" i="0" dirty="0">
                <a:solidFill>
                  <a:srgbClr val="2E7D32"/>
                </a:solidFill>
                <a:latin typeface="Geeza Pro"/>
                <a:cs typeface="Geeza Pro"/>
              </a:rPr>
              <a:t>لَ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خَبَر سَعِيد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 hādhā la-khabarun saʿīdun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260600"/>
            <a:ext cx="508000" cy="1117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1" i="0" dirty="0">
                <a:solidFill>
                  <a:srgbClr val="8E2453"/>
                </a:solidFill>
                <a:latin typeface="Chalkboard SE"/>
                <a:cs typeface="Geeza Pro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9200" y="2260600"/>
            <a:ext cx="4724400" cy="1117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1" i="0" dirty="0">
                <a:solidFill>
                  <a:srgbClr val="2E7D32"/>
                </a:solidFill>
                <a:latin typeface="Geeza Pro"/>
                <a:cs typeface="Geeza Pro"/>
              </a:rPr>
              <a:t>‏إِنَّمَا</a:t>
            </a: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 أَنَا أُعَبِّر عَن رَأْيِي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innamā ana uʿabbiru ʿan raʾyī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378200"/>
            <a:ext cx="5080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1" i="0" dirty="0">
                <a:solidFill>
                  <a:srgbClr val="8E2453"/>
                </a:solidFill>
                <a:latin typeface="Chalkboard SE"/>
                <a:cs typeface="Geeza Pro"/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3378200"/>
            <a:ext cx="4724400" cy="111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‏اسْتَقْبَلَنَا الرَّئِيس </a:t>
            </a:r>
            <a:r>
              <a:rPr lang="ar-SA" altLang="en-GB" sz="1700" b="1" i="0" dirty="0">
                <a:solidFill>
                  <a:srgbClr val="2E7D32"/>
                </a:solidFill>
                <a:latin typeface="Geeza Pro"/>
                <a:cs typeface="Geeza Pro"/>
              </a:rPr>
              <a:t>نَفْسُه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istaqbalanā r-raʾīsu nafsuhu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495800"/>
            <a:ext cx="508000" cy="1117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1" i="0" dirty="0">
                <a:solidFill>
                  <a:srgbClr val="8E2453"/>
                </a:solidFill>
                <a:latin typeface="Chalkboard SE"/>
                <a:cs typeface="Geeza Pro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4495800"/>
            <a:ext cx="4724400" cy="11176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700" b="0" i="0" dirty="0">
                <a:solidFill>
                  <a:srgbClr val="262626"/>
                </a:solidFill>
                <a:latin typeface="Geeza Pro"/>
                <a:cs typeface="Geeza Pro"/>
              </a:rPr>
              <a:t>‏أُحِبّ هَذِه الْأُغْنِيَات </a:t>
            </a:r>
            <a:r>
              <a:rPr lang="ar-SA" altLang="en-GB" sz="1700" b="1" i="0" dirty="0">
                <a:solidFill>
                  <a:srgbClr val="2E7D32"/>
                </a:solidFill>
                <a:latin typeface="Geeza Pro"/>
                <a:cs typeface="Geeza Pro"/>
              </a:rPr>
              <a:t>كُلَّهَا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50" b="0" i="1" dirty="0">
                <a:solidFill>
                  <a:srgbClr val="5F5F5F"/>
                </a:solidFill>
                <a:latin typeface="Chalkboard SE"/>
                <a:cs typeface="Geeza Pro"/>
              </a:rPr>
              <a:t>uḥibbu hādhihi l-ughniyāti kullahā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9200" y="5664200"/>
            <a:ext cx="10718800" cy="431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5F5F5F"/>
                </a:solidFill>
                <a:latin typeface="Chalkboard SE"/>
                <a:cs typeface="Geeza Pro"/>
              </a:rPr>
              <a:t>‎Reasons — 1 sentence start · 2 after 'I heard' · 3 past verb + feeling · 4 present verb = 'may' · 5 </a:t>
            </a:r>
            <a:r>
              <a:rPr lang="ar-SA" altLang="en-GB" sz="1400" b="0" i="0" dirty="0">
                <a:solidFill>
                  <a:srgbClr val="5F5F5F"/>
                </a:solidFill>
                <a:latin typeface="Geeza Pro"/>
                <a:cs typeface="Geeza Pro"/>
              </a:rPr>
              <a:t>لَـ </a:t>
            </a:r>
            <a:r>
              <a:rPr lang="en-GB" sz="1100" b="0" i="0" dirty="0">
                <a:solidFill>
                  <a:srgbClr val="5F5F5F"/>
                </a:solidFill>
                <a:latin typeface="Chalkboard SE"/>
                <a:cs typeface="Geeza Pro"/>
              </a:rPr>
              <a:t>on the predicate · 6 restriction · 7 '-self', subject · 8 things take </a:t>
            </a:r>
            <a:r>
              <a:rPr lang="en-GB" sz="1100" b="0" i="1" dirty="0">
                <a:solidFill>
                  <a:srgbClr val="5F5F5F"/>
                </a:solidFill>
                <a:latin typeface="Chalkboard SE"/>
                <a:cs typeface="Geeza Pro"/>
              </a:rPr>
              <a:t>-hā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19200" y="6184900"/>
            <a:ext cx="177800" cy="152400"/>
          </a:xfrm>
          <a:prstGeom prst="roundRect">
            <a:avLst>
              <a:gd name="adj" fmla="val 25000"/>
            </a:avLst>
          </a:prstGeom>
          <a:solidFill>
            <a:srgbClr val="E7F4E8"/>
          </a:solidFill>
          <a:ln w="12700">
            <a:solidFill>
              <a:srgbClr val="2E7D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47800" y="61214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050" b="0" i="0" dirty="0">
                <a:solidFill>
                  <a:srgbClr val="5F5F5F"/>
                </a:solidFill>
                <a:latin typeface="Chalkboard SE"/>
                <a:cs typeface="Geeza Pro"/>
              </a:rPr>
              <a:t>green = the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9700" y="101600"/>
            <a:ext cx="736600" cy="736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700" b="1" i="0" dirty="0">
                <a:solidFill>
                  <a:srgbClr val="FFFFFF"/>
                </a:solidFill>
                <a:latin typeface="Chalkboard SE"/>
                <a:cs typeface="Geeza Pro"/>
              </a:rPr>
              <a:t>2.10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-825500" y="2019300"/>
            <a:ext cx="2667000" cy="55880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900" b="1" i="0" dirty="0">
                <a:solidFill>
                  <a:srgbClr val="FFFFFF"/>
                </a:solidFill>
                <a:latin typeface="Chalkboard SE"/>
                <a:cs typeface="Geeza Pro"/>
              </a:rPr>
              <a:t>Emphatic Tools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203200" y="41910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2.11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Vocative Tools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203200" y="5689600"/>
            <a:ext cx="1422400" cy="457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 wrap="square" lIns="25400" tIns="0" rIns="25400" bIns="0">
            <a:noAutofit/>
          </a:bodyPr>
          <a:lstStyle/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444444"/>
                </a:solidFill>
                <a:latin typeface="Chalkboard SE"/>
                <a:cs typeface="Geeza Pro"/>
              </a:rPr>
              <a:t>2.12</a:t>
            </a:r>
          </a:p>
          <a:p>
            <a:pPr algn="ctr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444444"/>
                </a:solidFill>
                <a:latin typeface="Chalkboard SE"/>
                <a:cs typeface="Geeza Pro"/>
              </a:rPr>
              <a:t>Exclamation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152400"/>
            <a:ext cx="10718800" cy="55880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 w="15875">
            <a:solidFill>
              <a:srgbClr val="A7A7A7"/>
            </a:solidFill>
          </a:ln>
        </p:spPr>
        <p:txBody>
          <a:bodyPr rtlCol="0" anchor="ctr" wrap="square" lIns="177800" tIns="25400" rIns="177800" bIns="2540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100" b="1" i="0" dirty="0">
                <a:solidFill>
                  <a:srgbClr val="8E2453"/>
                </a:solidFill>
                <a:latin typeface="Chalkboard SE"/>
                <a:cs typeface="Geeza Pro"/>
              </a:rPr>
              <a:t>Chapter Summary: Emphatic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6426200"/>
            <a:ext cx="10718800" cy="15240"/>
          </a:xfrm>
          <a:prstGeom prst="rect">
            <a:avLst/>
          </a:prstGeom>
          <a:solidFill>
            <a:srgbClr val="8E24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6464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1" i="0" dirty="0">
                <a:solidFill>
                  <a:srgbClr val="8E2453"/>
                </a:solidFill>
                <a:latin typeface="Chalkboard SE"/>
                <a:cs typeface="Geeza Pro"/>
              </a:rPr>
              <a:t>Mrs Layla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9200" y="6464300"/>
            <a:ext cx="74168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‎Chapter 2.10 · Emphatic Tools · </a:t>
            </a:r>
            <a:r>
              <a:rPr lang="ar-SA" altLang="en-GB" sz="1700" b="0" i="0" dirty="0">
                <a:solidFill>
                  <a:srgbClr val="5F5F5F"/>
                </a:solidFill>
                <a:latin typeface="Geeza Pro"/>
                <a:cs typeface="Geeza Pro"/>
              </a:rPr>
              <a:t>أَدَوَات التَّوْكِيد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0" y="6464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400" b="0" i="0" dirty="0">
                <a:solidFill>
                  <a:srgbClr val="5F5F5F"/>
                </a:solidFill>
                <a:latin typeface="Chalkboard SE"/>
                <a:cs typeface="Geeza Pro"/>
              </a:rPr>
              <a:t>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17000" y="787400"/>
            <a:ext cx="2921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Kind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0" y="787400"/>
            <a:ext cx="35560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9200" y="787400"/>
            <a:ext cx="4241800" cy="355600"/>
          </a:xfrm>
          <a:prstGeom prst="rect">
            <a:avLst/>
          </a:prstGeom>
          <a:solidFill>
            <a:srgbClr val="8E2453"/>
          </a:solidFill>
          <a:ln w="19050">
            <a:solidFill>
              <a:srgbClr val="FFFFFF"/>
            </a:solidFill>
          </a:ln>
        </p:spPr>
        <p:txBody>
          <a:bodyPr rtlCol="0" anchor="ctr" wrap="square" lIns="50800" tIns="12700" rIns="50800" bIns="127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  <a:latin typeface="Chalkboard SE"/>
                <a:cs typeface="Geeza Pro"/>
              </a:rPr>
              <a:t>Job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7000" y="1143000"/>
            <a:ext cx="292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Particles on a sentence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1000" y="1143000"/>
            <a:ext cx="3556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‏إِنّ · أَنّ · إِنَّمَا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9200" y="1143000"/>
            <a:ext cx="4241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strengthen · report 'that' · limit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7000" y="1854200"/>
            <a:ext cx="2921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Particles on a verb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61000" y="1854200"/>
            <a:ext cx="3556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‏قَد · لَقَد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9200" y="1854200"/>
            <a:ext cx="4241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completion (past) · possibility (present)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7000" y="2565400"/>
            <a:ext cx="292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Attached prefix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1000" y="2565400"/>
            <a:ext cx="3556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‏لَـ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19200" y="2565400"/>
            <a:ext cx="4241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‎reinforces one word; </a:t>
            </a:r>
            <a:r>
              <a:rPr lang="ar-SA" altLang="en-GB" sz="1550" b="0" i="0" dirty="0">
                <a:solidFill>
                  <a:srgbClr val="262626"/>
                </a:solidFill>
                <a:latin typeface="Geeza Pro"/>
                <a:cs typeface="Geeza Pro"/>
              </a:rPr>
              <a:t>إِنّ … لَـ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7000" y="3276600"/>
            <a:ext cx="2921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Nouns for emphasis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1000" y="3276600"/>
            <a:ext cx="35560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‏نَفْس · عَيْن · كُلّ · جَمِيع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19200" y="3276600"/>
            <a:ext cx="4241800" cy="711200"/>
          </a:xfrm>
          <a:prstGeom prst="rect">
            <a:avLst/>
          </a:prstGeom>
          <a:solidFill>
            <a:srgbClr val="FBF3F7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identity · totality — with a matching suffix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7000" y="3987800"/>
            <a:ext cx="2921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No tool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61000" y="3987800"/>
            <a:ext cx="35560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repetition · stress ·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19200" y="3987800"/>
            <a:ext cx="424180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DD3"/>
            </a:solidFill>
          </a:ln>
        </p:spPr>
        <p:txBody>
          <a:bodyPr rtlCol="0" anchor="ctr" wrap="square" lIns="76200" tIns="50800" rIns="76200" bIns="381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250" b="0" i="0" dirty="0">
                <a:solidFill>
                  <a:srgbClr val="262626"/>
                </a:solidFill>
                <a:latin typeface="Chalkboard SE"/>
                <a:cs typeface="Geeza Pro"/>
              </a:rPr>
              <a:t>emphasis in speech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200" y="4953000"/>
            <a:ext cx="10718800" cy="1219200"/>
          </a:xfrm>
          <a:prstGeom prst="roundRect">
            <a:avLst>
              <a:gd name="adj" fmla="val 12500"/>
            </a:avLst>
          </a:prstGeom>
          <a:solidFill>
            <a:srgbClr val="F7E6EE"/>
          </a:solidFill>
          <a:ln w="12700">
            <a:solidFill>
              <a:srgbClr val="8E2453"/>
            </a:solidFill>
          </a:ln>
        </p:spPr>
        <p:txBody>
          <a:bodyPr rtlCol="0" anchor="ctr" wrap="square" lIns="88900" tIns="88900" rIns="88900" bIns="50800">
            <a:noAutofit/>
          </a:bodyPr>
          <a:lstStyle/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1300" b="0" i="0" dirty="0">
                <a:solidFill>
                  <a:srgbClr val="5F5F5F"/>
                </a:solidFill>
                <a:latin typeface="Chalkboard SE"/>
                <a:cs typeface="Geeza Pro"/>
              </a:rPr>
              <a:t>Next stop:</a:t>
            </a:r>
          </a:p>
          <a:p>
            <a:pPr algn="ctr" rt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GB" sz="2400" b="1" i="0" dirty="0">
                <a:solidFill>
                  <a:srgbClr val="8E2453"/>
                </a:solidFill>
                <a:latin typeface="Chalkboard SE"/>
                <a:cs typeface="Geeza Pro"/>
              </a:rPr>
              <a:t>Chapter 2.11 · Vocative Tools</a:t>
            </a:r>
          </a:p>
          <a:p>
            <a:pPr algn="ctr" rtl="1">
              <a:lnSpc>
                <a:spcPct val="108000"/>
              </a:lnSpc>
              <a:spcAft>
                <a:spcPts val="200"/>
              </a:spcAft>
              <a:buNone/>
            </a:pPr>
            <a:r>
              <a:rPr lang="ar-SA" altLang="en-GB" sz="1900" b="0" i="0" dirty="0">
                <a:solidFill>
                  <a:srgbClr val="262626"/>
                </a:solidFill>
                <a:latin typeface="Geeza Pro"/>
                <a:cs typeface="Geeza Pro"/>
              </a:rPr>
              <a:t>‏أَدَوَات النِّدَاء  </a:t>
            </a:r>
            <a:r>
              <a:rPr lang="en-GB" sz="1900" b="0" i="1" dirty="0">
                <a:solidFill>
                  <a:srgbClr val="5F5F5F"/>
                </a:solidFill>
                <a:latin typeface="Chalkboard SE"/>
                <a:cs typeface="Geeza Pro"/>
              </a:rPr>
              <a:t>· adawāt an-nidāʾ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